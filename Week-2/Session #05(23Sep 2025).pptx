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1" r:id="rId2"/>
    <p:sldId id="262" r:id="rId3"/>
    <p:sldId id="263" r:id="rId4"/>
    <p:sldId id="271" r:id="rId5"/>
    <p:sldId id="266" r:id="rId6"/>
    <p:sldId id="267" r:id="rId7"/>
    <p:sldId id="270" r:id="rId8"/>
    <p:sldId id="268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5"/>
  </p:normalViewPr>
  <p:slideViewPr>
    <p:cSldViewPr>
      <p:cViewPr>
        <p:scale>
          <a:sx n="98" d="100"/>
          <a:sy n="98" d="100"/>
        </p:scale>
        <p:origin x="1352" y="6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9/17/25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28C64-5903-3380-B58E-7D0C3BE9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9FF01-E6ED-0C79-53CA-6E2DD642B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64A57-DA7D-3297-C1F9-7F1D50742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F868E-9B02-C78F-7FBE-C714937F63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63848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5FF9C-E7EB-668E-F4F6-B8144D2C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124346-6108-C3FA-3397-6735C69B5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4DD05-61FD-E852-FE59-BB3741F4C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13481-A480-36F3-D9FA-C90E70C43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85907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E761B-D51A-0876-9666-FE6C4C03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709E80-7A89-F988-4746-A0BACACDF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DE5D9-5CE1-867A-0EB0-AE0452D404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8301F-6466-287E-8A69-C35E64CC6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309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5292090" y="1206182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#0</a:t>
            </a:r>
            <a:r>
              <a:rPr lang="en-US" sz="2400" spc="-25" dirty="0">
                <a:latin typeface="Trebuchet MS"/>
                <a:cs typeface="Trebuchet MS"/>
              </a:rPr>
              <a:t>4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3657600" y="2772231"/>
            <a:ext cx="86487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Random Forest Models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23 </a:t>
            </a:r>
            <a:r>
              <a:rPr sz="11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FFFFFF"/>
                </a:solidFill>
                <a:latin typeface="Trebuchet MS"/>
                <a:cs typeface="Trebuchet MS"/>
              </a:rPr>
              <a:t>Sep</a:t>
            </a:r>
            <a:r>
              <a:rPr sz="11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1752600" y="459815"/>
            <a:ext cx="9372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spc="-180" dirty="0">
                <a:latin typeface="Trebuchet MS"/>
                <a:cs typeface="Trebuchet MS"/>
              </a:rPr>
              <a:t>What</a:t>
            </a:r>
            <a:r>
              <a:rPr sz="4400" spc="-470" dirty="0">
                <a:latin typeface="Trebuchet MS"/>
                <a:cs typeface="Trebuchet MS"/>
              </a:rPr>
              <a:t> </a:t>
            </a:r>
            <a:r>
              <a:rPr sz="4400" spc="-50" dirty="0">
                <a:latin typeface="Trebuchet MS"/>
                <a:cs typeface="Trebuchet MS"/>
              </a:rPr>
              <a:t>is</a:t>
            </a:r>
            <a:r>
              <a:rPr sz="4400" spc="-420" dirty="0">
                <a:latin typeface="Trebuchet MS"/>
                <a:cs typeface="Trebuchet MS"/>
              </a:rPr>
              <a:t> </a:t>
            </a:r>
            <a:r>
              <a:rPr sz="4400" spc="-170" dirty="0">
                <a:latin typeface="Trebuchet MS"/>
                <a:cs typeface="Trebuchet MS"/>
              </a:rPr>
              <a:t>a</a:t>
            </a:r>
            <a:r>
              <a:rPr sz="4400" spc="-459" dirty="0">
                <a:latin typeface="Trebuchet MS"/>
                <a:cs typeface="Trebuchet MS"/>
              </a:rPr>
              <a:t> </a:t>
            </a:r>
            <a:r>
              <a:rPr lang="en-US" sz="4400" spc="-135" dirty="0">
                <a:latin typeface="Trebuchet MS"/>
                <a:cs typeface="Trebuchet MS"/>
              </a:rPr>
              <a:t>Tree-based Model?</a:t>
            </a:r>
            <a:endParaRPr sz="4400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98F0915-88FC-F418-354F-768B92EBFBD8}"/>
              </a:ext>
            </a:extLst>
          </p:cNvPr>
          <p:cNvSpPr txBox="1"/>
          <p:nvPr/>
        </p:nvSpPr>
        <p:spPr>
          <a:xfrm>
            <a:off x="266757" y="1295401"/>
            <a:ext cx="10858443" cy="5128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  <a:lvl1pPr marL="285750" indent="-285750">
              <a:spcBef>
                <a:spcPts val="150"/>
              </a:spcBef>
              <a:buFont typeface="Arial MT"/>
              <a:buChar char="•"/>
              <a:tabLst>
                <a:tab pos="241300" algn="l"/>
              </a:tabLst>
              <a:defRPr sz="1800" b="0" i="0" spc="-2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b="1" dirty="0"/>
              <a:t>What it is:</a:t>
            </a:r>
            <a:endParaRPr lang="en-IN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An </a:t>
            </a:r>
            <a:r>
              <a:rPr lang="en-IN" b="1" dirty="0"/>
              <a:t>ensemble learning</a:t>
            </a:r>
            <a:r>
              <a:rPr lang="en-IN" dirty="0"/>
              <a:t> algorithm built from many decision trees.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Each tree learns from a random subset of data &amp; features.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Final prediction = </a:t>
            </a:r>
            <a:r>
              <a:rPr lang="en-IN" b="1" dirty="0"/>
              <a:t>majority vote</a:t>
            </a:r>
            <a:r>
              <a:rPr lang="en-IN" dirty="0"/>
              <a:t> (classification) or </a:t>
            </a:r>
            <a:r>
              <a:rPr lang="en-IN" b="1" dirty="0"/>
              <a:t>average</a:t>
            </a:r>
            <a:r>
              <a:rPr lang="en-IN" dirty="0"/>
              <a:t> (regression).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Why it works well:</a:t>
            </a:r>
            <a:endParaRPr lang="en-IN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Handles both categorical &amp; numerical data.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Reduces </a:t>
            </a:r>
            <a:r>
              <a:rPr lang="en-IN" b="1" dirty="0"/>
              <a:t>overfitting</a:t>
            </a:r>
            <a:r>
              <a:rPr lang="en-IN" dirty="0"/>
              <a:t> by averaging multiple trees.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More robust and accurate than a single decision tree.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Real-world uses:</a:t>
            </a:r>
            <a:endParaRPr lang="en-IN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Customer churn prediction, Credit risk scoring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Medical diagnosis, Fraud detection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Decision Tree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FEAA-0E3A-84AB-73AE-AB77FBF62178}"/>
              </a:ext>
            </a:extLst>
          </p:cNvPr>
          <p:cNvSpPr txBox="1">
            <a:spLocks/>
          </p:cNvSpPr>
          <p:nvPr/>
        </p:nvSpPr>
        <p:spPr>
          <a:xfrm>
            <a:off x="1162878" y="1905000"/>
            <a:ext cx="8229600" cy="3238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• A single tree makes decisions step by step</a:t>
            </a:r>
          </a:p>
          <a:p>
            <a:pPr>
              <a:lnSpc>
                <a:spcPct val="200000"/>
              </a:lnSpc>
            </a:pPr>
            <a:r>
              <a:rPr lang="en-IN" dirty="0"/>
              <a:t>• Easy to interpret but may overfit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Example: Loan Approval</a:t>
            </a:r>
          </a:p>
          <a:p>
            <a:pPr>
              <a:lnSpc>
                <a:spcPct val="200000"/>
              </a:lnSpc>
            </a:pPr>
            <a:r>
              <a:rPr lang="en-IN" dirty="0"/>
              <a:t>   - If Credit Score &gt; 700 → Approve</a:t>
            </a:r>
          </a:p>
          <a:p>
            <a:pPr>
              <a:lnSpc>
                <a:spcPct val="200000"/>
              </a:lnSpc>
            </a:pPr>
            <a:r>
              <a:rPr lang="en-IN" dirty="0"/>
              <a:t>   - Else if Income &gt; ₹50,000 → Approve</a:t>
            </a:r>
          </a:p>
          <a:p>
            <a:pPr>
              <a:lnSpc>
                <a:spcPct val="200000"/>
              </a:lnSpc>
            </a:pPr>
            <a:r>
              <a:rPr lang="en-IN" dirty="0"/>
              <a:t>   - Else → Reject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/>
              <a:t>Datachains</a:t>
            </a:r>
            <a:endParaRPr lang="en-IN" spc="-10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162878" y="1037698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Random Forest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62878" y="1905000"/>
            <a:ext cx="8229600" cy="32384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•</a:t>
            </a:r>
            <a:r>
              <a:rPr lang="en-IN" b="1" dirty="0"/>
              <a:t>What is Random Forest?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An </a:t>
            </a:r>
            <a:r>
              <a:rPr lang="en-IN" b="1" dirty="0"/>
              <a:t>ensemble machine learning algorithm</a:t>
            </a:r>
            <a:r>
              <a:rPr lang="en-IN" dirty="0"/>
              <a:t>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Combines many </a:t>
            </a:r>
            <a:r>
              <a:rPr lang="en-IN" b="1" dirty="0"/>
              <a:t>decision trees</a:t>
            </a:r>
            <a:r>
              <a:rPr lang="en-IN" dirty="0"/>
              <a:t> → final prediction.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majority vote (classification)</a:t>
            </a:r>
            <a:r>
              <a:rPr lang="en-IN" dirty="0"/>
              <a:t> or </a:t>
            </a:r>
            <a:r>
              <a:rPr lang="en-IN" b="1" dirty="0"/>
              <a:t>average (regression)</a:t>
            </a:r>
            <a:r>
              <a:rPr lang="en-IN" dirty="0"/>
              <a:t>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Think of it as the </a:t>
            </a:r>
            <a:r>
              <a:rPr lang="en-IN" b="1" dirty="0"/>
              <a:t>“wisdom of the crowd.”</a:t>
            </a: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5722F62B-F0AC-929B-0496-4308A5E14C7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8AC2746-3D03-4525-B650-4B3135DB2D6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690E693-279C-E3F9-7996-BFCB2B693DC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E0866A7-AC1F-78DB-D4D8-B16FB519BBFF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083F1D9D-AF49-ED39-23D2-570D74376C57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F969CFCD-48E2-4363-A588-6F4DB221D552}"/>
              </a:ext>
            </a:extLst>
          </p:cNvPr>
          <p:cNvSpPr txBox="1"/>
          <p:nvPr/>
        </p:nvSpPr>
        <p:spPr>
          <a:xfrm>
            <a:off x="851714" y="990600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spc="-180" dirty="0">
                <a:latin typeface="Trebuchet MS"/>
                <a:cs typeface="Trebuchet MS"/>
              </a:rPr>
              <a:t>Gradient Boosted Trees (GBTs)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8FF02B0-12CC-9CC6-8B93-74CC5296FC98}"/>
              </a:ext>
            </a:extLst>
          </p:cNvPr>
          <p:cNvSpPr txBox="1">
            <a:spLocks/>
          </p:cNvSpPr>
          <p:nvPr/>
        </p:nvSpPr>
        <p:spPr>
          <a:xfrm>
            <a:off x="990600" y="1524000"/>
            <a:ext cx="8229600" cy="46755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  <a:p>
            <a:pPr>
              <a:lnSpc>
                <a:spcPct val="200000"/>
              </a:lnSpc>
            </a:pPr>
            <a:r>
              <a:rPr lang="en-IN" dirty="0"/>
              <a:t>Trees built sequentially</a:t>
            </a:r>
          </a:p>
          <a:p>
            <a:pPr>
              <a:lnSpc>
                <a:spcPct val="200000"/>
              </a:lnSpc>
            </a:pPr>
            <a:r>
              <a:rPr lang="en-IN" dirty="0"/>
              <a:t>• Each new tree fixes errors of the previous one</a:t>
            </a:r>
          </a:p>
          <a:p>
            <a:pPr>
              <a:lnSpc>
                <a:spcPct val="200000"/>
              </a:lnSpc>
            </a:pPr>
            <a:r>
              <a:rPr lang="en-IN" dirty="0"/>
              <a:t>• Very accurate, widely used in industry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Example: E-commerce Recommendations</a:t>
            </a:r>
          </a:p>
          <a:p>
            <a:pPr>
              <a:lnSpc>
                <a:spcPct val="200000"/>
              </a:lnSpc>
            </a:pPr>
            <a:r>
              <a:rPr lang="en-IN" dirty="0"/>
              <a:t>   - Tree 1: predicts purchase likelihood by age/history</a:t>
            </a:r>
          </a:p>
          <a:p>
            <a:pPr>
              <a:lnSpc>
                <a:spcPct val="200000"/>
              </a:lnSpc>
            </a:pPr>
            <a:r>
              <a:rPr lang="en-IN" dirty="0"/>
              <a:t>   - Tree 2: focuses on errors (payment, category)</a:t>
            </a:r>
          </a:p>
          <a:p>
            <a:pPr>
              <a:lnSpc>
                <a:spcPct val="200000"/>
              </a:lnSpc>
            </a:pPr>
            <a:r>
              <a:rPr lang="en-IN" dirty="0"/>
              <a:t>   - Final model is highly accurate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  <a:defRPr sz="2000"/>
            </a:pPr>
            <a:endParaRPr lang="en-IN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0BF8-A469-31CD-1227-7BF757E2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BFEE6A78-2EA9-A76A-09C0-48C648C5F68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488193F2-5631-AB04-2ABA-63996A03A58E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1C34537-EFAD-5D9F-52F1-D118A3641F2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774F292-CE3D-AFC9-E8C6-682D6F09F86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841A8E26-2300-1AA1-D2C9-651584A330AF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E3A5BA46-4B7D-FAD6-D5D2-8F1343EC44D4}"/>
              </a:ext>
            </a:extLst>
          </p:cNvPr>
          <p:cNvSpPr txBox="1"/>
          <p:nvPr/>
        </p:nvSpPr>
        <p:spPr>
          <a:xfrm>
            <a:off x="851714" y="990600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Real-World Applications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01A3F-2C88-7E5E-05A4-F23640CD7FA3}"/>
              </a:ext>
            </a:extLst>
          </p:cNvPr>
          <p:cNvSpPr txBox="1">
            <a:spLocks/>
          </p:cNvSpPr>
          <p:nvPr/>
        </p:nvSpPr>
        <p:spPr>
          <a:xfrm>
            <a:off x="851714" y="1981200"/>
            <a:ext cx="8229600" cy="30469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Finance: Credit scoring, fraud detection, loan risk</a:t>
            </a:r>
          </a:p>
          <a:p>
            <a:pPr>
              <a:lnSpc>
                <a:spcPct val="200000"/>
              </a:lnSpc>
            </a:pPr>
            <a:r>
              <a:rPr lang="en-IN" dirty="0"/>
              <a:t>• Healthcare: Patient readmission, diagnosis</a:t>
            </a:r>
          </a:p>
          <a:p>
            <a:pPr>
              <a:lnSpc>
                <a:spcPct val="200000"/>
              </a:lnSpc>
            </a:pPr>
            <a:r>
              <a:rPr lang="en-IN" dirty="0"/>
              <a:t>• Retail: Churn prediction, product recommendation</a:t>
            </a:r>
          </a:p>
          <a:p>
            <a:pPr>
              <a:lnSpc>
                <a:spcPct val="200000"/>
              </a:lnSpc>
            </a:pPr>
            <a:r>
              <a:rPr lang="en-IN" dirty="0"/>
              <a:t>• Insurance: Claim prediction, segmentation</a:t>
            </a:r>
          </a:p>
          <a:p>
            <a:pPr>
              <a:lnSpc>
                <a:spcPct val="200000"/>
              </a:lnSpc>
            </a:pPr>
            <a:r>
              <a:rPr lang="en-IN" dirty="0"/>
              <a:t>• Agriculture: Yield prediction, disease detection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02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0B851-EA98-B1F0-F96B-21978434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CBE99E0E-64DF-EB05-36B1-F5E09A7D466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8684148-6A5D-56BA-C96F-6DC8F8981C77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F5AC501-9222-670F-D2D4-F5B30D930D3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FD4CD36E-EC20-05B1-5A51-E48575F6276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03B7647-48A3-FEDB-27E4-1F2C7498E77E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AB6FA31-58BD-F0D4-6DB1-A780DEABC2AF}"/>
              </a:ext>
            </a:extLst>
          </p:cNvPr>
          <p:cNvSpPr txBox="1"/>
          <p:nvPr/>
        </p:nvSpPr>
        <p:spPr>
          <a:xfrm>
            <a:off x="785784" y="1001486"/>
            <a:ext cx="732726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Key Takeaways 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F93A0-4A34-12BD-15BB-538CB068D730}"/>
              </a:ext>
            </a:extLst>
          </p:cNvPr>
          <p:cNvSpPr txBox="1">
            <a:spLocks/>
          </p:cNvSpPr>
          <p:nvPr/>
        </p:nvSpPr>
        <p:spPr>
          <a:xfrm>
            <a:off x="785784" y="2209800"/>
            <a:ext cx="8229600" cy="15763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IN" dirty="0"/>
              <a:t>Decision Trees → Simple, interpretable but overfit</a:t>
            </a:r>
          </a:p>
          <a:p>
            <a:pPr>
              <a:lnSpc>
                <a:spcPct val="200000"/>
              </a:lnSpc>
            </a:pPr>
            <a:r>
              <a:rPr lang="en-IN" dirty="0"/>
              <a:t>Random Forests → Stable, accurate, less interpretable</a:t>
            </a:r>
          </a:p>
          <a:p>
            <a:pPr>
              <a:lnSpc>
                <a:spcPct val="200000"/>
              </a:lnSpc>
            </a:pPr>
            <a:r>
              <a:rPr lang="en-IN" dirty="0"/>
              <a:t>Gradient Boosted Trees → Very accurate, industry standard</a:t>
            </a:r>
          </a:p>
        </p:txBody>
      </p:sp>
    </p:spTree>
    <p:extLst>
      <p:ext uri="{BB962C8B-B14F-4D97-AF65-F5344CB8AC3E}">
        <p14:creationId xmlns:p14="http://schemas.microsoft.com/office/powerpoint/2010/main" val="1105008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08B8-DFA4-2174-49B2-C55568658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959988C7-4AFD-1459-89AD-6FC6102964BE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CE4A8D3-7815-FF7A-BB4A-20AD56FDBDA4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D9C3BE20-A327-6572-8E85-5C0AE616BC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1878CAD-80F5-4B01-8352-020BE2D7B952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BD4022FE-576E-A994-58DA-ABD6346585C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 err="1"/>
              <a:t>Datachains</a:t>
            </a:r>
            <a:endParaRPr lang="en-IN" spc="-1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5D147D-90AE-FA18-DB0B-4E7B71311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92906"/>
            <a:ext cx="7772400" cy="607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891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8653</TotalTime>
  <Words>510</Words>
  <Application>Microsoft Macintosh PowerPoint</Application>
  <PresentationFormat>Widescreen</PresentationFormat>
  <Paragraphs>62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8</cp:revision>
  <dcterms:created xsi:type="dcterms:W3CDTF">2025-09-17T13:52:51Z</dcterms:created>
  <dcterms:modified xsi:type="dcterms:W3CDTF">2025-09-23T16:09:02Z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