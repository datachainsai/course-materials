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1" r:id="rId2"/>
    <p:sldId id="262" r:id="rId3"/>
    <p:sldId id="263" r:id="rId4"/>
    <p:sldId id="271" r:id="rId5"/>
    <p:sldId id="266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45"/>
  </p:normalViewPr>
  <p:slideViewPr>
    <p:cSldViewPr>
      <p:cViewPr varScale="1">
        <p:scale>
          <a:sx n="118" d="100"/>
          <a:sy n="118" d="100"/>
        </p:scale>
        <p:origin x="600" y="6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F1DB-86E7-6C55-9B30-6063141F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D6C57-E660-BFA9-8A77-B963A94E3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D5C41-8609-4503-2246-678645BA8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7CDE9-C80A-5ED1-D972-6D6F716F0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555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5292090" y="1206182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#0</a:t>
            </a:r>
            <a:r>
              <a:rPr lang="en-US" sz="2400" spc="-25" dirty="0">
                <a:latin typeface="Trebuchet MS"/>
                <a:cs typeface="Trebuchet MS"/>
              </a:rPr>
              <a:t>8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3657600" y="2772231"/>
            <a:ext cx="86487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Cross Validation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5 Oct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2694350" y="586818"/>
            <a:ext cx="9372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400" dirty="0"/>
              <a:t>What is Cross Validation?</a:t>
            </a:r>
            <a:endParaRPr sz="4400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6799806" y="4505325"/>
            <a:ext cx="5298440" cy="2362200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98F0915-88FC-F418-354F-768B92EBFBD8}"/>
              </a:ext>
            </a:extLst>
          </p:cNvPr>
          <p:cNvSpPr txBox="1"/>
          <p:nvPr/>
        </p:nvSpPr>
        <p:spPr>
          <a:xfrm>
            <a:off x="622882" y="2012637"/>
            <a:ext cx="10858443" cy="22202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285750" indent="-285750">
              <a:spcBef>
                <a:spcPts val="150"/>
              </a:spcBef>
              <a:buFont typeface="Arial MT"/>
              <a:buChar char="•"/>
              <a:tabLst>
                <a:tab pos="241300" algn="l"/>
              </a:tabLst>
              <a:defRPr sz="1800" b="0" i="0" spc="-2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Single train/test split = risky (may be unbalanced)</a:t>
            </a:r>
          </a:p>
          <a:p>
            <a:pPr>
              <a:lnSpc>
                <a:spcPct val="200000"/>
              </a:lnSpc>
            </a:pPr>
            <a:r>
              <a:rPr lang="en-IN" dirty="0"/>
              <a:t>- Cross-validation = multiple train/test cycles</a:t>
            </a:r>
          </a:p>
          <a:p>
            <a:pPr>
              <a:lnSpc>
                <a:spcPct val="200000"/>
              </a:lnSpc>
            </a:pPr>
            <a:r>
              <a:rPr lang="en-IN" dirty="0"/>
              <a:t>- Reduces variance, more reliable evaluation</a:t>
            </a:r>
          </a:p>
          <a:p>
            <a:pPr marL="0" indent="0">
              <a:lnSpc>
                <a:spcPct val="200000"/>
              </a:lnSpc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ACD24633-FF0E-01C2-AA29-686F220ECA3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71F059-4B75-7224-18CB-45737C49ADD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EDDE91F-49AD-02EC-433A-1281103EF3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14FCAA-D399-C79C-838C-010645E7D1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74C721A-B595-A908-6AC0-7049936E3FD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358A9A-8DE4-7D9A-445F-390D434B9B6C}"/>
              </a:ext>
            </a:extLst>
          </p:cNvPr>
          <p:cNvSpPr txBox="1"/>
          <p:nvPr/>
        </p:nvSpPr>
        <p:spPr>
          <a:xfrm>
            <a:off x="1162878" y="1037698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K-fold Cross -Validation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0FEAA-0E3A-84AB-73AE-AB77FBF62178}"/>
              </a:ext>
            </a:extLst>
          </p:cNvPr>
          <p:cNvSpPr txBox="1">
            <a:spLocks/>
          </p:cNvSpPr>
          <p:nvPr/>
        </p:nvSpPr>
        <p:spPr>
          <a:xfrm>
            <a:off x="1162878" y="1905000"/>
            <a:ext cx="8229600" cy="2130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• Data split into k folds (e.g., 5)</a:t>
            </a:r>
          </a:p>
          <a:p>
            <a:pPr>
              <a:lnSpc>
                <a:spcPct val="200000"/>
              </a:lnSpc>
            </a:pPr>
            <a:r>
              <a:rPr lang="en-IN" dirty="0"/>
              <a:t>- Train on k-1 folds, test on 1 fold</a:t>
            </a:r>
          </a:p>
          <a:p>
            <a:pPr>
              <a:lnSpc>
                <a:spcPct val="200000"/>
              </a:lnSpc>
            </a:pPr>
            <a:r>
              <a:rPr lang="en-IN" dirty="0"/>
              <a:t>- Repeat k times, average results</a:t>
            </a:r>
          </a:p>
          <a:p>
            <a:pPr>
              <a:lnSpc>
                <a:spcPct val="200000"/>
              </a:lnSpc>
            </a:pPr>
            <a:r>
              <a:rPr lang="en-IN" dirty="0"/>
              <a:t>- Stratified k-fold preserves class balance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73C2-99B6-9BE3-4DD2-B81EB451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C72D21F-3759-FE05-716C-33ABE442F0B3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4B176A-3B73-9020-EC0E-C69A4837860D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E1B9433-70E8-6192-E29E-D6FD06DFF2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0F0EDA0-30A8-9C89-C600-075E34781B5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E48640-6682-CDCC-BBB5-F07188CDB1E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2338105-3A1B-64C9-D98D-3FC831B7EFCC}"/>
              </a:ext>
            </a:extLst>
          </p:cNvPr>
          <p:cNvSpPr txBox="1"/>
          <p:nvPr/>
        </p:nvSpPr>
        <p:spPr>
          <a:xfrm>
            <a:off x="1162878" y="1037698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Cross- Validation Benefits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16A9-7B6A-21B7-C901-D13174A5DFFC}"/>
              </a:ext>
            </a:extLst>
          </p:cNvPr>
          <p:cNvSpPr txBox="1">
            <a:spLocks/>
          </p:cNvSpPr>
          <p:nvPr/>
        </p:nvSpPr>
        <p:spPr>
          <a:xfrm>
            <a:off x="1184649" y="2133600"/>
            <a:ext cx="8229600" cy="2130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Uses all data for both training and testing</a:t>
            </a:r>
          </a:p>
          <a:p>
            <a:pPr>
              <a:lnSpc>
                <a:spcPct val="200000"/>
              </a:lnSpc>
            </a:pPr>
            <a:r>
              <a:rPr lang="en-IN" dirty="0"/>
              <a:t>- Prevents over-reliance on one random split</a:t>
            </a:r>
          </a:p>
          <a:p>
            <a:pPr>
              <a:lnSpc>
                <a:spcPct val="200000"/>
              </a:lnSpc>
            </a:pPr>
            <a:r>
              <a:rPr lang="en-IN" dirty="0"/>
              <a:t>- More stable and trustworthy model evaluation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73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5722F62B-F0AC-929B-0496-4308A5E14C7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8AC2746-3D03-4525-B650-4B3135DB2D6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690E693-279C-E3F9-7996-BFCB2B693DC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CE0866A7-AC1F-78DB-D4D8-B16FB519BBFF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083F1D9D-AF49-ED39-23D2-570D74376C57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F969CFCD-48E2-4363-A588-6F4DB221D552}"/>
              </a:ext>
            </a:extLst>
          </p:cNvPr>
          <p:cNvSpPr txBox="1"/>
          <p:nvPr/>
        </p:nvSpPr>
        <p:spPr>
          <a:xfrm>
            <a:off x="402780" y="717582"/>
            <a:ext cx="1064622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dirty="0">
                <a:latin typeface="Trebuchet MS" panose="020B0703020202090204" pitchFamily="34" charset="0"/>
              </a:rPr>
              <a:t>Cross-Validation &amp; ROC Curve in Model Evaluation</a:t>
            </a:r>
            <a:endParaRPr sz="32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8FF02B0-12CC-9CC6-8B93-74CC5296FC98}"/>
              </a:ext>
            </a:extLst>
          </p:cNvPr>
          <p:cNvSpPr txBox="1">
            <a:spLocks/>
          </p:cNvSpPr>
          <p:nvPr/>
        </p:nvSpPr>
        <p:spPr>
          <a:xfrm>
            <a:off x="587247" y="2133600"/>
            <a:ext cx="6727953" cy="2736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- Draw ROC curve: FPR (x) vs TPR (y)</a:t>
            </a:r>
          </a:p>
          <a:p>
            <a:pPr>
              <a:lnSpc>
                <a:spcPct val="200000"/>
              </a:lnSpc>
            </a:pPr>
            <a:r>
              <a:rPr lang="en-IN" dirty="0"/>
              <a:t>- Show k-Fold split diagram (like pizza slices)</a:t>
            </a:r>
          </a:p>
          <a:p>
            <a:pPr>
              <a:lnSpc>
                <a:spcPct val="200000"/>
              </a:lnSpc>
            </a:pPr>
            <a:r>
              <a:rPr lang="en-IN" dirty="0"/>
              <a:t>- Link concepts to real-world example: fraud detection system</a:t>
            </a:r>
          </a:p>
          <a:p>
            <a:pPr>
              <a:lnSpc>
                <a:spcPct val="200000"/>
              </a:lnSpc>
            </a:pPr>
            <a:endParaRPr lang="en-IN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000"/>
            </a:pPr>
            <a:endParaRPr lang="en-IN" sz="2000" dirty="0"/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347FE239-AB72-F3AA-834B-1F578BE4D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524000"/>
            <a:ext cx="38862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8789</TotalTime>
  <Words>272</Words>
  <Application>Microsoft Macintosh PowerPoint</Application>
  <PresentationFormat>Widescreen</PresentationFormat>
  <Paragraphs>29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15</cp:revision>
  <dcterms:created xsi:type="dcterms:W3CDTF">2025-09-17T13:52:51Z</dcterms:created>
  <dcterms:modified xsi:type="dcterms:W3CDTF">2025-10-05T15:32:06Z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