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71" r:id="rId5"/>
    <p:sldId id="266" r:id="rId6"/>
    <p:sldId id="267" r:id="rId7"/>
    <p:sldId id="270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8C64-5903-3380-B58E-7D0C3BE9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9FF01-E6ED-0C79-53CA-6E2DD642B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64A57-DA7D-3297-C1F9-7F1D50742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F868E-9B02-C78F-7FBE-C714937F6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3848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FF9C-E7EB-668E-F4F6-B8144D2C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24346-6108-C3FA-3397-6735C69B5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4DD05-61FD-E852-FE59-BB3741F4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13481-A480-36F3-D9FA-C90E70C43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5907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#0</a:t>
            </a:r>
            <a:r>
              <a:rPr lang="en-US" sz="2400" spc="-25" dirty="0">
                <a:latin typeface="Trebuchet MS"/>
                <a:cs typeface="Trebuchet MS"/>
              </a:rPr>
              <a:t>7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657600" y="2772231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Model Evaluation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29</a:t>
            </a:r>
            <a:r>
              <a:rPr sz="11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Sep</a:t>
            </a:r>
            <a:r>
              <a:rPr sz="11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2694350" y="586818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Why Model Evaluation Matters</a:t>
            </a:r>
            <a:r>
              <a:rPr lang="en-US" sz="4400" spc="-170" dirty="0">
                <a:latin typeface="Trebuchet MS"/>
                <a:cs typeface="Trebuchet MS"/>
              </a:rPr>
              <a:t>?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98F0915-88FC-F418-354F-768B92EBFBD8}"/>
              </a:ext>
            </a:extLst>
          </p:cNvPr>
          <p:cNvSpPr txBox="1"/>
          <p:nvPr/>
        </p:nvSpPr>
        <p:spPr>
          <a:xfrm>
            <a:off x="644654" y="1676400"/>
            <a:ext cx="10858443" cy="1943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285750" indent="-285750">
              <a:spcBef>
                <a:spcPts val="150"/>
              </a:spcBef>
              <a:buFont typeface="Arial MT"/>
              <a:buChar char="•"/>
              <a:tabLst>
                <a:tab pos="241300" algn="l"/>
              </a:tabLst>
              <a:defRPr sz="1800" b="0" i="0" spc="-2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dirty="0"/>
              <a:t>Prevents overfitting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- Measures real-world performance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- Guides threshold selection</a:t>
            </a:r>
          </a:p>
          <a:p>
            <a:pPr marL="0" indent="0">
              <a:lnSpc>
                <a:spcPct val="200000"/>
              </a:lnSpc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What is ROC?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138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  ROC = Receiver Operating Characteristic Curve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- Graph to measure classifier’s ability to separate classes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- X-axis → False Positive Rate (FPR)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- Y-axis → True Positive Rate (TPR / Recall)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28E22B-6288-F14F-5904-6870D90CC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310" y="762000"/>
            <a:ext cx="365233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ROC with thresholds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684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Classifiers output probabilities (e.g., fraud probability)</a:t>
            </a:r>
          </a:p>
          <a:p>
            <a:pPr>
              <a:lnSpc>
                <a:spcPct val="200000"/>
              </a:lnSpc>
            </a:pPr>
            <a:r>
              <a:rPr lang="en-IN" dirty="0"/>
              <a:t>- Convert probability → label using a threshold</a:t>
            </a:r>
          </a:p>
          <a:p>
            <a:pPr>
              <a:lnSpc>
                <a:spcPct val="200000"/>
              </a:lnSpc>
            </a:pPr>
            <a:r>
              <a:rPr lang="en-IN" dirty="0"/>
              <a:t>- Moving threshold (0.9 → 0.7 → 0.5 → 0.3) gives different TPR/FPR points</a:t>
            </a:r>
          </a:p>
          <a:p>
            <a:pPr>
              <a:lnSpc>
                <a:spcPct val="200000"/>
              </a:lnSpc>
            </a:pPr>
            <a:r>
              <a:rPr lang="en-IN" dirty="0"/>
              <a:t>- Connecting these points = ROC curve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722F62B-F0AC-929B-0496-4308A5E14C7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8AC2746-3D03-4525-B650-4B3135DB2D6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0E693-279C-E3F9-7996-BFCB2B693D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E0866A7-AC1F-78DB-D4D8-B16FB519BBF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83F1D9D-AF49-ED39-23D2-570D74376C57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969CFCD-48E2-4363-A588-6F4DB221D552}"/>
              </a:ext>
            </a:extLst>
          </p:cNvPr>
          <p:cNvSpPr txBox="1"/>
          <p:nvPr/>
        </p:nvSpPr>
        <p:spPr>
          <a:xfrm>
            <a:off x="1988321" y="717582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Interpreting ROC Curve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8FF02B0-12CC-9CC6-8B93-74CC5296FC98}"/>
              </a:ext>
            </a:extLst>
          </p:cNvPr>
          <p:cNvSpPr txBox="1">
            <a:spLocks/>
          </p:cNvSpPr>
          <p:nvPr/>
        </p:nvSpPr>
        <p:spPr>
          <a:xfrm>
            <a:off x="1096872" y="1905000"/>
            <a:ext cx="8229600" cy="2459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Closer to top-left → better classifier</a:t>
            </a:r>
          </a:p>
          <a:p>
            <a:pPr>
              <a:lnSpc>
                <a:spcPct val="200000"/>
              </a:lnSpc>
            </a:pPr>
            <a:r>
              <a:rPr lang="en-IN" dirty="0"/>
              <a:t>- Diagonal line → random guessing</a:t>
            </a:r>
          </a:p>
          <a:p>
            <a:pPr>
              <a:lnSpc>
                <a:spcPct val="200000"/>
              </a:lnSpc>
            </a:pPr>
            <a:r>
              <a:rPr lang="en-IN" dirty="0"/>
              <a:t>- ROC shows trade-off: higher recall vs. more false alarms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000"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1E7E8-C332-5A91-6B69-EAB32FF20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400476"/>
            <a:ext cx="3064042" cy="3118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0BF8-A469-31CD-1227-7BF757E2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BFEE6A78-2EA9-A76A-09C0-48C648C5F68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88193F2-5631-AB04-2ABA-63996A03A58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1C34537-EFAD-5D9F-52F1-D118A3641F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774F292-CE3D-AFC9-E8C6-682D6F09F86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41A8E26-2300-1AA1-D2C9-651584A330A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3A5BA46-4B7D-FAD6-D5D2-8F1343EC44D4}"/>
              </a:ext>
            </a:extLst>
          </p:cNvPr>
          <p:cNvSpPr txBox="1"/>
          <p:nvPr/>
        </p:nvSpPr>
        <p:spPr>
          <a:xfrm>
            <a:off x="851714" y="810111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What is AUC?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1A3F-2C88-7E5E-05A4-F23640CD7FA3}"/>
              </a:ext>
            </a:extLst>
          </p:cNvPr>
          <p:cNvSpPr txBox="1">
            <a:spLocks/>
          </p:cNvSpPr>
          <p:nvPr/>
        </p:nvSpPr>
        <p:spPr>
          <a:xfrm>
            <a:off x="851714" y="1600200"/>
            <a:ext cx="5244286" cy="47089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- AUC = Area Under ROC Curve</a:t>
            </a:r>
          </a:p>
          <a:p>
            <a:pPr>
              <a:lnSpc>
                <a:spcPct val="200000"/>
              </a:lnSpc>
            </a:pPr>
            <a:r>
              <a:rPr lang="en-IN" dirty="0"/>
              <a:t>- Range: 0 to 1</a:t>
            </a:r>
          </a:p>
          <a:p>
            <a:pPr>
              <a:lnSpc>
                <a:spcPct val="200000"/>
              </a:lnSpc>
            </a:pPr>
            <a:r>
              <a:rPr lang="en-IN" dirty="0"/>
              <a:t>  - 0.5 → random guessing</a:t>
            </a:r>
          </a:p>
          <a:p>
            <a:pPr>
              <a:lnSpc>
                <a:spcPct val="200000"/>
              </a:lnSpc>
            </a:pPr>
            <a:r>
              <a:rPr lang="en-IN" dirty="0"/>
              <a:t>  - &gt;0.7 → acceptable</a:t>
            </a:r>
          </a:p>
          <a:p>
            <a:pPr>
              <a:lnSpc>
                <a:spcPct val="200000"/>
              </a:lnSpc>
            </a:pPr>
            <a:r>
              <a:rPr lang="en-IN" dirty="0"/>
              <a:t>  - &gt;0.8 → good</a:t>
            </a:r>
          </a:p>
          <a:p>
            <a:pPr>
              <a:lnSpc>
                <a:spcPct val="200000"/>
              </a:lnSpc>
            </a:pPr>
            <a:r>
              <a:rPr lang="en-IN" dirty="0"/>
              <a:t>  - &gt;0.9 → excellent</a:t>
            </a:r>
          </a:p>
          <a:p>
            <a:pPr>
              <a:lnSpc>
                <a:spcPct val="200000"/>
              </a:lnSpc>
            </a:pPr>
            <a:r>
              <a:rPr lang="en-IN" dirty="0"/>
              <a:t>- Intuition: AUC = probability model ranks a random positive higher than a random negative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7B4A4A-C753-25AF-04FE-55AFD5C8C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9" y="1371600"/>
            <a:ext cx="396774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2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B851-EA98-B1F0-F96B-21978434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BE99E0E-64DF-EB05-36B1-F5E09A7D466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8684148-6A5D-56BA-C96F-6DC8F8981C77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F5AC501-9222-670F-D2D4-F5B30D930D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D4CD36E-EC20-05B1-5A51-E48575F6276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03B7647-48A3-FEDB-27E4-1F2C7498E77E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AB6FA31-58BD-F0D4-6DB1-A780DEABC2AF}"/>
              </a:ext>
            </a:extLst>
          </p:cNvPr>
          <p:cNvSpPr txBox="1"/>
          <p:nvPr/>
        </p:nvSpPr>
        <p:spPr>
          <a:xfrm>
            <a:off x="785784" y="914400"/>
            <a:ext cx="7672416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ROC/AUC Example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93A0-4A34-12BD-15BB-538CB068D730}"/>
              </a:ext>
            </a:extLst>
          </p:cNvPr>
          <p:cNvSpPr txBox="1">
            <a:spLocks/>
          </p:cNvSpPr>
          <p:nvPr/>
        </p:nvSpPr>
        <p:spPr>
          <a:xfrm>
            <a:off x="785784" y="1961177"/>
            <a:ext cx="8229600" cy="213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Fraud detection model</a:t>
            </a:r>
          </a:p>
          <a:p>
            <a:pPr>
              <a:lnSpc>
                <a:spcPct val="200000"/>
              </a:lnSpc>
            </a:pPr>
            <a:r>
              <a:rPr lang="en-IN" dirty="0"/>
              <a:t>- ROC shows trade-off: catching fraud vs. wrongly flagging customers</a:t>
            </a:r>
          </a:p>
          <a:p>
            <a:pPr>
              <a:lnSpc>
                <a:spcPct val="200000"/>
              </a:lnSpc>
            </a:pPr>
            <a:r>
              <a:rPr lang="en-IN" dirty="0"/>
              <a:t>- AUC = 0.83 → Model correctly ranks fraud &gt; normal 83% of the time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00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8707</TotalTime>
  <Words>397</Words>
  <Application>Microsoft Macintosh PowerPoint</Application>
  <PresentationFormat>Widescreen</PresentationFormat>
  <Paragraphs>47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11</cp:revision>
  <dcterms:created xsi:type="dcterms:W3CDTF">2025-09-17T13:52:51Z</dcterms:created>
  <dcterms:modified xsi:type="dcterms:W3CDTF">2025-10-05T14:10:12Z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