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14D3-772D-D7FC-04CA-7FE803F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ED2B-4A3A-52CC-C5BC-B751403B8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5126E-1F48-5DF0-E3E1-BF9BFB1DD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D9F-C614-0770-02CE-7150E0D4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100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9E42-51D1-9F07-3D1D-86598B03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0182-3A87-C273-2781-74E5AE509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34053-827B-4142-DE06-D74E56FE3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10660-3D64-2A72-2D22-715F9203E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01260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574-F3E1-31FC-E753-BA8BF908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15645-438A-7B7E-0985-D1B6861A9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DEB5-1684-64D7-2D57-BA7A1D38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88CFC-FF4E-9119-E3AE-2CE861D3D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214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7090-3C2C-24EF-D945-5D645EEB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01B46-8470-AF9A-9E54-AC0F6907C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BE41C-E1DF-1EC3-037B-66F7A6821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4614E-D23C-F53F-DD17-DF4F93D7E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80482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5F20-79FB-AEB5-FDBE-6C3C645E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3A7D6-0466-6A3C-3FD8-895F2210A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5C2E5-0777-B546-AE5F-811509179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65B18-758A-8BAB-6C55-BDFA4A16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6705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BF05-1D3F-BB06-47CB-7855308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1A56-8E28-D701-808E-B601B821A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96ECC-C202-DC24-C241-510DBA482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A674-FCDB-901B-1D9B-82A495D43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4868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1509-7CCA-7750-0ED7-43D32C97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29AB6-96AF-F8BB-F11E-749CF9F59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941FC-B071-63BC-FE9A-4BC141D9E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84E44-CEE5-0BB7-8765-41F4751BE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82532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32EE-1FBF-0B55-ABAF-2FC482B2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A08E9-C2B0-8402-1141-501D4016B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A065D-67DD-7CEB-C54D-339221BC6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B8C66-B7CF-005B-482C-5B222D189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0266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4509267" y="1460183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>
                <a:latin typeface="Trebuchet MS"/>
                <a:cs typeface="Trebuchet MS"/>
              </a:rPr>
              <a:t>#</a:t>
            </a:r>
            <a:r>
              <a:rPr lang="en-US" sz="2400" spc="-25">
                <a:latin typeface="Trebuchet MS"/>
                <a:cs typeface="Trebuchet MS"/>
              </a:rPr>
              <a:t>16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2743200" y="2126033"/>
            <a:ext cx="1122267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Autoencoders / VAEs 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4 Nov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888333"/>
            <a:ext cx="1230630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What is an Autoencoder?</a:t>
            </a:r>
            <a:endParaRPr lang="en-IN" sz="24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749944" y="979410"/>
            <a:ext cx="8219885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br>
              <a:rPr lang="en-IN" dirty="0"/>
            </a:br>
            <a:r>
              <a:rPr lang="en-IN" dirty="0"/>
              <a:t>An </a:t>
            </a:r>
            <a:r>
              <a:rPr lang="en-IN" b="1" dirty="0"/>
              <a:t>autoencoder</a:t>
            </a:r>
            <a:r>
              <a:rPr lang="en-IN" dirty="0"/>
              <a:t> learns to compress and reconstruct its input.</a:t>
            </a:r>
            <a:br>
              <a:rPr lang="en-IN" dirty="0"/>
            </a:br>
            <a:r>
              <a:rPr lang="en-IN" b="1" dirty="0"/>
              <a:t>Analogy:</a:t>
            </a:r>
            <a:r>
              <a:rPr lang="en-IN" dirty="0"/>
              <a:t> ZIP file for data.</a:t>
            </a:r>
            <a:br>
              <a:rPr lang="en-IN" dirty="0"/>
            </a:br>
            <a:r>
              <a:rPr lang="en-IN" dirty="0"/>
              <a:t>Input → Encoder → Latent Space → Decoder → Output</a:t>
            </a:r>
            <a:br>
              <a:rPr lang="en-IN" dirty="0"/>
            </a:b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952D0E-2259-014A-D42F-077EE3105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27" y="3273211"/>
            <a:ext cx="34798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dirty="0"/>
              <a:t>Why Autoencoders Matter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C0E77-FFBE-8AF9-0551-6D3E8050B52F}"/>
              </a:ext>
            </a:extLst>
          </p:cNvPr>
          <p:cNvSpPr txBox="1"/>
          <p:nvPr/>
        </p:nvSpPr>
        <p:spPr>
          <a:xfrm>
            <a:off x="1162878" y="2057400"/>
            <a:ext cx="8590722" cy="443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Dimensionality reduction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Noise removal / denoising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Anomaly detection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Feature extraction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Data compression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Pretraining for deep nets</a:t>
            </a:r>
            <a:br>
              <a:rPr lang="en-IN" dirty="0">
                <a:latin typeface="Trebuchet MS" panose="020B0703020202090204" pitchFamily="34" charset="0"/>
              </a:rPr>
            </a:br>
            <a:r>
              <a:rPr lang="en-IN" b="1" dirty="0">
                <a:latin typeface="Trebuchet MS" panose="020B0703020202090204" pitchFamily="34" charset="0"/>
              </a:rPr>
              <a:t>Example:</a:t>
            </a:r>
            <a:r>
              <a:rPr lang="en-IN" dirty="0">
                <a:latin typeface="Trebuchet MS" panose="020B0703020202090204" pitchFamily="34" charset="0"/>
              </a:rPr>
              <a:t> Compress 784-dim MNIST image → 32-dim latent space.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066800" y="762000"/>
            <a:ext cx="929640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Architecture Overview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382000" cy="43464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Components:</a:t>
            </a:r>
          </a:p>
          <a:p>
            <a:endParaRPr lang="en-IN" dirty="0"/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Encoder (feature extractor)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Bottleneck (latent vector)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Decoder (reconstruction)</a:t>
            </a:r>
            <a:br>
              <a:rPr lang="en-IN" dirty="0"/>
            </a:br>
            <a:r>
              <a:rPr lang="en-IN" b="1" dirty="0"/>
              <a:t>Activation:</a:t>
            </a:r>
            <a:r>
              <a:rPr lang="en-IN" dirty="0"/>
              <a:t> </a:t>
            </a:r>
            <a:r>
              <a:rPr lang="en-IN" dirty="0" err="1"/>
              <a:t>ReLU</a:t>
            </a:r>
            <a:r>
              <a:rPr lang="en-IN" dirty="0"/>
              <a:t>, Sigmoid, Tanh</a:t>
            </a:r>
            <a:br>
              <a:rPr lang="en-IN" dirty="0"/>
            </a:br>
            <a:r>
              <a:rPr lang="en-IN" b="1" dirty="0"/>
              <a:t>Loss Function:</a:t>
            </a:r>
            <a:br>
              <a:rPr lang="en-IN" dirty="0"/>
            </a:br>
            <a:r>
              <a:rPr lang="en-IN" dirty="0"/>
              <a:t>Mean Squared Error:</a:t>
            </a:r>
            <a:br>
              <a:rPr lang="en-IN" dirty="0"/>
            </a:b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E776F0-6F04-3B13-CC07-F7A5C355F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4267200"/>
            <a:ext cx="21717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25210" y="762000"/>
            <a:ext cx="8699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Visual Intuition</a:t>
            </a:r>
            <a:endParaRPr 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C40C8-10C6-1F66-366B-D9AA10E34067}"/>
              </a:ext>
            </a:extLst>
          </p:cNvPr>
          <p:cNvSpPr txBox="1"/>
          <p:nvPr/>
        </p:nvSpPr>
        <p:spPr>
          <a:xfrm>
            <a:off x="881530" y="1691239"/>
            <a:ext cx="8338669" cy="1114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Two halves of symmetric network — encoder compresses, decoder expands.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arrows labelled “information compression” and “reconstruction.</a:t>
            </a:r>
            <a:endParaRPr lang="en-IN" dirty="0">
              <a:latin typeface="Trebuchet MS" panose="020B070302020209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56109D-EBA9-B1F8-2CA7-FC7D87845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27321"/>
            <a:ext cx="4488719" cy="299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13221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Denoising Autoencoders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914400" y="1828799"/>
            <a:ext cx="7930893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Purpose:</a:t>
            </a:r>
            <a:r>
              <a:rPr lang="en-IN" dirty="0"/>
              <a:t> Learn to remove noise from data.</a:t>
            </a:r>
            <a:br>
              <a:rPr lang="en-IN" dirty="0"/>
            </a:br>
            <a:r>
              <a:rPr lang="en-IN" b="1" dirty="0"/>
              <a:t>Process:</a:t>
            </a:r>
            <a:br>
              <a:rPr lang="en-IN" dirty="0"/>
            </a:br>
            <a:r>
              <a:rPr lang="en-IN" dirty="0"/>
              <a:t>Add noise → Encoder → Latent → Decoder → Reconstruct clean data.</a:t>
            </a:r>
            <a:br>
              <a:rPr lang="en-IN" dirty="0"/>
            </a:br>
            <a:r>
              <a:rPr lang="en-IN" b="1" dirty="0"/>
              <a:t>Loss:</a:t>
            </a:r>
            <a:r>
              <a:rPr lang="en-IN" dirty="0"/>
              <a:t> Still reconstruction loss but input is noisy, target is clean.</a:t>
            </a:r>
            <a:br>
              <a:rPr lang="en-IN" dirty="0"/>
            </a:br>
            <a:r>
              <a:rPr lang="en-IN" b="1" dirty="0"/>
              <a:t>Ex :</a:t>
            </a:r>
            <a:r>
              <a:rPr lang="en-IN" dirty="0"/>
              <a:t> Add Gaussian noise to images.</a:t>
            </a:r>
          </a:p>
        </p:txBody>
      </p:sp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3C27-E0BD-9B6D-3696-0C20C86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C55C0BC-7157-C394-7A88-AC7BE35F44A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3BD1EF-2E81-2A12-1ADF-A13E4B28EBD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36879B5-2E77-17BF-41FA-F3D67A9848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FF16B5D-E2F2-15DE-9D19-7DF5872711B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B271025-20A3-A79E-6692-07506A0E16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78BAA03-D87A-953D-8C14-C050ABC1B1B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400" dirty="0"/>
              <a:t>Sparse Autoencoders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0F6FE-7B48-1B40-DE5D-4BC6F0E3EFBA}"/>
              </a:ext>
            </a:extLst>
          </p:cNvPr>
          <p:cNvSpPr txBox="1"/>
          <p:nvPr/>
        </p:nvSpPr>
        <p:spPr>
          <a:xfrm>
            <a:off x="855027" y="1770379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Goal:</a:t>
            </a:r>
            <a:r>
              <a:rPr lang="en-IN" dirty="0"/>
              <a:t> Force network to learn efficient, sparse features.</a:t>
            </a:r>
            <a:br>
              <a:rPr lang="en-IN" dirty="0"/>
            </a:br>
            <a:r>
              <a:rPr lang="en-IN" b="1" dirty="0"/>
              <a:t>Constraint:</a:t>
            </a:r>
            <a:br>
              <a:rPr lang="en-IN" dirty="0"/>
            </a:br>
            <a:r>
              <a:rPr lang="en-IN" dirty="0"/>
              <a:t>KL-divergence penalty or L1 regularization on hidden units.</a:t>
            </a:r>
            <a:br>
              <a:rPr lang="en-IN" dirty="0"/>
            </a:br>
            <a:r>
              <a:rPr lang="en-IN" b="1" dirty="0"/>
              <a:t>Equation:</a:t>
            </a:r>
          </a:p>
          <a:p>
            <a:endParaRPr lang="en-IN" b="1" dirty="0"/>
          </a:p>
          <a:p>
            <a:endParaRPr lang="en-IN" b="1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6DEF6E-5D79-9EA5-00BE-5D3E1C49D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27" y="4724400"/>
            <a:ext cx="37465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0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AC08-C208-188F-3306-C7A15711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5B0EB7A-21C4-8DB2-9E7F-FA4E208BF11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BC4D63D-4277-4C5C-91AF-0DAC8ECF3E56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579730B-2F26-6A34-41DD-5C8D8073B4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A137D88-FD53-C948-B524-5F5086B6199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52E1A4F-FF90-5BA7-BAEF-17749EBBB9E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49C725A-C076-C817-F500-3DC8D7C197F5}"/>
              </a:ext>
            </a:extLst>
          </p:cNvPr>
          <p:cNvSpPr txBox="1"/>
          <p:nvPr/>
        </p:nvSpPr>
        <p:spPr>
          <a:xfrm>
            <a:off x="607264" y="838200"/>
            <a:ext cx="10647395" cy="13837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b="1" dirty="0"/>
              <a:t>Transition to VAEs</a:t>
            </a:r>
          </a:p>
          <a:p>
            <a:pPr marL="12700">
              <a:spcBef>
                <a:spcPts val="130"/>
              </a:spcBef>
            </a:pP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3D353-410F-ECC3-CCCF-DD4983386C47}"/>
              </a:ext>
            </a:extLst>
          </p:cNvPr>
          <p:cNvSpPr txBox="1"/>
          <p:nvPr/>
        </p:nvSpPr>
        <p:spPr>
          <a:xfrm>
            <a:off x="771715" y="2057400"/>
            <a:ext cx="9912093" cy="1668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Autoencoders compress data.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VAEs generate new data.</a:t>
            </a:r>
            <a:r>
              <a:rPr lang="en-IN" dirty="0"/>
              <a:t>”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Show examples: generating new faces, digits, etc.</a:t>
            </a:r>
          </a:p>
        </p:txBody>
      </p:sp>
    </p:spTree>
    <p:extLst>
      <p:ext uri="{BB962C8B-B14F-4D97-AF65-F5344CB8AC3E}">
        <p14:creationId xmlns:p14="http://schemas.microsoft.com/office/powerpoint/2010/main" val="59517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0A98-E292-9CBC-A94B-4F6E5E42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364EF79-0F46-CDFD-EF0C-3EA65E1AEC0A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58B147E-7445-BD67-0F1B-F4ECD480D609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5DDFF74-D9AC-7E22-DDC5-1502BC41CB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09FE9D1-D377-0F04-CB00-560C3E46ABB7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EACB43F3-BFFF-2E0D-6A43-2801C9B4172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2E16A6C-6FC1-798B-E377-FF4D4CC08A1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Variational Autoencoders (VAEs)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08585-B729-A5B5-35C9-EC7FF5C46E35}"/>
              </a:ext>
            </a:extLst>
          </p:cNvPr>
          <p:cNvSpPr txBox="1"/>
          <p:nvPr/>
        </p:nvSpPr>
        <p:spPr>
          <a:xfrm>
            <a:off x="679707" y="1828800"/>
            <a:ext cx="9912093" cy="388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Intuition:</a:t>
            </a:r>
            <a:br>
              <a:rPr lang="en-IN" dirty="0"/>
            </a:br>
            <a:r>
              <a:rPr lang="en-IN" dirty="0"/>
              <a:t>VAEs learn </a:t>
            </a:r>
            <a:r>
              <a:rPr lang="en-IN" b="1" dirty="0"/>
              <a:t>probability distributions</a:t>
            </a:r>
            <a:r>
              <a:rPr lang="en-IN" dirty="0"/>
              <a:t> of latent variables, not fixed vectors.</a:t>
            </a:r>
            <a:br>
              <a:rPr lang="en-IN" dirty="0"/>
            </a:br>
            <a:r>
              <a:rPr lang="en-IN" b="1" dirty="0"/>
              <a:t>Architecture:</a:t>
            </a:r>
            <a:br>
              <a:rPr lang="en-IN" dirty="0"/>
            </a:br>
            <a:r>
              <a:rPr lang="en-IN" dirty="0"/>
              <a:t>Encoder → Latent mean </a:t>
            </a:r>
            <a:r>
              <a:rPr lang="el-GR" dirty="0"/>
              <a:t>μ </a:t>
            </a:r>
            <a:r>
              <a:rPr lang="en-IN" dirty="0"/>
              <a:t>and variance </a:t>
            </a:r>
            <a:r>
              <a:rPr lang="el-GR" dirty="0"/>
              <a:t>σ → </a:t>
            </a:r>
            <a:r>
              <a:rPr lang="en-IN" dirty="0"/>
              <a:t>Sampling → Decoder</a:t>
            </a:r>
            <a:br>
              <a:rPr lang="en-IN" dirty="0"/>
            </a:br>
            <a:r>
              <a:rPr lang="en-IN" b="1" dirty="0"/>
              <a:t>Equation:</a:t>
            </a:r>
          </a:p>
          <a:p>
            <a:pPr>
              <a:lnSpc>
                <a:spcPct val="200000"/>
              </a:lnSpc>
            </a:pPr>
            <a:endParaRPr lang="en-IN" b="1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D48850-1AD6-D66B-4CE0-6BA20121F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4" y="4800600"/>
            <a:ext cx="2108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3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6586-0C3E-8D99-1EAF-C719F6E8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4C50111-3299-7CD1-0ED6-83A5CA6EEE8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B79B1B2-5785-3B57-D28F-E3E039804748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6D57EDE-73D7-6BE0-D8FD-1C8F87561F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AAD0E7D-A74C-1559-4932-8CFB8CDF825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DF7A7A1-D024-6934-86A7-B1D51B507FA8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3BAF23D-78AC-9D75-F954-A03A7C23D782}"/>
              </a:ext>
            </a:extLst>
          </p:cNvPr>
          <p:cNvSpPr txBox="1"/>
          <p:nvPr/>
        </p:nvSpPr>
        <p:spPr>
          <a:xfrm>
            <a:off x="772890" y="848211"/>
            <a:ext cx="1064622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The Reparameterization Trick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24A68-9827-E89C-3F89-E6571D7FFF0C}"/>
              </a:ext>
            </a:extLst>
          </p:cNvPr>
          <p:cNvSpPr txBox="1"/>
          <p:nvPr/>
        </p:nvSpPr>
        <p:spPr>
          <a:xfrm>
            <a:off x="679707" y="1828800"/>
            <a:ext cx="9912093" cy="2222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Problem:</a:t>
            </a:r>
            <a:r>
              <a:rPr lang="en-IN" dirty="0"/>
              <a:t> Random sampling breaks backpropagation.</a:t>
            </a:r>
            <a:br>
              <a:rPr lang="en-IN" dirty="0"/>
            </a:br>
            <a:r>
              <a:rPr lang="en-IN" b="1" dirty="0"/>
              <a:t>Solution: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Diagram:</a:t>
            </a:r>
            <a:r>
              <a:rPr lang="en-IN" dirty="0"/>
              <a:t> Small box showing </a:t>
            </a:r>
            <a:r>
              <a:rPr lang="el-GR" dirty="0"/>
              <a:t>μ, σ, ε.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FF79B8-7F63-EC2A-8336-92B56D9C5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07" y="3048000"/>
            <a:ext cx="4559300" cy="482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65F51B-D519-30C7-F675-0495DBACE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200" y="2019300"/>
            <a:ext cx="30861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362C-0BDF-1C8B-77D8-9258955E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6FFD9D4C-1C88-1995-7C7B-D95C969ADA0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0B9FAAD-C6FF-0998-8C9A-7D5994282B8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927B606-5F7A-9366-B93B-A2039B16639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2EADC05-8859-BAF9-4680-8A92BF225B31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7376AE4-5128-D64A-A3BD-ACB80A244B02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582EDC0B-E0DE-29EB-2429-854EAB8B144D}"/>
              </a:ext>
            </a:extLst>
          </p:cNvPr>
          <p:cNvSpPr txBox="1"/>
          <p:nvPr/>
        </p:nvSpPr>
        <p:spPr>
          <a:xfrm>
            <a:off x="772890" y="848211"/>
            <a:ext cx="1064622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VAE Loss Function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AAE34-724F-7317-D33C-F7B2EF6FFAC5}"/>
              </a:ext>
            </a:extLst>
          </p:cNvPr>
          <p:cNvSpPr txBox="1"/>
          <p:nvPr/>
        </p:nvSpPr>
        <p:spPr>
          <a:xfrm>
            <a:off x="679707" y="1828800"/>
            <a:ext cx="9912093" cy="388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Combined Loss:</a:t>
            </a:r>
            <a:br>
              <a:rPr lang="en-IN" dirty="0"/>
            </a:br>
            <a:r>
              <a:rPr lang="en-IN" dirty="0"/>
              <a:t>L=Reconstruction </a:t>
            </a:r>
            <a:r>
              <a:rPr lang="en-IN" dirty="0" err="1"/>
              <a:t>Loss+KL</a:t>
            </a:r>
            <a:r>
              <a:rPr lang="en-IN" dirty="0"/>
              <a:t> </a:t>
            </a:r>
            <a:r>
              <a:rPr lang="en-IN" dirty="0" err="1"/>
              <a:t>DivergenceL</a:t>
            </a:r>
            <a:r>
              <a:rPr lang="en-IN" dirty="0"/>
              <a:t> = \text{Reconstruction Loss} + \text{KL Divergence}L=Reconstruction </a:t>
            </a:r>
            <a:r>
              <a:rPr lang="en-IN" dirty="0" err="1"/>
              <a:t>Loss+KL</a:t>
            </a:r>
            <a:r>
              <a:rPr lang="en-IN" dirty="0"/>
              <a:t> Divergence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Reconstruction → ensures output resembles input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KL Divergence → regularizes latent distribution toward normality</a:t>
            </a:r>
            <a:br>
              <a:rPr lang="en-IN" dirty="0"/>
            </a:br>
            <a:r>
              <a:rPr lang="en-IN" b="1" dirty="0"/>
              <a:t>Formula:</a:t>
            </a: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3D623E-6C6D-90ED-D4C9-BB2D6C7C0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7" y="5334000"/>
            <a:ext cx="43434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0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4AAD-C25F-BA53-2BE2-9CD0D807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278BCAC5-A76C-888F-82D2-3BDD9307EA8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C23F7FF-8406-593E-4011-1795CCD64635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E2FD890-3CC7-B025-592F-9F1909929C9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A6E7DF5-6A8B-2D00-BC7F-BA7682776960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1753DD9-2284-E14E-9B10-F99031FD508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198448F7-4804-79F9-4DA6-DD8A04F00A3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Visual Comparison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665B63-E909-852A-0DBC-9D17D011B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776783"/>
              </p:ext>
            </p:extLst>
          </p:nvPr>
        </p:nvGraphicFramePr>
        <p:xfrm>
          <a:off x="881531" y="1960677"/>
          <a:ext cx="7587980" cy="145838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896995">
                  <a:extLst>
                    <a:ext uri="{9D8B030D-6E8A-4147-A177-3AD203B41FA5}">
                      <a16:colId xmlns:a16="http://schemas.microsoft.com/office/drawing/2014/main" val="3922831281"/>
                    </a:ext>
                  </a:extLst>
                </a:gridCol>
                <a:gridCol w="1896995">
                  <a:extLst>
                    <a:ext uri="{9D8B030D-6E8A-4147-A177-3AD203B41FA5}">
                      <a16:colId xmlns:a16="http://schemas.microsoft.com/office/drawing/2014/main" val="3457215000"/>
                    </a:ext>
                  </a:extLst>
                </a:gridCol>
                <a:gridCol w="1896995">
                  <a:extLst>
                    <a:ext uri="{9D8B030D-6E8A-4147-A177-3AD203B41FA5}">
                      <a16:colId xmlns:a16="http://schemas.microsoft.com/office/drawing/2014/main" val="3741877437"/>
                    </a:ext>
                  </a:extLst>
                </a:gridCol>
                <a:gridCol w="1896995">
                  <a:extLst>
                    <a:ext uri="{9D8B030D-6E8A-4147-A177-3AD203B41FA5}">
                      <a16:colId xmlns:a16="http://schemas.microsoft.com/office/drawing/2014/main" val="1017252694"/>
                    </a:ext>
                  </a:extLst>
                </a:gridCol>
              </a:tblGrid>
              <a:tr h="318911">
                <a:tc>
                  <a:txBody>
                    <a:bodyPr/>
                    <a:lstStyle/>
                    <a:p>
                      <a:r>
                        <a:rPr lang="en-IN" sz="1600"/>
                        <a:t>Type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Output Nature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Latent Space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Application</a:t>
                      </a:r>
                    </a:p>
                  </a:txBody>
                  <a:tcPr marL="79728" marR="79728" marT="39864" marB="39864" anchor="ctr"/>
                </a:tc>
                <a:extLst>
                  <a:ext uri="{0D108BD9-81ED-4DB2-BD59-A6C34878D82A}">
                    <a16:rowId xmlns:a16="http://schemas.microsoft.com/office/drawing/2014/main" val="898998877"/>
                  </a:ext>
                </a:extLst>
              </a:tr>
              <a:tr h="558094">
                <a:tc>
                  <a:txBody>
                    <a:bodyPr/>
                    <a:lstStyle/>
                    <a:p>
                      <a:r>
                        <a:rPr lang="en-IN" sz="1600"/>
                        <a:t>Autoencoder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Deterministic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Single point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Compression, denoising</a:t>
                      </a:r>
                    </a:p>
                  </a:txBody>
                  <a:tcPr marL="79728" marR="79728" marT="39864" marB="39864" anchor="ctr"/>
                </a:tc>
                <a:extLst>
                  <a:ext uri="{0D108BD9-81ED-4DB2-BD59-A6C34878D82A}">
                    <a16:rowId xmlns:a16="http://schemas.microsoft.com/office/drawing/2014/main" val="1264752873"/>
                  </a:ext>
                </a:extLst>
              </a:tr>
              <a:tr h="558094">
                <a:tc>
                  <a:txBody>
                    <a:bodyPr/>
                    <a:lstStyle/>
                    <a:p>
                      <a:r>
                        <a:rPr lang="en-IN" sz="1600"/>
                        <a:t>VAE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Probabilistic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Distribution (</a:t>
                      </a:r>
                      <a:r>
                        <a:rPr lang="el-GR" sz="1600"/>
                        <a:t>μ, σ)</a:t>
                      </a:r>
                    </a:p>
                  </a:txBody>
                  <a:tcPr marL="79728" marR="79728" marT="39864" marB="39864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Generation, anomaly detection</a:t>
                      </a:r>
                    </a:p>
                  </a:txBody>
                  <a:tcPr marL="79728" marR="79728" marT="39864" marB="39864" anchor="ctr"/>
                </a:tc>
                <a:extLst>
                  <a:ext uri="{0D108BD9-81ED-4DB2-BD59-A6C34878D82A}">
                    <a16:rowId xmlns:a16="http://schemas.microsoft.com/office/drawing/2014/main" val="4073748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287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DC541-0FAC-7015-81F2-2766FC40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CFABA731-5134-100A-8AE4-161D672EF21C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5759EB8-A76C-53BD-2B81-3A13547BE72B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D23113C-D668-650D-8F86-E02C5E606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6B14096-FC0E-EDF6-AFF7-58F31C0DF1F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99D568CB-3E94-2DE5-3AEF-F22E7F50323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3EFC861-A386-EEFC-AF70-B70F650361F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Applications in Real-World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507CD-F3A0-9A40-CF9C-48CC9D0528A7}"/>
              </a:ext>
            </a:extLst>
          </p:cNvPr>
          <p:cNvSpPr txBox="1"/>
          <p:nvPr/>
        </p:nvSpPr>
        <p:spPr>
          <a:xfrm>
            <a:off x="855027" y="1770379"/>
            <a:ext cx="6096000" cy="2222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Image compression (autoencoders)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Fraud / anomaly detection (banks, sensors)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Synthetic data generation (VAEs)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Pretraining for LLM embeddings / GenAI</a:t>
            </a:r>
          </a:p>
        </p:txBody>
      </p:sp>
    </p:spTree>
    <p:extLst>
      <p:ext uri="{BB962C8B-B14F-4D97-AF65-F5344CB8AC3E}">
        <p14:creationId xmlns:p14="http://schemas.microsoft.com/office/powerpoint/2010/main" val="24470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1878E-B641-A2A2-855C-3B02FBDF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5E30E9C-42D2-AE4F-4C09-1943A48F5FE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D742D-ADEF-6002-06D2-2BF0D770101E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6F0F0AAF-6FF7-C1ED-9173-E1347FAD6D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6A03DE3-5BA0-FB52-1AD5-350BF8AE94A8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C7D1A9F1-D6B1-7BFC-C31A-1446E6F7EE6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0F2D02F-E8A3-73BF-A40E-56A54C65A636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Summary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07A4A-2872-E2B4-0430-0A3DB7AC2CF5}"/>
              </a:ext>
            </a:extLst>
          </p:cNvPr>
          <p:cNvSpPr txBox="1"/>
          <p:nvPr/>
        </p:nvSpPr>
        <p:spPr>
          <a:xfrm>
            <a:off x="679707" y="1828800"/>
            <a:ext cx="9912093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Autoencoder:</a:t>
            </a:r>
            <a:r>
              <a:rPr lang="en-IN" dirty="0"/>
              <a:t> Learns compact representations</a:t>
            </a:r>
            <a:br>
              <a:rPr lang="en-IN" dirty="0"/>
            </a:br>
            <a:r>
              <a:rPr lang="en-IN" b="1" dirty="0"/>
              <a:t>VAE:</a:t>
            </a:r>
            <a:r>
              <a:rPr lang="en-IN" dirty="0"/>
              <a:t> Adds probabilistic generative power</a:t>
            </a:r>
            <a:br>
              <a:rPr lang="en-IN" dirty="0"/>
            </a:br>
            <a:r>
              <a:rPr lang="en-IN" b="1" dirty="0"/>
              <a:t>Key takeaway:</a:t>
            </a:r>
            <a:br>
              <a:rPr lang="en-IN" dirty="0"/>
            </a:br>
            <a:r>
              <a:rPr lang="en-IN" dirty="0"/>
              <a:t>Autoencoders → compression</a:t>
            </a:r>
            <a:br>
              <a:rPr lang="en-IN" dirty="0"/>
            </a:br>
            <a:r>
              <a:rPr lang="en-IN" dirty="0"/>
              <a:t>VAEs → imagination</a:t>
            </a:r>
          </a:p>
        </p:txBody>
      </p:sp>
    </p:spTree>
    <p:extLst>
      <p:ext uri="{BB962C8B-B14F-4D97-AF65-F5344CB8AC3E}">
        <p14:creationId xmlns:p14="http://schemas.microsoft.com/office/powerpoint/2010/main" val="3485903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33322</TotalTime>
  <Words>759</Words>
  <Application>Microsoft Macintosh PowerPoint</Application>
  <PresentationFormat>Widescreen</PresentationFormat>
  <Paragraphs>85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41</cp:revision>
  <dcterms:created xsi:type="dcterms:W3CDTF">2025-09-17T13:52:51Z</dcterms:created>
  <dcterms:modified xsi:type="dcterms:W3CDTF">2025-11-05T16:44:49Z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