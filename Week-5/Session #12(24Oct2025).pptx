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>
      <p:cViewPr varScale="1">
        <p:scale>
          <a:sx n="128" d="100"/>
          <a:sy n="128" d="100"/>
        </p:scale>
        <p:origin x="176" y="3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14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886200" y="2286000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 err="1"/>
              <a:t>RelU</a:t>
            </a:r>
            <a:r>
              <a:rPr lang="en-IN" sz="4400" dirty="0"/>
              <a:t> + </a:t>
            </a:r>
            <a:r>
              <a:rPr lang="en-IN" sz="4400" dirty="0" err="1"/>
              <a:t>Softmax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23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888333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ReLU &amp; </a:t>
            </a:r>
            <a:r>
              <a:rPr lang="en-IN" sz="3200" dirty="0" err="1"/>
              <a:t>Softmax</a:t>
            </a:r>
            <a:r>
              <a:rPr lang="en-IN" sz="3200" dirty="0"/>
              <a:t> – The Power Switches of Neural Networks</a:t>
            </a:r>
            <a:endParaRPr sz="32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660272" y="2057400"/>
            <a:ext cx="6539948" cy="222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Understanding how neural networks learn and make decisions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Focus on two key activation functions: </a:t>
            </a:r>
            <a:r>
              <a:rPr lang="en-IN" b="1" dirty="0">
                <a:latin typeface="Trebuchet MS" panose="020B0703020202090204" pitchFamily="34" charset="0"/>
              </a:rPr>
              <a:t>ReLU</a:t>
            </a:r>
            <a:r>
              <a:rPr lang="en-IN" dirty="0">
                <a:latin typeface="Trebuchet MS" panose="020B0703020202090204" pitchFamily="34" charset="0"/>
              </a:rPr>
              <a:t> and </a:t>
            </a:r>
            <a:r>
              <a:rPr lang="en-IN" b="1" dirty="0" err="1">
                <a:latin typeface="Trebuchet MS" panose="020B0703020202090204" pitchFamily="34" charset="0"/>
              </a:rPr>
              <a:t>Softmax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Simplified examples for practical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126060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What Are Activation Functions</a:t>
            </a:r>
            <a:r>
              <a:rPr lang="en-IN" sz="4000" b="1" dirty="0"/>
              <a:t>?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0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32384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Introduce </a:t>
            </a:r>
            <a:r>
              <a:rPr lang="en-IN" b="1" dirty="0"/>
              <a:t>non-linearity</a:t>
            </a:r>
            <a:r>
              <a:rPr lang="en-IN" dirty="0"/>
              <a:t> into neural networks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Help the model learn complex patterns (beyond straight lines)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Decide whether a neuron should “fire” or stay inactive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Without activation functions → network behaves like a simple linear equation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295400" y="914400"/>
            <a:ext cx="92964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Meet ReLU (Rectified Linear Unit)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4900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b="1" dirty="0"/>
              <a:t>Formula:</a:t>
            </a:r>
            <a:br>
              <a:rPr lang="en-IN" dirty="0"/>
            </a:br>
            <a:r>
              <a:rPr lang="en-IN" dirty="0"/>
              <a:t>f(x)=max⁡(0,x)f(x) = \max(0, x)f(x)=max(0,x)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Passes positive inputs as they are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Converts negative inputs to 0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Efficient and simple to compute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Most commonly used activation in deep learning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55027" y="110628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ReLU intuition</a:t>
            </a:r>
            <a:endParaRPr lang="en-US" sz="4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C649BB-7CF6-3CF5-7E20-1B91344EFBDD}"/>
              </a:ext>
            </a:extLst>
          </p:cNvPr>
          <p:cNvSpPr txBox="1">
            <a:spLocks/>
          </p:cNvSpPr>
          <p:nvPr/>
        </p:nvSpPr>
        <p:spPr>
          <a:xfrm>
            <a:off x="855027" y="1981200"/>
            <a:ext cx="8229600" cy="4900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Works like a </a:t>
            </a:r>
            <a:r>
              <a:rPr lang="en-IN" b="1" dirty="0"/>
              <a:t>filter</a:t>
            </a:r>
            <a:r>
              <a:rPr lang="en-IN" dirty="0"/>
              <a:t> or </a:t>
            </a:r>
            <a:r>
              <a:rPr lang="en-IN" b="1" dirty="0"/>
              <a:t>gatekeeper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Keeps positive signals → focuses on meaningful data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Ignores negative signals → saves computation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Helps the model learn faster and reduces training time</a:t>
            </a:r>
          </a:p>
          <a:p>
            <a:pPr>
              <a:lnSpc>
                <a:spcPct val="200000"/>
              </a:lnSpc>
            </a:pPr>
            <a:r>
              <a:rPr lang="en-IN" b="1" dirty="0"/>
              <a:t>Example: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Fraud detection system → suspicious score (positive) passes through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Normal transaction (negative) → output becomes 0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/>
              <a:t>ReLU: Pros and Cons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679707" y="1828800"/>
            <a:ext cx="5797293" cy="4992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rebuchet MS" panose="020B0703020202090204" pitchFamily="34" charset="0"/>
              </a:rPr>
              <a:t>Advantages: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Simple and fast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 Helps avoid </a:t>
            </a:r>
            <a:r>
              <a:rPr lang="en-IN" i="1" dirty="0">
                <a:latin typeface="Trebuchet MS" panose="020B0703020202090204" pitchFamily="34" charset="0"/>
              </a:rPr>
              <a:t>vanishing gradients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 Works well for large, deep networks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rebuchet MS" panose="020B0703020202090204" pitchFamily="34" charset="0"/>
              </a:rPr>
              <a:t>Limitations: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 “Dying ReLU” problem — neurons can stop learning (output always 0)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Cannot handle negative values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72890" y="848211"/>
            <a:ext cx="10646220" cy="138371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>
                <a:latin typeface="Trebuchet MS" panose="020B0703020202090204" pitchFamily="34" charset="0"/>
              </a:rPr>
              <a:t>Intuition: What </a:t>
            </a:r>
            <a:r>
              <a:rPr lang="en-IN" sz="4400" dirty="0" err="1">
                <a:latin typeface="Trebuchet MS" panose="020B0703020202090204" pitchFamily="34" charset="0"/>
              </a:rPr>
              <a:t>Softmax</a:t>
            </a:r>
            <a:r>
              <a:rPr lang="en-IN" sz="4400" dirty="0">
                <a:latin typeface="Trebuchet MS" panose="020B0703020202090204" pitchFamily="34" charset="0"/>
              </a:rPr>
              <a:t> Does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394C86-CC23-7940-6C10-1962A7D820E4}"/>
              </a:ext>
            </a:extLst>
          </p:cNvPr>
          <p:cNvSpPr txBox="1"/>
          <p:nvPr/>
        </p:nvSpPr>
        <p:spPr>
          <a:xfrm>
            <a:off x="679707" y="1828800"/>
            <a:ext cx="5797293" cy="5546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rebuchet MS" panose="020B0703020202090204" pitchFamily="34" charset="0"/>
              </a:rPr>
              <a:t>Transforms </a:t>
            </a:r>
            <a:r>
              <a:rPr lang="en-IN" dirty="0">
                <a:latin typeface="Trebuchet MS" panose="020B0703020202090204" pitchFamily="34" charset="0"/>
              </a:rPr>
              <a:t>scores into easy-to-interpret probabilities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Highlights the most likely class among many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Makes model output </a:t>
            </a:r>
            <a:r>
              <a:rPr lang="en-IN" b="1" dirty="0">
                <a:latin typeface="Trebuchet MS" panose="020B0703020202090204" pitchFamily="34" charset="0"/>
              </a:rPr>
              <a:t>human-readable</a:t>
            </a:r>
            <a:r>
              <a:rPr lang="en-IN" dirty="0">
                <a:latin typeface="Trebuchet MS" panose="020B0703020202090204" pitchFamily="34" charset="0"/>
              </a:rPr>
              <a:t> and </a:t>
            </a:r>
            <a:r>
              <a:rPr lang="en-IN" b="1" dirty="0">
                <a:latin typeface="Trebuchet MS" panose="020B0703020202090204" pitchFamily="34" charset="0"/>
              </a:rPr>
              <a:t>comparable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latin typeface="Trebuchet MS" panose="020B0703020202090204" pitchFamily="34" charset="0"/>
              </a:rPr>
              <a:t>Example: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Image classifier output: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Cat → 0.82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Dog → 0.15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Rabbit → 0.03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23186</TotalTime>
  <Words>456</Words>
  <Application>Microsoft Macintosh PowerPoint</Application>
  <PresentationFormat>Widescreen</PresentationFormat>
  <Paragraphs>57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29</cp:revision>
  <dcterms:created xsi:type="dcterms:W3CDTF">2025-09-17T13:52:51Z</dcterms:created>
  <dcterms:modified xsi:type="dcterms:W3CDTF">2025-10-24T16:02:03Z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