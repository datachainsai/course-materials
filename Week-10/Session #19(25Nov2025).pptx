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B3C5-5421-5941-4503-3DF20DD9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4C9B4-0C6A-B27F-C8A4-84C96858C1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F3210-30B0-B571-086D-81FBA36D0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48D2A-C2EB-9D2B-364D-7156C958C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4142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DDC9-B037-3A39-CD93-40B52986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80DAB-B1E1-C956-D661-FDA496A4F6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59B09-EF9D-9619-8585-8DAD3B9DD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29E54-80CC-CBA4-5B30-DCEA1A44F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06856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B230-DCB1-C70E-4E93-AB07FC7C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387D2-EAEC-3CD7-143F-5E582344FC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3A7A8-609D-6D4F-BB8C-5C60F57A3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604FF-995C-791C-40E6-46B5F09E4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88074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B1B4F-5CD5-5991-8184-035A5101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536A9-C76A-6CD5-4546-B8C9481F72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15FCA-6B3F-F750-A8B2-9592F6688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BDF18-6FD2-8BEC-D089-520032789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6863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0E0C2-2083-9FE6-8C54-0A20C36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2170E-FDA9-9C4C-FDF2-98AD87290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BB339-3297-C5CA-32DE-7545E0128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67F67-4686-B182-03EE-8A35184FB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86882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A405A-FED5-1ED4-96C3-D4371FB2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45E1F-9D8E-EFFC-2CDA-9DBF38E18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A266A-3F28-E2D5-1751-34C1E27B3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31A95-EB8B-01A7-A76B-4BB8900DD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48791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ABFA1-E5E7-F24C-C234-68CA959D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F85E1-BB98-B436-5988-3E743FB8A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B0A25-8AA3-B3CE-2135-7AFA10BEC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98ED3-A29E-60BE-CBC8-5B0A809E7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0951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4509267" y="1460183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18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276600" y="2157031"/>
            <a:ext cx="11222673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>
                <a:latin typeface="Trebuchet MS"/>
                <a:cs typeface="Trebuchet MS"/>
              </a:rPr>
              <a:t>RAG Pipelines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25  Nov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608589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What is RAG?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771715" y="1063392"/>
            <a:ext cx="8219885" cy="51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Retrieval-Augmented Generation (RAG)</a:t>
            </a:r>
            <a:r>
              <a:rPr lang="en-IN" sz="1600" dirty="0">
                <a:latin typeface="Trebuchet MS" panose="020B0703020202090204" pitchFamily="34" charset="0"/>
              </a:rPr>
              <a:t> is an AI architecture that </a:t>
            </a:r>
            <a:r>
              <a:rPr lang="en-IN" sz="1600" b="1" dirty="0">
                <a:latin typeface="Trebuchet MS" panose="020B0703020202090204" pitchFamily="34" charset="0"/>
              </a:rPr>
              <a:t>combines LLMs with external knowledge</a:t>
            </a:r>
            <a:r>
              <a:rPr lang="en-IN" sz="1600" dirty="0">
                <a:latin typeface="Trebuchet MS" panose="020B070302020209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Trebuchet MS" panose="020B0703020202090204" pitchFamily="34" charset="0"/>
              </a:rPr>
              <a:t>nstead</a:t>
            </a:r>
            <a:r>
              <a:rPr lang="en-IN" sz="1600" dirty="0">
                <a:latin typeface="Trebuchet MS" panose="020B0703020202090204" pitchFamily="34" charset="0"/>
              </a:rPr>
              <a:t> of the LLM guessing an answer, it retrieves the right information first.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✦ Why RAG?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LLMs cannot remember everything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Reduces hallucinations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Uses up-to-date, private, or domain-specific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Perfect for enterprise 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Analogy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LLM = your brain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Retrieval = opening the correct file or Google Doc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RAG = using both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67E4-3FD3-6016-340D-A20929B0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4B26740-6C97-AF5C-92A9-EFB41E9083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D476902-0FAA-1318-F13C-A7B36684F291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85D46CE-6B05-3ED9-47B9-30A93004C0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75054D2-A929-B5D4-13CD-8CEFC09616AC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35C6902-A4CA-DB10-5664-806A5007CAF1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9C600BA-2756-9E23-AEC7-3ED735FAFC6A}"/>
              </a:ext>
            </a:extLst>
          </p:cNvPr>
          <p:cNvSpPr txBox="1"/>
          <p:nvPr/>
        </p:nvSpPr>
        <p:spPr>
          <a:xfrm>
            <a:off x="771715" y="608589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RAG Architecture (High Level)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9A538DEB-16F0-EFCF-89D3-6A11E33DFB93}"/>
              </a:ext>
            </a:extLst>
          </p:cNvPr>
          <p:cNvGrpSpPr/>
          <p:nvPr/>
        </p:nvGrpSpPr>
        <p:grpSpPr>
          <a:xfrm>
            <a:off x="9601200" y="6096000"/>
            <a:ext cx="2497046" cy="7715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C42BBF40-AFDF-5FE8-2CC0-0ED547A973AA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0ED9D463-7E0C-36E0-4E80-D6CFE2D77CB1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E2E0598-92F9-CF25-F58D-3BCFB10FB1E9}"/>
              </a:ext>
            </a:extLst>
          </p:cNvPr>
          <p:cNvSpPr txBox="1"/>
          <p:nvPr/>
        </p:nvSpPr>
        <p:spPr>
          <a:xfrm>
            <a:off x="771715" y="1063392"/>
            <a:ext cx="8219885" cy="745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8A6EB6-253F-DF96-FD49-781E3110A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23" y="1056765"/>
            <a:ext cx="5553077" cy="399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63008B-2687-7536-45B8-A80515772F07}"/>
              </a:ext>
            </a:extLst>
          </p:cNvPr>
          <p:cNvSpPr txBox="1"/>
          <p:nvPr/>
        </p:nvSpPr>
        <p:spPr>
          <a:xfrm>
            <a:off x="633768" y="1186660"/>
            <a:ext cx="5315879" cy="526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4 </a:t>
            </a:r>
            <a:r>
              <a:rPr lang="en-IN" sz="1600" b="1" dirty="0">
                <a:latin typeface="Trebuchet MS" panose="020B0703020202090204" pitchFamily="34" charset="0"/>
              </a:rPr>
              <a:t>Major Components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Document Store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Where your knowledge lives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Examples: Pinecone, Chroma, FAISS, </a:t>
            </a:r>
            <a:r>
              <a:rPr lang="en-IN" sz="1600" dirty="0" err="1">
                <a:latin typeface="Trebuchet MS" panose="020B0703020202090204" pitchFamily="34" charset="0"/>
              </a:rPr>
              <a:t>Weaviate</a:t>
            </a:r>
            <a:endParaRPr lang="en-IN" sz="1600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Embedder (Vectorizer)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Converts text → numeric vector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 err="1">
                <a:latin typeface="Trebuchet MS" panose="020B0703020202090204" pitchFamily="34" charset="0"/>
              </a:rPr>
              <a:t>Eg.</a:t>
            </a:r>
            <a:r>
              <a:rPr lang="en-IN" sz="1600" dirty="0">
                <a:latin typeface="Trebuchet MS" panose="020B0703020202090204" pitchFamily="34" charset="0"/>
              </a:rPr>
              <a:t> OpenAI text-embedding-3-large, BERT,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Instructor-XL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Retriever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Finds the most relevant chunks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 err="1">
                <a:latin typeface="Trebuchet MS" panose="020B0703020202090204" pitchFamily="34" charset="0"/>
              </a:rPr>
              <a:t>kNN</a:t>
            </a:r>
            <a:r>
              <a:rPr lang="en-IN" sz="1600" dirty="0">
                <a:latin typeface="Trebuchet MS" panose="020B0703020202090204" pitchFamily="34" charset="0"/>
              </a:rPr>
              <a:t> search / Similarity search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Generator (LLM)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Uses retrieved chunks to answer the user query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 err="1">
                <a:latin typeface="Trebuchet MS" panose="020B0703020202090204" pitchFamily="34" charset="0"/>
              </a:rPr>
              <a:t>Eg.</a:t>
            </a:r>
            <a:r>
              <a:rPr lang="en-IN" sz="1600" dirty="0">
                <a:latin typeface="Trebuchet MS" panose="020B0703020202090204" pitchFamily="34" charset="0"/>
              </a:rPr>
              <a:t> GPT-4.1, GPT-5, Llama-3</a:t>
            </a:r>
          </a:p>
        </p:txBody>
      </p:sp>
    </p:spTree>
    <p:extLst>
      <p:ext uri="{BB962C8B-B14F-4D97-AF65-F5344CB8AC3E}">
        <p14:creationId xmlns:p14="http://schemas.microsoft.com/office/powerpoint/2010/main" val="67093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556D8-4130-3F81-8D41-3E11FF9A5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52546E60-5C95-C5E2-671F-6C5346CF5DE5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82474D-42AF-8097-A4C6-825AFE7AB372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07BB231-F1D5-7567-CB1B-1760F6EA280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A3E8060-C4C4-CCFA-22C3-13DDCCB7000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C528BB2-18C7-5067-9A22-B017D96FCFAC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E8635C5-117B-98D2-7B40-82D56BEF1F2E}"/>
              </a:ext>
            </a:extLst>
          </p:cNvPr>
          <p:cNvSpPr txBox="1"/>
          <p:nvPr/>
        </p:nvSpPr>
        <p:spPr>
          <a:xfrm>
            <a:off x="771715" y="608589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RAG Pipeline: Step-by-Step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1B35A040-9E2F-C9E4-089C-49099E68F46B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839BAA5B-D5BD-49BB-0B9C-19182247CED0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8CBBBE0D-1EC8-07C4-FAAB-B360B0C718B2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EF73454-0D8B-4A9F-5E04-0CB6C97D43C8}"/>
              </a:ext>
            </a:extLst>
          </p:cNvPr>
          <p:cNvSpPr txBox="1"/>
          <p:nvPr/>
        </p:nvSpPr>
        <p:spPr>
          <a:xfrm>
            <a:off x="633768" y="1232478"/>
            <a:ext cx="6543485" cy="406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1. Chunking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Break documents into small pieces (200–300 words).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Why?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Improves accuracy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Reduces context-window waste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2. Embedding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Convert chunks → 1536 or 3072 dimensional vectors.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3. Vector Storage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Store embeddings in vector DB.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C378FE-12F2-3D9F-BE43-B940E46EA296}"/>
              </a:ext>
            </a:extLst>
          </p:cNvPr>
          <p:cNvSpPr txBox="1"/>
          <p:nvPr/>
        </p:nvSpPr>
        <p:spPr>
          <a:xfrm>
            <a:off x="6705600" y="1164889"/>
            <a:ext cx="5867400" cy="4807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4. Retrieval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At query time: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Convert query to embedding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Search vector DB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Retrieve top-k chunks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5. Augmented Prompt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LLM gets: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User Question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Retrieved evidence chunks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6. Generate Answer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LLM answers using retrieved context.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80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5EE95-8740-B8CF-4DE3-5BE5DE6F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1EDDB26-59D6-9B64-BFC0-F8A8B574E6A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BF15FE9-78E4-97A4-A953-D1DE06FE41CF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983FC5D-6FF8-0997-AB05-37AEAF49E9D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4B5DB96-A4C0-81B2-3FBA-4D7DBFA1062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6B3014E-89E7-4C3E-91F4-333804BF20FA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F9E1396F-1A7A-0BAD-2FA8-FCFA50D7A8D1}"/>
              </a:ext>
            </a:extLst>
          </p:cNvPr>
          <p:cNvSpPr txBox="1"/>
          <p:nvPr/>
        </p:nvSpPr>
        <p:spPr>
          <a:xfrm>
            <a:off x="833256" y="582164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Where RAG Fails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0AAFD952-A065-4D17-39B9-5BDD83FB314E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4F68B61A-8257-23D8-1FF9-A704259F03D4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69791B01-9E1B-9404-1E44-D2CA3620CB5A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CD761B-BA8D-D1B6-9690-2F900EB573A5}"/>
              </a:ext>
            </a:extLst>
          </p:cNvPr>
          <p:cNvSpPr txBox="1"/>
          <p:nvPr/>
        </p:nvSpPr>
        <p:spPr>
          <a:xfrm>
            <a:off x="771715" y="922279"/>
            <a:ext cx="6543485" cy="6284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❌ Common Issues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Bad chunking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Too large → irrelevant answers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Too small → missing context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Shallow schema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If your knowledge has relationships (accident DB), you need </a:t>
            </a:r>
            <a:r>
              <a:rPr lang="en-IN" sz="1600" b="1" dirty="0">
                <a:latin typeface="Trebuchet MS" panose="020B0703020202090204" pitchFamily="34" charset="0"/>
              </a:rPr>
              <a:t>structured RAG</a:t>
            </a:r>
            <a:r>
              <a:rPr lang="en-IN" sz="1600" dirty="0">
                <a:latin typeface="Trebuchet MS" panose="020B0703020202090204" pitchFamily="34" charset="0"/>
              </a:rPr>
              <a:t> not plain RAG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Low-quality embeddings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Outdated embedding models → poor retrieval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Bad retriever settings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Wrong k value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Wrong distance metric (cosine vs L2)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Query understanding problem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LLM misunderstands what the user wants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Needs </a:t>
            </a:r>
            <a:r>
              <a:rPr lang="en-IN" sz="1600" b="1" dirty="0">
                <a:latin typeface="Trebuchet MS" panose="020B0703020202090204" pitchFamily="34" charset="0"/>
              </a:rPr>
              <a:t>query rewriting.</a:t>
            </a:r>
            <a:endParaRPr lang="en-IN" sz="1600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184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CCA34-1D5E-2D30-41BE-1E17E8EDA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81C2CCBF-3856-6E3C-CBA8-D4222F19F8D5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3B1BAD-76BD-BF05-704E-46726A9C700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B918175D-4421-2833-5F91-D61A31E77BA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1C00128-89F0-956E-E06B-780046D8C645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2B8CF48-EDCC-4493-F478-EBE9F8A65B0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0CAF32A-D07A-810E-6CF4-FFF340B7A86B}"/>
              </a:ext>
            </a:extLst>
          </p:cNvPr>
          <p:cNvSpPr txBox="1"/>
          <p:nvPr/>
        </p:nvSpPr>
        <p:spPr>
          <a:xfrm>
            <a:off x="833256" y="582164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Advanced RAG (Enterprise-Ready)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805F7161-DAD1-AB6E-D5F2-D7F876BD7BA6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11121376-3E0F-C9BD-705B-6916F2B31170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BC42B74C-3B59-6520-CEE4-F95BA9823A9A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3EF8C5A-E68B-98F1-5CD8-3E8B83966963}"/>
              </a:ext>
            </a:extLst>
          </p:cNvPr>
          <p:cNvSpPr txBox="1"/>
          <p:nvPr/>
        </p:nvSpPr>
        <p:spPr>
          <a:xfrm>
            <a:off x="771715" y="748169"/>
            <a:ext cx="6543485" cy="5361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16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✔ 1. Query Rewriting Layer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Rewrite user query to be search-friendly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“Find all rollovers in 2018” →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“Retrieve accident records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where </a:t>
            </a:r>
            <a:r>
              <a:rPr lang="en-IN" sz="1600" dirty="0" err="1">
                <a:latin typeface="Trebuchet MS" panose="020B0703020202090204" pitchFamily="34" charset="0"/>
              </a:rPr>
              <a:t>accident_type</a:t>
            </a:r>
            <a:r>
              <a:rPr lang="en-IN" sz="1600" dirty="0">
                <a:latin typeface="Trebuchet MS" panose="020B0703020202090204" pitchFamily="34" charset="0"/>
              </a:rPr>
              <a:t> = rollover AND year = 2018”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✔ 2. Multi-Vector Retrieval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Use: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Title embeddings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Summary embeddings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Paragraph embeddings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Metadata embeddings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35DED-12D4-CC1B-5D9A-446EFE4A1DE3}"/>
              </a:ext>
            </a:extLst>
          </p:cNvPr>
          <p:cNvSpPr txBox="1"/>
          <p:nvPr/>
        </p:nvSpPr>
        <p:spPr>
          <a:xfrm>
            <a:off x="6477000" y="685800"/>
            <a:ext cx="6543485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16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✔ 3. RAG + SQL (Text-to-SQL)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When data is structured (like your accident DB):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RAG retrieves schema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LLM generates SQL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SQL executed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LLM summarizes results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✔ 4. Hybrid Search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Combine: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Vector search (semantic)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Keyword search (BM25)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✔ 5. Ranking Layer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Re-rank retrieved chunks using a cross-encoder</a:t>
            </a:r>
          </a:p>
        </p:txBody>
      </p:sp>
    </p:spTree>
    <p:extLst>
      <p:ext uri="{BB962C8B-B14F-4D97-AF65-F5344CB8AC3E}">
        <p14:creationId xmlns:p14="http://schemas.microsoft.com/office/powerpoint/2010/main" val="362527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69C1-371F-390F-B39F-6B09D605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40A5810-2FC3-871D-30CC-90D3B25BF0DD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B4C844E-099D-726E-3A53-6EFFB9C35F99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5AA0106E-3CE5-E656-59B2-D296C3F32FE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597C3FA-42D2-E921-A84F-BA30F0883188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21ACB3-708F-81F7-B62F-15369E314664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1622E5D0-4BB0-10B5-FAA8-FB53AF53E493}"/>
              </a:ext>
            </a:extLst>
          </p:cNvPr>
          <p:cNvSpPr txBox="1"/>
          <p:nvPr/>
        </p:nvSpPr>
        <p:spPr>
          <a:xfrm>
            <a:off x="833256" y="582164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Accident Database RAG Failure Case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63A7F937-495E-116F-0745-F53285EFC787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54B9B5EC-A7D7-FF7D-7E10-5B20CF416366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3B316053-4DB8-7C8B-FBCD-873DBDF8C99A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488FA38-F554-B758-0B3B-8987BEA53C25}"/>
              </a:ext>
            </a:extLst>
          </p:cNvPr>
          <p:cNvSpPr txBox="1"/>
          <p:nvPr/>
        </p:nvSpPr>
        <p:spPr>
          <a:xfrm>
            <a:off x="771715" y="1248626"/>
            <a:ext cx="6543485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16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our case: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“Roll over count” → model keeps showing “2” instead of “9”.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Why?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Reasons: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Trebuchet MS" panose="020B0703020202090204" pitchFamily="34" charset="0"/>
              </a:rPr>
              <a:t>Schema is complex</a:t>
            </a:r>
            <a:endParaRPr lang="en-IN" sz="16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33 CSVs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Primary keys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Not just text → it's relational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❌ </a:t>
            </a:r>
            <a:r>
              <a:rPr lang="en-IN" sz="1600" b="1" dirty="0">
                <a:latin typeface="Trebuchet MS" panose="020B0703020202090204" pitchFamily="34" charset="0"/>
              </a:rPr>
              <a:t>Simple RAG works only for text answers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It cannot count, join, or perform SQL logic using only text chunks.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B2F8C-4618-4F73-0333-FC8304BFCAB6}"/>
              </a:ext>
            </a:extLst>
          </p:cNvPr>
          <p:cNvSpPr txBox="1"/>
          <p:nvPr/>
        </p:nvSpPr>
        <p:spPr>
          <a:xfrm>
            <a:off x="5791200" y="2779495"/>
            <a:ext cx="6543485" cy="1299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16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endParaRPr lang="en-IN" sz="1600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5B7CD-E9A2-86EE-6ED1-BBC24DB898E5}"/>
              </a:ext>
            </a:extLst>
          </p:cNvPr>
          <p:cNvSpPr txBox="1"/>
          <p:nvPr/>
        </p:nvSpPr>
        <p:spPr>
          <a:xfrm>
            <a:off x="7315200" y="1503506"/>
            <a:ext cx="6569528" cy="2263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703020202090204" pitchFamily="34" charset="0"/>
              </a:rPr>
              <a:t>3. ✔ You need </a:t>
            </a:r>
            <a:r>
              <a:rPr lang="en-IN" sz="1600" b="1" dirty="0">
                <a:latin typeface="Trebuchet MS" panose="020B0703020202090204" pitchFamily="34" charset="0"/>
              </a:rPr>
              <a:t>RAG + SQL Agent</a:t>
            </a:r>
            <a:r>
              <a:rPr lang="en-IN" sz="1600" dirty="0">
                <a:latin typeface="Trebuchet MS" panose="020B070302020209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Find the right tables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Interpret relationships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Generate SQL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Execute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rebuchet MS" panose="020B0703020202090204" pitchFamily="34" charset="0"/>
              </a:rPr>
              <a:t>Summarize result</a:t>
            </a:r>
          </a:p>
        </p:txBody>
      </p:sp>
    </p:spTree>
    <p:extLst>
      <p:ext uri="{BB962C8B-B14F-4D97-AF65-F5344CB8AC3E}">
        <p14:creationId xmlns:p14="http://schemas.microsoft.com/office/powerpoint/2010/main" val="296105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1F197-C59A-C221-E1E5-48106D62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B0D42C42-6676-A447-9497-5FAECC95EFEC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D31F3B3-BF1A-0977-09E1-B69AFA5EA716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D543B50-33FD-FAF1-6307-DD94DA79F58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71DA9EE-F863-8A52-AADC-43AF3CA4E041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FC0E612-FD74-C4BB-1A86-8C43FCB1761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9ADBB-53A0-EDE4-C7DF-E55F6F411B46}"/>
              </a:ext>
            </a:extLst>
          </p:cNvPr>
          <p:cNvSpPr txBox="1"/>
          <p:nvPr/>
        </p:nvSpPr>
        <p:spPr>
          <a:xfrm>
            <a:off x="833256" y="582164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Correct Architecture for Your Accident DB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6F9A75C7-5950-3B43-999B-6F36B0385DEE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6A1E4046-5ECC-2A8E-3711-BA248798A27D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B1E4111D-F32F-1369-92CE-0C5CD0DFAC58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6F23950-E023-3635-FFC2-46D18AB7C47E}"/>
              </a:ext>
            </a:extLst>
          </p:cNvPr>
          <p:cNvSpPr txBox="1"/>
          <p:nvPr/>
        </p:nvSpPr>
        <p:spPr>
          <a:xfrm>
            <a:off x="833256" y="814950"/>
            <a:ext cx="6543485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16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1. Document Types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Schema docs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Codebook (gender 0/1, accident codes)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Table samples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Query patterns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EE0D2-D3DC-4A47-7BE1-D0A25B0ACBD1}"/>
              </a:ext>
            </a:extLst>
          </p:cNvPr>
          <p:cNvSpPr txBox="1"/>
          <p:nvPr/>
        </p:nvSpPr>
        <p:spPr>
          <a:xfrm>
            <a:off x="6477000" y="1052132"/>
            <a:ext cx="6543485" cy="4478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2. 3-Layer RAG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Layer 1 — Query Rewriting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LLM rewrites user input to a structured intent →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“At fault rollovers count for 2018 in Dubai”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Layer 2 — Retrieval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Retrieve: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Codebook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Schema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Example SQL queries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rebuchet MS" panose="020B0703020202090204" pitchFamily="34" charset="0"/>
              </a:rPr>
              <a:t>Related table descriptions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703020202090204" pitchFamily="34" charset="0"/>
              </a:rPr>
              <a:t>Layer 3 — SQL Generation &amp; Execution</a:t>
            </a:r>
            <a:br>
              <a:rPr lang="en-IN" sz="1600" dirty="0">
                <a:latin typeface="Trebuchet MS" panose="020B0703020202090204" pitchFamily="34" charset="0"/>
              </a:rPr>
            </a:br>
            <a:r>
              <a:rPr lang="en-IN" sz="1600" dirty="0">
                <a:latin typeface="Trebuchet MS" panose="020B0703020202090204" pitchFamily="34" charset="0"/>
              </a:rPr>
              <a:t>Generate SQL → run → return JSON → LLM answers.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EDF3A6-DEFE-A99C-3147-8FF0F0A1941F}"/>
              </a:ext>
            </a:extLst>
          </p:cNvPr>
          <p:cNvSpPr txBox="1"/>
          <p:nvPr/>
        </p:nvSpPr>
        <p:spPr>
          <a:xfrm>
            <a:off x="4801126" y="1177353"/>
            <a:ext cx="6543485" cy="929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1600" b="1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756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43A22-7837-70B0-0389-88E728F4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A03A947-090C-21C5-10CE-DAAF58B1BBF5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02DEE3C-2DD6-2956-B65D-5D504428FEF4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A0EA549-C508-11FE-4B83-EF7A19AD09C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C541D6B-3A33-0B26-F48C-94642740AE45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25F7EC2-D069-E4AF-E463-390254CB4F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052EC497-24C8-816A-7B90-F682B2D42779}"/>
              </a:ext>
            </a:extLst>
          </p:cNvPr>
          <p:cNvSpPr txBox="1"/>
          <p:nvPr/>
        </p:nvSpPr>
        <p:spPr>
          <a:xfrm>
            <a:off x="833256" y="582164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Best Practices Cheat Sheet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B970346B-36A2-164A-CF7E-6C5C59FC8D8E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9D1D0AB2-6049-4B13-AEAE-D92936C1FBA3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F0846A68-A9A1-C162-9941-89243379419A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BFBAB9A-0097-F3CF-9CBA-447B506BCAF8}"/>
              </a:ext>
            </a:extLst>
          </p:cNvPr>
          <p:cNvSpPr txBox="1"/>
          <p:nvPr/>
        </p:nvSpPr>
        <p:spPr>
          <a:xfrm>
            <a:off x="855027" y="1121380"/>
            <a:ext cx="6543485" cy="5257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1600" b="1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/>
              <a:t>Do: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✔ Chunk by semantics</a:t>
            </a:r>
            <a:br>
              <a:rPr lang="en-IN" sz="1600" dirty="0"/>
            </a:br>
            <a:r>
              <a:rPr lang="en-IN" sz="1600" dirty="0"/>
              <a:t>✔ Use latest embeddings</a:t>
            </a:r>
            <a:br>
              <a:rPr lang="en-IN" sz="1600" dirty="0"/>
            </a:br>
            <a:r>
              <a:rPr lang="en-IN" sz="1600" dirty="0"/>
              <a:t>✔ Add metadata filters</a:t>
            </a:r>
            <a:br>
              <a:rPr lang="en-IN" sz="1600" dirty="0"/>
            </a:br>
            <a:r>
              <a:rPr lang="en-IN" sz="1600" dirty="0"/>
              <a:t>✔ Use SQL for structured data</a:t>
            </a:r>
            <a:br>
              <a:rPr lang="en-IN" sz="1600" dirty="0"/>
            </a:br>
            <a:r>
              <a:rPr lang="en-IN" sz="1600" dirty="0"/>
              <a:t>✔ Evaluate retrieval quality weekly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Don’t: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❌ Dump entire </a:t>
            </a:r>
            <a:r>
              <a:rPr lang="en-IN" sz="1600" dirty="0" err="1"/>
              <a:t>csvs</a:t>
            </a:r>
            <a:r>
              <a:rPr lang="en-IN" sz="1600" dirty="0"/>
              <a:t> into embeddings</a:t>
            </a:r>
            <a:br>
              <a:rPr lang="en-IN" sz="1600" dirty="0"/>
            </a:br>
            <a:r>
              <a:rPr lang="en-IN" sz="1600" dirty="0"/>
              <a:t>❌ Use simple RAG for complex analytics</a:t>
            </a:r>
            <a:br>
              <a:rPr lang="en-IN" sz="1600" dirty="0"/>
            </a:br>
            <a:r>
              <a:rPr lang="en-IN" sz="1600" dirty="0"/>
              <a:t>❌ Skip query rewriting</a:t>
            </a:r>
            <a:br>
              <a:rPr lang="en-IN" sz="1600" dirty="0"/>
            </a:br>
            <a:r>
              <a:rPr lang="en-IN" sz="1600" dirty="0"/>
              <a:t>❌ Store PII in vector DB</a:t>
            </a:r>
            <a:br>
              <a:rPr lang="en-IN" sz="1600" dirty="0"/>
            </a:br>
            <a:r>
              <a:rPr lang="en-IN" sz="1600" dirty="0"/>
              <a:t>❌ Ignore schema drift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263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37904</TotalTime>
  <Words>911</Words>
  <Application>Microsoft Macintosh PowerPoint</Application>
  <PresentationFormat>Widescreen</PresentationFormat>
  <Paragraphs>145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50</cp:revision>
  <dcterms:created xsi:type="dcterms:W3CDTF">2025-09-17T13:52:51Z</dcterms:created>
  <dcterms:modified xsi:type="dcterms:W3CDTF">2025-11-26T16:14:19Z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