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61" r:id="rId2"/>
    <p:sldId id="262" r:id="rId3"/>
    <p:sldId id="263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45"/>
  </p:normalViewPr>
  <p:slideViewPr>
    <p:cSldViewPr>
      <p:cViewPr varScale="1">
        <p:scale>
          <a:sx n="118" d="100"/>
          <a:sy n="118" d="100"/>
        </p:scale>
        <p:origin x="600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544D7F-A89F-BD45-A303-0BFEC5123660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57C749-F60A-8342-826B-5F481864A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040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 by reminding the team that linear regression is limited to straight-line relationships. Polynomial regression extends it by adding squared and cubic terms, allowing curved 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polynomial regression is not a completely new algorithm—it’s just linear regression on transformed features. The coefficients are still learned linearly, but the features are higher powers of 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4F1DB-86E7-6C55-9B30-6063141FF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CD6C57-E660-BFA9-8A77-B963A94E37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3D5C41-8609-4503-2246-678645BA82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polynomial regression is not a completely new algorithm—it’s just linear regression on transformed features. The coefficients are still learned linearly, but the features are higher powers of x.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7CDE9-C80A-5ED1-D972-6D6F716F06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95557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34479-17E6-0EDA-57EF-F39595795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15E3D9-E346-D025-5DB2-6B6E46A271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4D203E-6526-CCF6-B18A-7D4E74476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848B3-F1C1-F930-0AA4-5135ACF29A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62144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A8A54-1564-45D9-F7BF-F9792044E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3A0B9B-0F53-6490-51B8-59634DA6A8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EA86F6-330A-16D6-9FE9-E8BBDFB986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833C5-04B7-4917-5603-BDC8B68681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205083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714D3-772D-D7FC-04CA-7FE803FDB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48ED2B-4A3A-52CC-C5BC-B751403B8F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55126E-1F48-5DF0-E3E1-BF9BFB1DD4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BBD9F-C614-0770-02CE-7150E0D4FB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310085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89E42-51D1-9F07-3D1D-86598B03F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AA0182-3A87-C273-2781-74E5AE5096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434053-827B-4142-DE06-D74E56FE3A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10660-3D64-2A72-2D22-715F9203E7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012604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27574-F3E1-31FC-E753-BA8BF9082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B15645-438A-7B7E-0985-D1B6861A90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E2DEB5-1684-64D7-2D57-BA7A1D38BD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88CFC-FF4E-9119-E3AE-2CE861D3DC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921445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27090-3C2C-24EF-D945-5D645EEBA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601B46-8470-AF9A-9E54-AC0F6907C8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4BE41C-E1DF-1EC3-037B-66F7A6821E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4614E-D23C-F53F-DD17-DF4F93D7E3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804828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55F20-79FB-AEB5-FDBE-6C3C645E4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F3A7D6-0466-6A3C-3FD8-895F2210A7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95C2E5-0777-B546-AE5F-8115091790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65B18-758A-8BAB-6C55-BDFA4A160A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36705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02780" y="247713"/>
            <a:ext cx="368935" cy="372110"/>
          </a:xfrm>
          <a:custGeom>
            <a:avLst/>
            <a:gdLst/>
            <a:ahLst/>
            <a:cxnLst/>
            <a:rect l="l" t="t" r="r" b="b"/>
            <a:pathLst>
              <a:path w="368934" h="372109">
                <a:moveTo>
                  <a:pt x="232422" y="38227"/>
                </a:moveTo>
                <a:lnTo>
                  <a:pt x="194475" y="0"/>
                </a:lnTo>
                <a:lnTo>
                  <a:pt x="0" y="195897"/>
                </a:lnTo>
                <a:lnTo>
                  <a:pt x="0" y="202234"/>
                </a:lnTo>
                <a:lnTo>
                  <a:pt x="54457" y="257086"/>
                </a:lnTo>
                <a:lnTo>
                  <a:pt x="92405" y="218859"/>
                </a:lnTo>
                <a:lnTo>
                  <a:pt x="74295" y="200609"/>
                </a:lnTo>
                <a:lnTo>
                  <a:pt x="74295" y="197446"/>
                </a:lnTo>
                <a:lnTo>
                  <a:pt x="76238" y="195491"/>
                </a:lnTo>
                <a:lnTo>
                  <a:pt x="232422" y="38227"/>
                </a:lnTo>
                <a:close/>
              </a:path>
              <a:path w="368934" h="372109">
                <a:moveTo>
                  <a:pt x="368655" y="175463"/>
                </a:moveTo>
                <a:lnTo>
                  <a:pt x="330720" y="137261"/>
                </a:lnTo>
                <a:lnTo>
                  <a:pt x="172427" y="296735"/>
                </a:lnTo>
                <a:lnTo>
                  <a:pt x="169291" y="296735"/>
                </a:lnTo>
                <a:lnTo>
                  <a:pt x="151180" y="278485"/>
                </a:lnTo>
                <a:lnTo>
                  <a:pt x="113233" y="316712"/>
                </a:lnTo>
                <a:lnTo>
                  <a:pt x="167690" y="371563"/>
                </a:lnTo>
                <a:lnTo>
                  <a:pt x="173977" y="371563"/>
                </a:lnTo>
                <a:lnTo>
                  <a:pt x="248272" y="296735"/>
                </a:lnTo>
                <a:lnTo>
                  <a:pt x="368655" y="1754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57" y="250446"/>
            <a:ext cx="252302" cy="23114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03264" y="364205"/>
            <a:ext cx="230504" cy="255270"/>
          </a:xfrm>
          <a:custGeom>
            <a:avLst/>
            <a:gdLst/>
            <a:ahLst/>
            <a:cxnLst/>
            <a:rect l="l" t="t" r="r" b="b"/>
            <a:pathLst>
              <a:path w="230504" h="255270">
                <a:moveTo>
                  <a:pt x="175748" y="0"/>
                </a:moveTo>
                <a:lnTo>
                  <a:pt x="137798" y="38227"/>
                </a:lnTo>
                <a:lnTo>
                  <a:pt x="153963" y="54509"/>
                </a:lnTo>
                <a:lnTo>
                  <a:pt x="155908" y="56470"/>
                </a:lnTo>
                <a:lnTo>
                  <a:pt x="155908" y="59630"/>
                </a:lnTo>
                <a:lnTo>
                  <a:pt x="0" y="216678"/>
                </a:lnTo>
                <a:lnTo>
                  <a:pt x="37950" y="254905"/>
                </a:lnTo>
                <a:lnTo>
                  <a:pt x="230219" y="61230"/>
                </a:lnTo>
                <a:lnTo>
                  <a:pt x="230219" y="54890"/>
                </a:lnTo>
                <a:lnTo>
                  <a:pt x="226347" y="50990"/>
                </a:lnTo>
                <a:lnTo>
                  <a:pt x="1757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2769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2769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77940"/>
            <a:ext cx="2804160" cy="2769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45280" y="6377940"/>
            <a:ext cx="3901440" cy="27699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402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55027" y="211612"/>
            <a:ext cx="9801225" cy="10972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575" y="2098992"/>
            <a:ext cx="8703310" cy="143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6">
            <a:extLst>
              <a:ext uri="{FF2B5EF4-FFF2-40B4-BE49-F238E27FC236}">
                <a16:creationId xmlns:a16="http://schemas.microsoft.com/office/drawing/2014/main" id="{9ED7B8BF-4802-9411-B9EB-1D61C7544BB3}"/>
              </a:ext>
            </a:extLst>
          </p:cNvPr>
          <p:cNvGrpSpPr/>
          <p:nvPr/>
        </p:nvGrpSpPr>
        <p:grpSpPr>
          <a:xfrm>
            <a:off x="10106025" y="76200"/>
            <a:ext cx="2085975" cy="1666875"/>
            <a:chOff x="10115550" y="-9525"/>
            <a:chExt cx="2085975" cy="1666875"/>
          </a:xfrm>
        </p:grpSpPr>
        <p:sp>
          <p:nvSpPr>
            <p:cNvPr id="5" name="object 7">
              <a:extLst>
                <a:ext uri="{FF2B5EF4-FFF2-40B4-BE49-F238E27FC236}">
                  <a16:creationId xmlns:a16="http://schemas.microsoft.com/office/drawing/2014/main" id="{93C2435D-86AB-21E0-9A25-19A985E164D3}"/>
                </a:ext>
              </a:extLst>
            </p:cNvPr>
            <p:cNvSpPr/>
            <p:nvPr/>
          </p:nvSpPr>
          <p:spPr>
            <a:xfrm>
              <a:off x="10125075" y="0"/>
              <a:ext cx="2066925" cy="1647825"/>
            </a:xfrm>
            <a:custGeom>
              <a:avLst/>
              <a:gdLst/>
              <a:ahLst/>
              <a:cxnLst/>
              <a:rect l="l" t="t" r="r" b="b"/>
              <a:pathLst>
                <a:path w="2066925" h="1647825">
                  <a:moveTo>
                    <a:pt x="2066925" y="0"/>
                  </a:moveTo>
                  <a:lnTo>
                    <a:pt x="5140" y="0"/>
                  </a:lnTo>
                  <a:lnTo>
                    <a:pt x="2998" y="27450"/>
                  </a:lnTo>
                  <a:lnTo>
                    <a:pt x="753" y="75449"/>
                  </a:lnTo>
                  <a:lnTo>
                    <a:pt x="0" y="123825"/>
                  </a:lnTo>
                  <a:lnTo>
                    <a:pt x="753" y="172200"/>
                  </a:lnTo>
                  <a:lnTo>
                    <a:pt x="2998" y="220199"/>
                  </a:lnTo>
                  <a:lnTo>
                    <a:pt x="6713" y="267800"/>
                  </a:lnTo>
                  <a:lnTo>
                    <a:pt x="11874" y="314981"/>
                  </a:lnTo>
                  <a:lnTo>
                    <a:pt x="18461" y="361720"/>
                  </a:lnTo>
                  <a:lnTo>
                    <a:pt x="26450" y="407993"/>
                  </a:lnTo>
                  <a:lnTo>
                    <a:pt x="35820" y="453779"/>
                  </a:lnTo>
                  <a:lnTo>
                    <a:pt x="46547" y="499056"/>
                  </a:lnTo>
                  <a:lnTo>
                    <a:pt x="58610" y="543800"/>
                  </a:lnTo>
                  <a:lnTo>
                    <a:pt x="71986" y="587990"/>
                  </a:lnTo>
                  <a:lnTo>
                    <a:pt x="86653" y="631604"/>
                  </a:lnTo>
                  <a:lnTo>
                    <a:pt x="102589" y="674618"/>
                  </a:lnTo>
                  <a:lnTo>
                    <a:pt x="119770" y="717012"/>
                  </a:lnTo>
                  <a:lnTo>
                    <a:pt x="138176" y="758762"/>
                  </a:lnTo>
                  <a:lnTo>
                    <a:pt x="157784" y="799845"/>
                  </a:lnTo>
                  <a:lnTo>
                    <a:pt x="178570" y="840241"/>
                  </a:lnTo>
                  <a:lnTo>
                    <a:pt x="200514" y="879926"/>
                  </a:lnTo>
                  <a:lnTo>
                    <a:pt x="223593" y="918879"/>
                  </a:lnTo>
                  <a:lnTo>
                    <a:pt x="247783" y="957076"/>
                  </a:lnTo>
                  <a:lnTo>
                    <a:pt x="273064" y="994495"/>
                  </a:lnTo>
                  <a:lnTo>
                    <a:pt x="299412" y="1031115"/>
                  </a:lnTo>
                  <a:lnTo>
                    <a:pt x="326806" y="1066913"/>
                  </a:lnTo>
                  <a:lnTo>
                    <a:pt x="355223" y="1101866"/>
                  </a:lnTo>
                  <a:lnTo>
                    <a:pt x="384641" y="1135952"/>
                  </a:lnTo>
                  <a:lnTo>
                    <a:pt x="415037" y="1169150"/>
                  </a:lnTo>
                  <a:lnTo>
                    <a:pt x="446389" y="1201435"/>
                  </a:lnTo>
                  <a:lnTo>
                    <a:pt x="478674" y="1232787"/>
                  </a:lnTo>
                  <a:lnTo>
                    <a:pt x="511872" y="1263183"/>
                  </a:lnTo>
                  <a:lnTo>
                    <a:pt x="545958" y="1292601"/>
                  </a:lnTo>
                  <a:lnTo>
                    <a:pt x="580911" y="1321018"/>
                  </a:lnTo>
                  <a:lnTo>
                    <a:pt x="616709" y="1348412"/>
                  </a:lnTo>
                  <a:lnTo>
                    <a:pt x="653329" y="1374760"/>
                  </a:lnTo>
                  <a:lnTo>
                    <a:pt x="690748" y="1400041"/>
                  </a:lnTo>
                  <a:lnTo>
                    <a:pt x="728945" y="1424231"/>
                  </a:lnTo>
                  <a:lnTo>
                    <a:pt x="767898" y="1447310"/>
                  </a:lnTo>
                  <a:lnTo>
                    <a:pt x="807583" y="1469254"/>
                  </a:lnTo>
                  <a:lnTo>
                    <a:pt x="847979" y="1490040"/>
                  </a:lnTo>
                  <a:lnTo>
                    <a:pt x="889062" y="1509648"/>
                  </a:lnTo>
                  <a:lnTo>
                    <a:pt x="930812" y="1528054"/>
                  </a:lnTo>
                  <a:lnTo>
                    <a:pt x="973206" y="1545235"/>
                  </a:lnTo>
                  <a:lnTo>
                    <a:pt x="1016220" y="1561171"/>
                  </a:lnTo>
                  <a:lnTo>
                    <a:pt x="1059834" y="1575838"/>
                  </a:lnTo>
                  <a:lnTo>
                    <a:pt x="1104024" y="1589214"/>
                  </a:lnTo>
                  <a:lnTo>
                    <a:pt x="1148768" y="1601277"/>
                  </a:lnTo>
                  <a:lnTo>
                    <a:pt x="1194045" y="1612004"/>
                  </a:lnTo>
                  <a:lnTo>
                    <a:pt x="1239831" y="1621374"/>
                  </a:lnTo>
                  <a:lnTo>
                    <a:pt x="1286104" y="1629363"/>
                  </a:lnTo>
                  <a:lnTo>
                    <a:pt x="1332843" y="1635950"/>
                  </a:lnTo>
                  <a:lnTo>
                    <a:pt x="1380024" y="1641111"/>
                  </a:lnTo>
                  <a:lnTo>
                    <a:pt x="1427625" y="1644826"/>
                  </a:lnTo>
                  <a:lnTo>
                    <a:pt x="1475624" y="1647071"/>
                  </a:lnTo>
                  <a:lnTo>
                    <a:pt x="1524000" y="1647825"/>
                  </a:lnTo>
                  <a:lnTo>
                    <a:pt x="1572375" y="1647071"/>
                  </a:lnTo>
                  <a:lnTo>
                    <a:pt x="1620374" y="1644826"/>
                  </a:lnTo>
                  <a:lnTo>
                    <a:pt x="1667975" y="1641111"/>
                  </a:lnTo>
                  <a:lnTo>
                    <a:pt x="1715156" y="1635950"/>
                  </a:lnTo>
                  <a:lnTo>
                    <a:pt x="1761895" y="1629363"/>
                  </a:lnTo>
                  <a:lnTo>
                    <a:pt x="1808168" y="1621374"/>
                  </a:lnTo>
                  <a:lnTo>
                    <a:pt x="1853954" y="1612004"/>
                  </a:lnTo>
                  <a:lnTo>
                    <a:pt x="1899231" y="1601277"/>
                  </a:lnTo>
                  <a:lnTo>
                    <a:pt x="1943975" y="1589214"/>
                  </a:lnTo>
                  <a:lnTo>
                    <a:pt x="1988165" y="1575838"/>
                  </a:lnTo>
                  <a:lnTo>
                    <a:pt x="2031779" y="1561171"/>
                  </a:lnTo>
                  <a:lnTo>
                    <a:pt x="2066925" y="1548151"/>
                  </a:lnTo>
                  <a:lnTo>
                    <a:pt x="2066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8">
              <a:extLst>
                <a:ext uri="{FF2B5EF4-FFF2-40B4-BE49-F238E27FC236}">
                  <a16:creationId xmlns:a16="http://schemas.microsoft.com/office/drawing/2014/main" id="{2812E270-21E9-B66F-47B2-E8AFED974E04}"/>
                </a:ext>
              </a:extLst>
            </p:cNvPr>
            <p:cNvSpPr/>
            <p:nvPr/>
          </p:nvSpPr>
          <p:spPr>
            <a:xfrm>
              <a:off x="10125075" y="0"/>
              <a:ext cx="2066925" cy="1647825"/>
            </a:xfrm>
            <a:custGeom>
              <a:avLst/>
              <a:gdLst/>
              <a:ahLst/>
              <a:cxnLst/>
              <a:rect l="l" t="t" r="r" b="b"/>
              <a:pathLst>
                <a:path w="2066925" h="1647825">
                  <a:moveTo>
                    <a:pt x="2066925" y="1548151"/>
                  </a:moveTo>
                  <a:lnTo>
                    <a:pt x="1988165" y="1575838"/>
                  </a:lnTo>
                  <a:lnTo>
                    <a:pt x="1943975" y="1589214"/>
                  </a:lnTo>
                  <a:lnTo>
                    <a:pt x="1899231" y="1601277"/>
                  </a:lnTo>
                  <a:lnTo>
                    <a:pt x="1853954" y="1612004"/>
                  </a:lnTo>
                  <a:lnTo>
                    <a:pt x="1808168" y="1621374"/>
                  </a:lnTo>
                  <a:lnTo>
                    <a:pt x="1761895" y="1629363"/>
                  </a:lnTo>
                  <a:lnTo>
                    <a:pt x="1715156" y="1635950"/>
                  </a:lnTo>
                  <a:lnTo>
                    <a:pt x="1667975" y="1641111"/>
                  </a:lnTo>
                  <a:lnTo>
                    <a:pt x="1620374" y="1644826"/>
                  </a:lnTo>
                  <a:lnTo>
                    <a:pt x="1572375" y="1647071"/>
                  </a:lnTo>
                  <a:lnTo>
                    <a:pt x="1524000" y="1647825"/>
                  </a:lnTo>
                  <a:lnTo>
                    <a:pt x="1475624" y="1647071"/>
                  </a:lnTo>
                  <a:lnTo>
                    <a:pt x="1427625" y="1644826"/>
                  </a:lnTo>
                  <a:lnTo>
                    <a:pt x="1380024" y="1641111"/>
                  </a:lnTo>
                  <a:lnTo>
                    <a:pt x="1332843" y="1635950"/>
                  </a:lnTo>
                  <a:lnTo>
                    <a:pt x="1286104" y="1629363"/>
                  </a:lnTo>
                  <a:lnTo>
                    <a:pt x="1239831" y="1621374"/>
                  </a:lnTo>
                  <a:lnTo>
                    <a:pt x="1194045" y="1612004"/>
                  </a:lnTo>
                  <a:lnTo>
                    <a:pt x="1148768" y="1601277"/>
                  </a:lnTo>
                  <a:lnTo>
                    <a:pt x="1104024" y="1589214"/>
                  </a:lnTo>
                  <a:lnTo>
                    <a:pt x="1059834" y="1575838"/>
                  </a:lnTo>
                  <a:lnTo>
                    <a:pt x="1016220" y="1561171"/>
                  </a:lnTo>
                  <a:lnTo>
                    <a:pt x="973206" y="1545235"/>
                  </a:lnTo>
                  <a:lnTo>
                    <a:pt x="930812" y="1528054"/>
                  </a:lnTo>
                  <a:lnTo>
                    <a:pt x="889062" y="1509648"/>
                  </a:lnTo>
                  <a:lnTo>
                    <a:pt x="847979" y="1490040"/>
                  </a:lnTo>
                  <a:lnTo>
                    <a:pt x="807583" y="1469254"/>
                  </a:lnTo>
                  <a:lnTo>
                    <a:pt x="767898" y="1447310"/>
                  </a:lnTo>
                  <a:lnTo>
                    <a:pt x="728945" y="1424231"/>
                  </a:lnTo>
                  <a:lnTo>
                    <a:pt x="690748" y="1400041"/>
                  </a:lnTo>
                  <a:lnTo>
                    <a:pt x="653329" y="1374760"/>
                  </a:lnTo>
                  <a:lnTo>
                    <a:pt x="616709" y="1348412"/>
                  </a:lnTo>
                  <a:lnTo>
                    <a:pt x="580911" y="1321018"/>
                  </a:lnTo>
                  <a:lnTo>
                    <a:pt x="545958" y="1292601"/>
                  </a:lnTo>
                  <a:lnTo>
                    <a:pt x="511872" y="1263183"/>
                  </a:lnTo>
                  <a:lnTo>
                    <a:pt x="478674" y="1232787"/>
                  </a:lnTo>
                  <a:lnTo>
                    <a:pt x="446389" y="1201435"/>
                  </a:lnTo>
                  <a:lnTo>
                    <a:pt x="415037" y="1169150"/>
                  </a:lnTo>
                  <a:lnTo>
                    <a:pt x="384641" y="1135952"/>
                  </a:lnTo>
                  <a:lnTo>
                    <a:pt x="355223" y="1101866"/>
                  </a:lnTo>
                  <a:lnTo>
                    <a:pt x="326806" y="1066913"/>
                  </a:lnTo>
                  <a:lnTo>
                    <a:pt x="299412" y="1031115"/>
                  </a:lnTo>
                  <a:lnTo>
                    <a:pt x="273064" y="994495"/>
                  </a:lnTo>
                  <a:lnTo>
                    <a:pt x="247783" y="957076"/>
                  </a:lnTo>
                  <a:lnTo>
                    <a:pt x="223593" y="918879"/>
                  </a:lnTo>
                  <a:lnTo>
                    <a:pt x="200514" y="879926"/>
                  </a:lnTo>
                  <a:lnTo>
                    <a:pt x="178570" y="840241"/>
                  </a:lnTo>
                  <a:lnTo>
                    <a:pt x="157784" y="799845"/>
                  </a:lnTo>
                  <a:lnTo>
                    <a:pt x="138176" y="758762"/>
                  </a:lnTo>
                  <a:lnTo>
                    <a:pt x="119770" y="717012"/>
                  </a:lnTo>
                  <a:lnTo>
                    <a:pt x="102589" y="674618"/>
                  </a:lnTo>
                  <a:lnTo>
                    <a:pt x="86653" y="631604"/>
                  </a:lnTo>
                  <a:lnTo>
                    <a:pt x="71986" y="587990"/>
                  </a:lnTo>
                  <a:lnTo>
                    <a:pt x="58610" y="543800"/>
                  </a:lnTo>
                  <a:lnTo>
                    <a:pt x="46547" y="499056"/>
                  </a:lnTo>
                  <a:lnTo>
                    <a:pt x="35820" y="453779"/>
                  </a:lnTo>
                  <a:lnTo>
                    <a:pt x="26450" y="407993"/>
                  </a:lnTo>
                  <a:lnTo>
                    <a:pt x="18461" y="361720"/>
                  </a:lnTo>
                  <a:lnTo>
                    <a:pt x="11874" y="314981"/>
                  </a:lnTo>
                  <a:lnTo>
                    <a:pt x="6713" y="267800"/>
                  </a:lnTo>
                  <a:lnTo>
                    <a:pt x="2998" y="220199"/>
                  </a:lnTo>
                  <a:lnTo>
                    <a:pt x="753" y="172200"/>
                  </a:lnTo>
                  <a:lnTo>
                    <a:pt x="0" y="123825"/>
                  </a:lnTo>
                  <a:lnTo>
                    <a:pt x="753" y="75449"/>
                  </a:lnTo>
                  <a:lnTo>
                    <a:pt x="2998" y="27450"/>
                  </a:lnTo>
                  <a:lnTo>
                    <a:pt x="5140" y="0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3">
            <a:extLst>
              <a:ext uri="{FF2B5EF4-FFF2-40B4-BE49-F238E27FC236}">
                <a16:creationId xmlns:a16="http://schemas.microsoft.com/office/drawing/2014/main" id="{97A54B44-C534-0EBF-354F-D45B7ED608BF}"/>
              </a:ext>
            </a:extLst>
          </p:cNvPr>
          <p:cNvSpPr txBox="1"/>
          <p:nvPr/>
        </p:nvSpPr>
        <p:spPr>
          <a:xfrm>
            <a:off x="4509267" y="1460183"/>
            <a:ext cx="16160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50" dirty="0">
                <a:latin typeface="Trebuchet MS"/>
                <a:cs typeface="Trebuchet MS"/>
              </a:rPr>
              <a:t>Session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#</a:t>
            </a:r>
            <a:r>
              <a:rPr lang="en-US" sz="2400" spc="-25" dirty="0">
                <a:latin typeface="Trebuchet MS"/>
                <a:cs typeface="Trebuchet MS"/>
              </a:rPr>
              <a:t>17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85D8B188-3BEF-3708-BE9A-3283023B826F}"/>
              </a:ext>
            </a:extLst>
          </p:cNvPr>
          <p:cNvSpPr txBox="1"/>
          <p:nvPr/>
        </p:nvSpPr>
        <p:spPr>
          <a:xfrm>
            <a:off x="4648200" y="2286000"/>
            <a:ext cx="11222673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>
                <a:latin typeface="Trebuchet MS"/>
                <a:cs typeface="Trebuchet MS"/>
              </a:rPr>
              <a:t>GANs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944146-D6B3-E6C7-C2D8-ABDDD4DD4EE5}"/>
              </a:ext>
            </a:extLst>
          </p:cNvPr>
          <p:cNvSpPr txBox="1"/>
          <p:nvPr/>
        </p:nvSpPr>
        <p:spPr>
          <a:xfrm>
            <a:off x="487017" y="44726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15" name="object 4">
            <a:extLst>
              <a:ext uri="{FF2B5EF4-FFF2-40B4-BE49-F238E27FC236}">
                <a16:creationId xmlns:a16="http://schemas.microsoft.com/office/drawing/2014/main" id="{0F5EE9FC-78FF-A658-896F-05C767618F04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16" name="object 5">
              <a:extLst>
                <a:ext uri="{FF2B5EF4-FFF2-40B4-BE49-F238E27FC236}">
                  <a16:creationId xmlns:a16="http://schemas.microsoft.com/office/drawing/2014/main" id="{CB7838B8-B9C2-A189-8C2C-C531B953421C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6">
              <a:extLst>
                <a:ext uri="{FF2B5EF4-FFF2-40B4-BE49-F238E27FC236}">
                  <a16:creationId xmlns:a16="http://schemas.microsoft.com/office/drawing/2014/main" id="{BF0F943D-80FA-0E62-4541-D616E35A8B2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18" name="object 7">
              <a:extLst>
                <a:ext uri="{FF2B5EF4-FFF2-40B4-BE49-F238E27FC236}">
                  <a16:creationId xmlns:a16="http://schemas.microsoft.com/office/drawing/2014/main" id="{0995AAF2-0078-58B1-535F-AA3E76E14534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8">
            <a:extLst>
              <a:ext uri="{FF2B5EF4-FFF2-40B4-BE49-F238E27FC236}">
                <a16:creationId xmlns:a16="http://schemas.microsoft.com/office/drawing/2014/main" id="{67FDF485-D219-B80B-87B9-094D20FD4139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26" name="object 9">
            <a:extLst>
              <a:ext uri="{FF2B5EF4-FFF2-40B4-BE49-F238E27FC236}">
                <a16:creationId xmlns:a16="http://schemas.microsoft.com/office/drawing/2014/main" id="{D1F75B9D-D0FC-7691-F4C5-094D3D34BC02}"/>
              </a:ext>
            </a:extLst>
          </p:cNvPr>
          <p:cNvSpPr txBox="1"/>
          <p:nvPr/>
        </p:nvSpPr>
        <p:spPr>
          <a:xfrm>
            <a:off x="10886440" y="509206"/>
            <a:ext cx="924560" cy="1853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100" spc="-50" dirty="0">
                <a:solidFill>
                  <a:srgbClr val="FFFFFF"/>
                </a:solidFill>
                <a:latin typeface="Trebuchet MS"/>
                <a:cs typeface="Trebuchet MS"/>
              </a:rPr>
              <a:t> 5 Nov </a:t>
            </a:r>
            <a:r>
              <a:rPr sz="1100" spc="-20" dirty="0">
                <a:solidFill>
                  <a:srgbClr val="FFFFFF"/>
                </a:solidFill>
                <a:latin typeface="Trebuchet MS"/>
                <a:cs typeface="Trebuchet MS"/>
              </a:rPr>
              <a:t>2025</a:t>
            </a:r>
            <a:endParaRPr sz="11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E5B60FB2-A803-AB58-C6F3-DFDF9014DFA1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386B3B0-8577-1EDD-B966-7F9B32403E70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DE2244AC-D025-ACC6-1BF3-EBF0AF1C984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4081909A-0522-2FD2-C6F7-79492AB23779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416C7B6B-50B0-50AF-FF4B-503F903A97C5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EEE1B15C-21E3-7992-FFAE-B0C92A99FB67}"/>
              </a:ext>
            </a:extLst>
          </p:cNvPr>
          <p:cNvSpPr txBox="1"/>
          <p:nvPr/>
        </p:nvSpPr>
        <p:spPr>
          <a:xfrm>
            <a:off x="771715" y="714446"/>
            <a:ext cx="12306300" cy="3860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2400" dirty="0"/>
              <a:t>What is a GAN?</a:t>
            </a:r>
            <a:endParaRPr lang="en-IN" sz="2400" b="1" dirty="0">
              <a:latin typeface="Trebuchet MS"/>
              <a:cs typeface="Trebuchet MS"/>
            </a:endParaRPr>
          </a:p>
        </p:txBody>
      </p:sp>
      <p:grpSp>
        <p:nvGrpSpPr>
          <p:cNvPr id="12" name="object 9">
            <a:extLst>
              <a:ext uri="{FF2B5EF4-FFF2-40B4-BE49-F238E27FC236}">
                <a16:creationId xmlns:a16="http://schemas.microsoft.com/office/drawing/2014/main" id="{76A9C592-722E-0ED6-727D-0ADDB35F1145}"/>
              </a:ext>
            </a:extLst>
          </p:cNvPr>
          <p:cNvGrpSpPr/>
          <p:nvPr/>
        </p:nvGrpSpPr>
        <p:grpSpPr>
          <a:xfrm>
            <a:off x="6799806" y="4505325"/>
            <a:ext cx="5298440" cy="2362200"/>
            <a:chOff x="6799806" y="4505325"/>
            <a:chExt cx="5298440" cy="2362200"/>
          </a:xfrm>
        </p:grpSpPr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F6548E6A-8BB2-506A-3236-16DEF4214469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2639468" y="0"/>
                  </a:moveTo>
                  <a:lnTo>
                    <a:pt x="2591183" y="429"/>
                  </a:lnTo>
                  <a:lnTo>
                    <a:pt x="2543106" y="1711"/>
                  </a:lnTo>
                  <a:lnTo>
                    <a:pt x="2495246" y="3839"/>
                  </a:lnTo>
                  <a:lnTo>
                    <a:pt x="2447608" y="6806"/>
                  </a:lnTo>
                  <a:lnTo>
                    <a:pt x="2400202" y="10605"/>
                  </a:lnTo>
                  <a:lnTo>
                    <a:pt x="2353033" y="15228"/>
                  </a:lnTo>
                  <a:lnTo>
                    <a:pt x="2306109" y="20668"/>
                  </a:lnTo>
                  <a:lnTo>
                    <a:pt x="2259437" y="26918"/>
                  </a:lnTo>
                  <a:lnTo>
                    <a:pt x="2213024" y="33970"/>
                  </a:lnTo>
                  <a:lnTo>
                    <a:pt x="2166879" y="41818"/>
                  </a:lnTo>
                  <a:lnTo>
                    <a:pt x="2121007" y="50453"/>
                  </a:lnTo>
                  <a:lnTo>
                    <a:pt x="2075417" y="59870"/>
                  </a:lnTo>
                  <a:lnTo>
                    <a:pt x="2030115" y="70060"/>
                  </a:lnTo>
                  <a:lnTo>
                    <a:pt x="1985109" y="81016"/>
                  </a:lnTo>
                  <a:lnTo>
                    <a:pt x="1940407" y="92732"/>
                  </a:lnTo>
                  <a:lnTo>
                    <a:pt x="1896014" y="105199"/>
                  </a:lnTo>
                  <a:lnTo>
                    <a:pt x="1851939" y="118410"/>
                  </a:lnTo>
                  <a:lnTo>
                    <a:pt x="1808189" y="132359"/>
                  </a:lnTo>
                  <a:lnTo>
                    <a:pt x="1764771" y="147039"/>
                  </a:lnTo>
                  <a:lnTo>
                    <a:pt x="1721692" y="162441"/>
                  </a:lnTo>
                  <a:lnTo>
                    <a:pt x="1678960" y="178558"/>
                  </a:lnTo>
                  <a:lnTo>
                    <a:pt x="1636582" y="195384"/>
                  </a:lnTo>
                  <a:lnTo>
                    <a:pt x="1594565" y="212911"/>
                  </a:lnTo>
                  <a:lnTo>
                    <a:pt x="1552916" y="231131"/>
                  </a:lnTo>
                  <a:lnTo>
                    <a:pt x="1511643" y="250039"/>
                  </a:lnTo>
                  <a:lnTo>
                    <a:pt x="1470753" y="269625"/>
                  </a:lnTo>
                  <a:lnTo>
                    <a:pt x="1430253" y="289884"/>
                  </a:lnTo>
                  <a:lnTo>
                    <a:pt x="1390150" y="310808"/>
                  </a:lnTo>
                  <a:lnTo>
                    <a:pt x="1350453" y="332389"/>
                  </a:lnTo>
                  <a:lnTo>
                    <a:pt x="1311167" y="354620"/>
                  </a:lnTo>
                  <a:lnTo>
                    <a:pt x="1272300" y="377495"/>
                  </a:lnTo>
                  <a:lnTo>
                    <a:pt x="1233860" y="401005"/>
                  </a:lnTo>
                  <a:lnTo>
                    <a:pt x="1195853" y="425144"/>
                  </a:lnTo>
                  <a:lnTo>
                    <a:pt x="1158288" y="449904"/>
                  </a:lnTo>
                  <a:lnTo>
                    <a:pt x="1121170" y="475279"/>
                  </a:lnTo>
                  <a:lnTo>
                    <a:pt x="1084509" y="501260"/>
                  </a:lnTo>
                  <a:lnTo>
                    <a:pt x="1048310" y="527841"/>
                  </a:lnTo>
                  <a:lnTo>
                    <a:pt x="1012581" y="555014"/>
                  </a:lnTo>
                  <a:lnTo>
                    <a:pt x="977329" y="582773"/>
                  </a:lnTo>
                  <a:lnTo>
                    <a:pt x="942562" y="611109"/>
                  </a:lnTo>
                  <a:lnTo>
                    <a:pt x="908287" y="640016"/>
                  </a:lnTo>
                  <a:lnTo>
                    <a:pt x="874510" y="669486"/>
                  </a:lnTo>
                  <a:lnTo>
                    <a:pt x="841240" y="699512"/>
                  </a:lnTo>
                  <a:lnTo>
                    <a:pt x="808484" y="730087"/>
                  </a:lnTo>
                  <a:lnTo>
                    <a:pt x="776248" y="761204"/>
                  </a:lnTo>
                  <a:lnTo>
                    <a:pt x="744541" y="792855"/>
                  </a:lnTo>
                  <a:lnTo>
                    <a:pt x="713369" y="825033"/>
                  </a:lnTo>
                  <a:lnTo>
                    <a:pt x="682739" y="857732"/>
                  </a:lnTo>
                  <a:lnTo>
                    <a:pt x="652659" y="890942"/>
                  </a:lnTo>
                  <a:lnTo>
                    <a:pt x="623137" y="924659"/>
                  </a:lnTo>
                  <a:lnTo>
                    <a:pt x="594179" y="958873"/>
                  </a:lnTo>
                  <a:lnTo>
                    <a:pt x="565792" y="993578"/>
                  </a:lnTo>
                  <a:lnTo>
                    <a:pt x="537985" y="1028767"/>
                  </a:lnTo>
                  <a:lnTo>
                    <a:pt x="510763" y="1064432"/>
                  </a:lnTo>
                  <a:lnTo>
                    <a:pt x="484135" y="1100567"/>
                  </a:lnTo>
                  <a:lnTo>
                    <a:pt x="458108" y="1137163"/>
                  </a:lnTo>
                  <a:lnTo>
                    <a:pt x="432689" y="1174214"/>
                  </a:lnTo>
                  <a:lnTo>
                    <a:pt x="407885" y="1211712"/>
                  </a:lnTo>
                  <a:lnTo>
                    <a:pt x="383703" y="1249651"/>
                  </a:lnTo>
                  <a:lnTo>
                    <a:pt x="360151" y="1288022"/>
                  </a:lnTo>
                  <a:lnTo>
                    <a:pt x="337236" y="1326819"/>
                  </a:lnTo>
                  <a:lnTo>
                    <a:pt x="314966" y="1366035"/>
                  </a:lnTo>
                  <a:lnTo>
                    <a:pt x="293346" y="1405661"/>
                  </a:lnTo>
                  <a:lnTo>
                    <a:pt x="272386" y="1445692"/>
                  </a:lnTo>
                  <a:lnTo>
                    <a:pt x="252092" y="1486119"/>
                  </a:lnTo>
                  <a:lnTo>
                    <a:pt x="232471" y="1526935"/>
                  </a:lnTo>
                  <a:lnTo>
                    <a:pt x="213530" y="1568134"/>
                  </a:lnTo>
                  <a:lnTo>
                    <a:pt x="195277" y="1609708"/>
                  </a:lnTo>
                  <a:lnTo>
                    <a:pt x="177719" y="1651649"/>
                  </a:lnTo>
                  <a:lnTo>
                    <a:pt x="160864" y="1693951"/>
                  </a:lnTo>
                  <a:lnTo>
                    <a:pt x="144718" y="1736606"/>
                  </a:lnTo>
                  <a:lnTo>
                    <a:pt x="129289" y="1779607"/>
                  </a:lnTo>
                  <a:lnTo>
                    <a:pt x="114584" y="1822947"/>
                  </a:lnTo>
                  <a:lnTo>
                    <a:pt x="100611" y="1866618"/>
                  </a:lnTo>
                  <a:lnTo>
                    <a:pt x="87376" y="1910613"/>
                  </a:lnTo>
                  <a:lnTo>
                    <a:pt x="74887" y="1954925"/>
                  </a:lnTo>
                  <a:lnTo>
                    <a:pt x="63151" y="1999547"/>
                  </a:lnTo>
                  <a:lnTo>
                    <a:pt x="52176" y="2044471"/>
                  </a:lnTo>
                  <a:lnTo>
                    <a:pt x="41968" y="2089691"/>
                  </a:lnTo>
                  <a:lnTo>
                    <a:pt x="32535" y="2135198"/>
                  </a:lnTo>
                  <a:lnTo>
                    <a:pt x="23884" y="2180986"/>
                  </a:lnTo>
                  <a:lnTo>
                    <a:pt x="16023" y="2227048"/>
                  </a:lnTo>
                  <a:lnTo>
                    <a:pt x="8958" y="2273376"/>
                  </a:lnTo>
                  <a:lnTo>
                    <a:pt x="2697" y="2319963"/>
                  </a:lnTo>
                  <a:lnTo>
                    <a:pt x="0" y="2343150"/>
                  </a:lnTo>
                  <a:lnTo>
                    <a:pt x="5278936" y="2343150"/>
                  </a:lnTo>
                  <a:lnTo>
                    <a:pt x="5269977" y="2273376"/>
                  </a:lnTo>
                  <a:lnTo>
                    <a:pt x="5262913" y="2227048"/>
                  </a:lnTo>
                  <a:lnTo>
                    <a:pt x="5255051" y="2180986"/>
                  </a:lnTo>
                  <a:lnTo>
                    <a:pt x="5246401" y="2135198"/>
                  </a:lnTo>
                  <a:lnTo>
                    <a:pt x="5236968" y="2089691"/>
                  </a:lnTo>
                  <a:lnTo>
                    <a:pt x="5226760" y="2044471"/>
                  </a:lnTo>
                  <a:lnTo>
                    <a:pt x="5215784" y="1999547"/>
                  </a:lnTo>
                  <a:lnTo>
                    <a:pt x="5204048" y="1954925"/>
                  </a:lnTo>
                  <a:lnTo>
                    <a:pt x="5191559" y="1910613"/>
                  </a:lnTo>
                  <a:lnTo>
                    <a:pt x="5178324" y="1866618"/>
                  </a:lnTo>
                  <a:lnTo>
                    <a:pt x="5164351" y="1822947"/>
                  </a:lnTo>
                  <a:lnTo>
                    <a:pt x="5149646" y="1779607"/>
                  </a:lnTo>
                  <a:lnTo>
                    <a:pt x="5134217" y="1736606"/>
                  </a:lnTo>
                  <a:lnTo>
                    <a:pt x="5118071" y="1693951"/>
                  </a:lnTo>
                  <a:lnTo>
                    <a:pt x="5101216" y="1651649"/>
                  </a:lnTo>
                  <a:lnTo>
                    <a:pt x="5083658" y="1609708"/>
                  </a:lnTo>
                  <a:lnTo>
                    <a:pt x="5065405" y="1568134"/>
                  </a:lnTo>
                  <a:lnTo>
                    <a:pt x="5046465" y="1526935"/>
                  </a:lnTo>
                  <a:lnTo>
                    <a:pt x="5026844" y="1486119"/>
                  </a:lnTo>
                  <a:lnTo>
                    <a:pt x="5006549" y="1445692"/>
                  </a:lnTo>
                  <a:lnTo>
                    <a:pt x="4985589" y="1405661"/>
                  </a:lnTo>
                  <a:lnTo>
                    <a:pt x="4963970" y="1366035"/>
                  </a:lnTo>
                  <a:lnTo>
                    <a:pt x="4941699" y="1326819"/>
                  </a:lnTo>
                  <a:lnTo>
                    <a:pt x="4918784" y="1288022"/>
                  </a:lnTo>
                  <a:lnTo>
                    <a:pt x="4895232" y="1249651"/>
                  </a:lnTo>
                  <a:lnTo>
                    <a:pt x="4871050" y="1211712"/>
                  </a:lnTo>
                  <a:lnTo>
                    <a:pt x="4846246" y="1174214"/>
                  </a:lnTo>
                  <a:lnTo>
                    <a:pt x="4820827" y="1137163"/>
                  </a:lnTo>
                  <a:lnTo>
                    <a:pt x="4794800" y="1100567"/>
                  </a:lnTo>
                  <a:lnTo>
                    <a:pt x="4768172" y="1064432"/>
                  </a:lnTo>
                  <a:lnTo>
                    <a:pt x="4740950" y="1028767"/>
                  </a:lnTo>
                  <a:lnTo>
                    <a:pt x="4713143" y="993578"/>
                  </a:lnTo>
                  <a:lnTo>
                    <a:pt x="4684756" y="958873"/>
                  </a:lnTo>
                  <a:lnTo>
                    <a:pt x="4655798" y="924659"/>
                  </a:lnTo>
                  <a:lnTo>
                    <a:pt x="4626276" y="890942"/>
                  </a:lnTo>
                  <a:lnTo>
                    <a:pt x="4596196" y="857732"/>
                  </a:lnTo>
                  <a:lnTo>
                    <a:pt x="4565567" y="825033"/>
                  </a:lnTo>
                  <a:lnTo>
                    <a:pt x="4534395" y="792855"/>
                  </a:lnTo>
                  <a:lnTo>
                    <a:pt x="4502687" y="761204"/>
                  </a:lnTo>
                  <a:lnTo>
                    <a:pt x="4470451" y="730087"/>
                  </a:lnTo>
                  <a:lnTo>
                    <a:pt x="4437695" y="699512"/>
                  </a:lnTo>
                  <a:lnTo>
                    <a:pt x="4404425" y="669486"/>
                  </a:lnTo>
                  <a:lnTo>
                    <a:pt x="4370649" y="640016"/>
                  </a:lnTo>
                  <a:lnTo>
                    <a:pt x="4336373" y="611109"/>
                  </a:lnTo>
                  <a:lnTo>
                    <a:pt x="4301606" y="582773"/>
                  </a:lnTo>
                  <a:lnTo>
                    <a:pt x="4266355" y="555014"/>
                  </a:lnTo>
                  <a:lnTo>
                    <a:pt x="4230626" y="527841"/>
                  </a:lnTo>
                  <a:lnTo>
                    <a:pt x="4194427" y="501260"/>
                  </a:lnTo>
                  <a:lnTo>
                    <a:pt x="4157765" y="475279"/>
                  </a:lnTo>
                  <a:lnTo>
                    <a:pt x="4120648" y="449904"/>
                  </a:lnTo>
                  <a:lnTo>
                    <a:pt x="4083082" y="425144"/>
                  </a:lnTo>
                  <a:lnTo>
                    <a:pt x="4045075" y="401005"/>
                  </a:lnTo>
                  <a:lnTo>
                    <a:pt x="4006635" y="377495"/>
                  </a:lnTo>
                  <a:lnTo>
                    <a:pt x="3967769" y="354620"/>
                  </a:lnTo>
                  <a:lnTo>
                    <a:pt x="3928483" y="332389"/>
                  </a:lnTo>
                  <a:lnTo>
                    <a:pt x="3888785" y="310808"/>
                  </a:lnTo>
                  <a:lnTo>
                    <a:pt x="3848682" y="289884"/>
                  </a:lnTo>
                  <a:lnTo>
                    <a:pt x="3808182" y="269625"/>
                  </a:lnTo>
                  <a:lnTo>
                    <a:pt x="3767292" y="250039"/>
                  </a:lnTo>
                  <a:lnTo>
                    <a:pt x="3726019" y="231131"/>
                  </a:lnTo>
                  <a:lnTo>
                    <a:pt x="3684371" y="212911"/>
                  </a:lnTo>
                  <a:lnTo>
                    <a:pt x="3642353" y="195384"/>
                  </a:lnTo>
                  <a:lnTo>
                    <a:pt x="3599975" y="178558"/>
                  </a:lnTo>
                  <a:lnTo>
                    <a:pt x="3557243" y="162441"/>
                  </a:lnTo>
                  <a:lnTo>
                    <a:pt x="3514164" y="147039"/>
                  </a:lnTo>
                  <a:lnTo>
                    <a:pt x="3470746" y="132359"/>
                  </a:lnTo>
                  <a:lnTo>
                    <a:pt x="3426996" y="118410"/>
                  </a:lnTo>
                  <a:lnTo>
                    <a:pt x="3382921" y="105199"/>
                  </a:lnTo>
                  <a:lnTo>
                    <a:pt x="3338529" y="92732"/>
                  </a:lnTo>
                  <a:lnTo>
                    <a:pt x="3293826" y="81016"/>
                  </a:lnTo>
                  <a:lnTo>
                    <a:pt x="3248820" y="70060"/>
                  </a:lnTo>
                  <a:lnTo>
                    <a:pt x="3203518" y="59870"/>
                  </a:lnTo>
                  <a:lnTo>
                    <a:pt x="3157928" y="50453"/>
                  </a:lnTo>
                  <a:lnTo>
                    <a:pt x="3112056" y="41818"/>
                  </a:lnTo>
                  <a:lnTo>
                    <a:pt x="3065911" y="33970"/>
                  </a:lnTo>
                  <a:lnTo>
                    <a:pt x="3019499" y="26918"/>
                  </a:lnTo>
                  <a:lnTo>
                    <a:pt x="2972827" y="20668"/>
                  </a:lnTo>
                  <a:lnTo>
                    <a:pt x="2925903" y="15228"/>
                  </a:lnTo>
                  <a:lnTo>
                    <a:pt x="2878734" y="10605"/>
                  </a:lnTo>
                  <a:lnTo>
                    <a:pt x="2831327" y="6806"/>
                  </a:lnTo>
                  <a:lnTo>
                    <a:pt x="2783690" y="3839"/>
                  </a:lnTo>
                  <a:lnTo>
                    <a:pt x="2735829" y="1711"/>
                  </a:lnTo>
                  <a:lnTo>
                    <a:pt x="2687753" y="429"/>
                  </a:lnTo>
                  <a:lnTo>
                    <a:pt x="26394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AABC0778-EA43-1AAD-0425-8BA082F5276E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0" y="2343150"/>
                  </a:moveTo>
                  <a:lnTo>
                    <a:pt x="8958" y="2273376"/>
                  </a:lnTo>
                  <a:lnTo>
                    <a:pt x="16023" y="2227048"/>
                  </a:lnTo>
                  <a:lnTo>
                    <a:pt x="23884" y="2180986"/>
                  </a:lnTo>
                  <a:lnTo>
                    <a:pt x="32535" y="2135198"/>
                  </a:lnTo>
                  <a:lnTo>
                    <a:pt x="41968" y="2089691"/>
                  </a:lnTo>
                  <a:lnTo>
                    <a:pt x="52176" y="2044471"/>
                  </a:lnTo>
                  <a:lnTo>
                    <a:pt x="63151" y="1999547"/>
                  </a:lnTo>
                  <a:lnTo>
                    <a:pt x="74887" y="1954925"/>
                  </a:lnTo>
                  <a:lnTo>
                    <a:pt x="87376" y="1910613"/>
                  </a:lnTo>
                  <a:lnTo>
                    <a:pt x="100611" y="1866618"/>
                  </a:lnTo>
                  <a:lnTo>
                    <a:pt x="114584" y="1822947"/>
                  </a:lnTo>
                  <a:lnTo>
                    <a:pt x="129289" y="1779607"/>
                  </a:lnTo>
                  <a:lnTo>
                    <a:pt x="144718" y="1736606"/>
                  </a:lnTo>
                  <a:lnTo>
                    <a:pt x="160864" y="1693951"/>
                  </a:lnTo>
                  <a:lnTo>
                    <a:pt x="177719" y="1651649"/>
                  </a:lnTo>
                  <a:lnTo>
                    <a:pt x="195277" y="1609708"/>
                  </a:lnTo>
                  <a:lnTo>
                    <a:pt x="213530" y="1568134"/>
                  </a:lnTo>
                  <a:lnTo>
                    <a:pt x="232471" y="1526935"/>
                  </a:lnTo>
                  <a:lnTo>
                    <a:pt x="252092" y="1486119"/>
                  </a:lnTo>
                  <a:lnTo>
                    <a:pt x="272386" y="1445692"/>
                  </a:lnTo>
                  <a:lnTo>
                    <a:pt x="293346" y="1405661"/>
                  </a:lnTo>
                  <a:lnTo>
                    <a:pt x="314966" y="1366035"/>
                  </a:lnTo>
                  <a:lnTo>
                    <a:pt x="337236" y="1326819"/>
                  </a:lnTo>
                  <a:lnTo>
                    <a:pt x="360151" y="1288022"/>
                  </a:lnTo>
                  <a:lnTo>
                    <a:pt x="383703" y="1249651"/>
                  </a:lnTo>
                  <a:lnTo>
                    <a:pt x="407885" y="1211712"/>
                  </a:lnTo>
                  <a:lnTo>
                    <a:pt x="432689" y="1174214"/>
                  </a:lnTo>
                  <a:lnTo>
                    <a:pt x="458108" y="1137163"/>
                  </a:lnTo>
                  <a:lnTo>
                    <a:pt x="484135" y="1100567"/>
                  </a:lnTo>
                  <a:lnTo>
                    <a:pt x="510763" y="1064432"/>
                  </a:lnTo>
                  <a:lnTo>
                    <a:pt x="537985" y="1028767"/>
                  </a:lnTo>
                  <a:lnTo>
                    <a:pt x="565792" y="993578"/>
                  </a:lnTo>
                  <a:lnTo>
                    <a:pt x="594179" y="958873"/>
                  </a:lnTo>
                  <a:lnTo>
                    <a:pt x="623137" y="924659"/>
                  </a:lnTo>
                  <a:lnTo>
                    <a:pt x="652659" y="890942"/>
                  </a:lnTo>
                  <a:lnTo>
                    <a:pt x="682739" y="857732"/>
                  </a:lnTo>
                  <a:lnTo>
                    <a:pt x="713369" y="825033"/>
                  </a:lnTo>
                  <a:lnTo>
                    <a:pt x="744541" y="792855"/>
                  </a:lnTo>
                  <a:lnTo>
                    <a:pt x="776248" y="761204"/>
                  </a:lnTo>
                  <a:lnTo>
                    <a:pt x="808484" y="730087"/>
                  </a:lnTo>
                  <a:lnTo>
                    <a:pt x="841240" y="699512"/>
                  </a:lnTo>
                  <a:lnTo>
                    <a:pt x="874510" y="669486"/>
                  </a:lnTo>
                  <a:lnTo>
                    <a:pt x="908287" y="640016"/>
                  </a:lnTo>
                  <a:lnTo>
                    <a:pt x="942562" y="611109"/>
                  </a:lnTo>
                  <a:lnTo>
                    <a:pt x="977329" y="582773"/>
                  </a:lnTo>
                  <a:lnTo>
                    <a:pt x="1012581" y="555014"/>
                  </a:lnTo>
                  <a:lnTo>
                    <a:pt x="1048310" y="527841"/>
                  </a:lnTo>
                  <a:lnTo>
                    <a:pt x="1084509" y="501260"/>
                  </a:lnTo>
                  <a:lnTo>
                    <a:pt x="1121170" y="475279"/>
                  </a:lnTo>
                  <a:lnTo>
                    <a:pt x="1158288" y="449904"/>
                  </a:lnTo>
                  <a:lnTo>
                    <a:pt x="1195853" y="425144"/>
                  </a:lnTo>
                  <a:lnTo>
                    <a:pt x="1233860" y="401005"/>
                  </a:lnTo>
                  <a:lnTo>
                    <a:pt x="1272300" y="377495"/>
                  </a:lnTo>
                  <a:lnTo>
                    <a:pt x="1311167" y="354620"/>
                  </a:lnTo>
                  <a:lnTo>
                    <a:pt x="1350453" y="332389"/>
                  </a:lnTo>
                  <a:lnTo>
                    <a:pt x="1390150" y="310808"/>
                  </a:lnTo>
                  <a:lnTo>
                    <a:pt x="1430253" y="289884"/>
                  </a:lnTo>
                  <a:lnTo>
                    <a:pt x="1470753" y="269625"/>
                  </a:lnTo>
                  <a:lnTo>
                    <a:pt x="1511643" y="250039"/>
                  </a:lnTo>
                  <a:lnTo>
                    <a:pt x="1552916" y="231131"/>
                  </a:lnTo>
                  <a:lnTo>
                    <a:pt x="1594565" y="212911"/>
                  </a:lnTo>
                  <a:lnTo>
                    <a:pt x="1636582" y="195384"/>
                  </a:lnTo>
                  <a:lnTo>
                    <a:pt x="1678960" y="178558"/>
                  </a:lnTo>
                  <a:lnTo>
                    <a:pt x="1721692" y="162441"/>
                  </a:lnTo>
                  <a:lnTo>
                    <a:pt x="1764771" y="147039"/>
                  </a:lnTo>
                  <a:lnTo>
                    <a:pt x="1808189" y="132359"/>
                  </a:lnTo>
                  <a:lnTo>
                    <a:pt x="1851939" y="118410"/>
                  </a:lnTo>
                  <a:lnTo>
                    <a:pt x="1896014" y="105199"/>
                  </a:lnTo>
                  <a:lnTo>
                    <a:pt x="1940407" y="92732"/>
                  </a:lnTo>
                  <a:lnTo>
                    <a:pt x="1985109" y="81016"/>
                  </a:lnTo>
                  <a:lnTo>
                    <a:pt x="2030115" y="70060"/>
                  </a:lnTo>
                  <a:lnTo>
                    <a:pt x="2075417" y="59870"/>
                  </a:lnTo>
                  <a:lnTo>
                    <a:pt x="2121007" y="50453"/>
                  </a:lnTo>
                  <a:lnTo>
                    <a:pt x="2166879" y="41818"/>
                  </a:lnTo>
                  <a:lnTo>
                    <a:pt x="2213024" y="33970"/>
                  </a:lnTo>
                  <a:lnTo>
                    <a:pt x="2259437" y="26918"/>
                  </a:lnTo>
                  <a:lnTo>
                    <a:pt x="2306109" y="20668"/>
                  </a:lnTo>
                  <a:lnTo>
                    <a:pt x="2353033" y="15228"/>
                  </a:lnTo>
                  <a:lnTo>
                    <a:pt x="2400202" y="10605"/>
                  </a:lnTo>
                  <a:lnTo>
                    <a:pt x="2447608" y="6806"/>
                  </a:lnTo>
                  <a:lnTo>
                    <a:pt x="2495246" y="3839"/>
                  </a:lnTo>
                  <a:lnTo>
                    <a:pt x="2543106" y="1711"/>
                  </a:lnTo>
                  <a:lnTo>
                    <a:pt x="2591183" y="429"/>
                  </a:lnTo>
                  <a:lnTo>
                    <a:pt x="2639468" y="0"/>
                  </a:lnTo>
                  <a:lnTo>
                    <a:pt x="2687753" y="429"/>
                  </a:lnTo>
                  <a:lnTo>
                    <a:pt x="2735829" y="1711"/>
                  </a:lnTo>
                  <a:lnTo>
                    <a:pt x="2783690" y="3839"/>
                  </a:lnTo>
                  <a:lnTo>
                    <a:pt x="2831327" y="6806"/>
                  </a:lnTo>
                  <a:lnTo>
                    <a:pt x="2878734" y="10605"/>
                  </a:lnTo>
                  <a:lnTo>
                    <a:pt x="2925903" y="15228"/>
                  </a:lnTo>
                  <a:lnTo>
                    <a:pt x="2972827" y="20668"/>
                  </a:lnTo>
                  <a:lnTo>
                    <a:pt x="3019499" y="26918"/>
                  </a:lnTo>
                  <a:lnTo>
                    <a:pt x="3065911" y="33970"/>
                  </a:lnTo>
                  <a:lnTo>
                    <a:pt x="3112056" y="41818"/>
                  </a:lnTo>
                  <a:lnTo>
                    <a:pt x="3157928" y="50453"/>
                  </a:lnTo>
                  <a:lnTo>
                    <a:pt x="3203518" y="59870"/>
                  </a:lnTo>
                  <a:lnTo>
                    <a:pt x="3248820" y="70060"/>
                  </a:lnTo>
                  <a:lnTo>
                    <a:pt x="3293826" y="81016"/>
                  </a:lnTo>
                  <a:lnTo>
                    <a:pt x="3338529" y="92732"/>
                  </a:lnTo>
                  <a:lnTo>
                    <a:pt x="3382921" y="105199"/>
                  </a:lnTo>
                  <a:lnTo>
                    <a:pt x="3426996" y="118410"/>
                  </a:lnTo>
                  <a:lnTo>
                    <a:pt x="3470746" y="132359"/>
                  </a:lnTo>
                  <a:lnTo>
                    <a:pt x="3514164" y="147039"/>
                  </a:lnTo>
                  <a:lnTo>
                    <a:pt x="3557243" y="162441"/>
                  </a:lnTo>
                  <a:lnTo>
                    <a:pt x="3599975" y="178558"/>
                  </a:lnTo>
                  <a:lnTo>
                    <a:pt x="3642353" y="195384"/>
                  </a:lnTo>
                  <a:lnTo>
                    <a:pt x="3684371" y="212911"/>
                  </a:lnTo>
                  <a:lnTo>
                    <a:pt x="3726019" y="231131"/>
                  </a:lnTo>
                  <a:lnTo>
                    <a:pt x="3767292" y="250039"/>
                  </a:lnTo>
                  <a:lnTo>
                    <a:pt x="3808182" y="269625"/>
                  </a:lnTo>
                  <a:lnTo>
                    <a:pt x="3848682" y="289884"/>
                  </a:lnTo>
                  <a:lnTo>
                    <a:pt x="3888785" y="310808"/>
                  </a:lnTo>
                  <a:lnTo>
                    <a:pt x="3928483" y="332389"/>
                  </a:lnTo>
                  <a:lnTo>
                    <a:pt x="3967769" y="354620"/>
                  </a:lnTo>
                  <a:lnTo>
                    <a:pt x="4006635" y="377495"/>
                  </a:lnTo>
                  <a:lnTo>
                    <a:pt x="4045075" y="401005"/>
                  </a:lnTo>
                  <a:lnTo>
                    <a:pt x="4083082" y="425144"/>
                  </a:lnTo>
                  <a:lnTo>
                    <a:pt x="4120648" y="449904"/>
                  </a:lnTo>
                  <a:lnTo>
                    <a:pt x="4157765" y="475279"/>
                  </a:lnTo>
                  <a:lnTo>
                    <a:pt x="4194427" y="501260"/>
                  </a:lnTo>
                  <a:lnTo>
                    <a:pt x="4230626" y="527841"/>
                  </a:lnTo>
                  <a:lnTo>
                    <a:pt x="4266355" y="555014"/>
                  </a:lnTo>
                  <a:lnTo>
                    <a:pt x="4301606" y="582773"/>
                  </a:lnTo>
                  <a:lnTo>
                    <a:pt x="4336373" y="611109"/>
                  </a:lnTo>
                  <a:lnTo>
                    <a:pt x="4370649" y="640016"/>
                  </a:lnTo>
                  <a:lnTo>
                    <a:pt x="4404425" y="669486"/>
                  </a:lnTo>
                  <a:lnTo>
                    <a:pt x="4437695" y="699512"/>
                  </a:lnTo>
                  <a:lnTo>
                    <a:pt x="4470451" y="730087"/>
                  </a:lnTo>
                  <a:lnTo>
                    <a:pt x="4502687" y="761204"/>
                  </a:lnTo>
                  <a:lnTo>
                    <a:pt x="4534395" y="792855"/>
                  </a:lnTo>
                  <a:lnTo>
                    <a:pt x="4565567" y="825033"/>
                  </a:lnTo>
                  <a:lnTo>
                    <a:pt x="4596196" y="857732"/>
                  </a:lnTo>
                  <a:lnTo>
                    <a:pt x="4626276" y="890942"/>
                  </a:lnTo>
                  <a:lnTo>
                    <a:pt x="4655798" y="924659"/>
                  </a:lnTo>
                  <a:lnTo>
                    <a:pt x="4684756" y="958873"/>
                  </a:lnTo>
                  <a:lnTo>
                    <a:pt x="4713143" y="993578"/>
                  </a:lnTo>
                  <a:lnTo>
                    <a:pt x="4740950" y="1028767"/>
                  </a:lnTo>
                  <a:lnTo>
                    <a:pt x="4768172" y="1064432"/>
                  </a:lnTo>
                  <a:lnTo>
                    <a:pt x="4794800" y="1100567"/>
                  </a:lnTo>
                  <a:lnTo>
                    <a:pt x="4820827" y="1137163"/>
                  </a:lnTo>
                  <a:lnTo>
                    <a:pt x="4846246" y="1174214"/>
                  </a:lnTo>
                  <a:lnTo>
                    <a:pt x="4871050" y="1211712"/>
                  </a:lnTo>
                  <a:lnTo>
                    <a:pt x="4895232" y="1249651"/>
                  </a:lnTo>
                  <a:lnTo>
                    <a:pt x="4918784" y="1288022"/>
                  </a:lnTo>
                  <a:lnTo>
                    <a:pt x="4941699" y="1326819"/>
                  </a:lnTo>
                  <a:lnTo>
                    <a:pt x="4963970" y="1366035"/>
                  </a:lnTo>
                  <a:lnTo>
                    <a:pt x="4985589" y="1405661"/>
                  </a:lnTo>
                  <a:lnTo>
                    <a:pt x="5006549" y="1445692"/>
                  </a:lnTo>
                  <a:lnTo>
                    <a:pt x="5026844" y="1486119"/>
                  </a:lnTo>
                  <a:lnTo>
                    <a:pt x="5046465" y="1526935"/>
                  </a:lnTo>
                  <a:lnTo>
                    <a:pt x="5065405" y="1568134"/>
                  </a:lnTo>
                  <a:lnTo>
                    <a:pt x="5083658" y="1609708"/>
                  </a:lnTo>
                  <a:lnTo>
                    <a:pt x="5101216" y="1651649"/>
                  </a:lnTo>
                  <a:lnTo>
                    <a:pt x="5118071" y="1693951"/>
                  </a:lnTo>
                  <a:lnTo>
                    <a:pt x="5134217" y="1736606"/>
                  </a:lnTo>
                  <a:lnTo>
                    <a:pt x="5149646" y="1779607"/>
                  </a:lnTo>
                  <a:lnTo>
                    <a:pt x="5164351" y="1822947"/>
                  </a:lnTo>
                  <a:lnTo>
                    <a:pt x="5178324" y="1866618"/>
                  </a:lnTo>
                  <a:lnTo>
                    <a:pt x="5191559" y="1910613"/>
                  </a:lnTo>
                  <a:lnTo>
                    <a:pt x="5204048" y="1954925"/>
                  </a:lnTo>
                  <a:lnTo>
                    <a:pt x="5215784" y="1999547"/>
                  </a:lnTo>
                  <a:lnTo>
                    <a:pt x="5226760" y="2044471"/>
                  </a:lnTo>
                  <a:lnTo>
                    <a:pt x="5236968" y="2089691"/>
                  </a:lnTo>
                  <a:lnTo>
                    <a:pt x="5246401" y="2135198"/>
                  </a:lnTo>
                  <a:lnTo>
                    <a:pt x="5255051" y="2180986"/>
                  </a:lnTo>
                  <a:lnTo>
                    <a:pt x="5262913" y="2227048"/>
                  </a:lnTo>
                  <a:lnTo>
                    <a:pt x="5269977" y="2273376"/>
                  </a:lnTo>
                  <a:lnTo>
                    <a:pt x="5276238" y="2319963"/>
                  </a:lnTo>
                  <a:lnTo>
                    <a:pt x="5278936" y="2343150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866C127-79FD-C4B4-A069-B1308E5DA337}"/>
              </a:ext>
            </a:extLst>
          </p:cNvPr>
          <p:cNvSpPr txBox="1"/>
          <p:nvPr/>
        </p:nvSpPr>
        <p:spPr>
          <a:xfrm>
            <a:off x="633768" y="1274336"/>
            <a:ext cx="8219885" cy="4869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400" dirty="0"/>
              <a:t>A </a:t>
            </a:r>
            <a:r>
              <a:rPr lang="en-IN" sz="1400" b="1" dirty="0"/>
              <a:t>Generative Adversarial Network (GAN)</a:t>
            </a:r>
            <a:r>
              <a:rPr lang="en-IN" sz="1400" dirty="0"/>
              <a:t> is a deep-learning framework comprising </a:t>
            </a:r>
            <a:r>
              <a:rPr lang="en-IN" sz="1400" b="1" dirty="0"/>
              <a:t>two neural networks</a:t>
            </a:r>
            <a:r>
              <a:rPr lang="en-IN" sz="1400" dirty="0"/>
              <a:t> that compete with each other to generate new data samples similar to the real ones.</a:t>
            </a:r>
          </a:p>
          <a:p>
            <a:pPr>
              <a:lnSpc>
                <a:spcPct val="200000"/>
              </a:lnSpc>
            </a:pPr>
            <a:r>
              <a:rPr lang="en-IN" sz="1400" b="1" dirty="0"/>
              <a:t>Components:</a:t>
            </a:r>
            <a:endParaRPr lang="en-IN" sz="1400" dirty="0"/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IN" sz="1400" b="1" dirty="0"/>
              <a:t> Generator (G)</a:t>
            </a:r>
            <a:r>
              <a:rPr lang="en-IN" sz="1400" dirty="0"/>
              <a:t> – learns to create synthetic data from random noise.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IN" sz="1400" b="1" dirty="0"/>
              <a:t> Discriminator (D)</a:t>
            </a:r>
            <a:r>
              <a:rPr lang="en-IN" sz="1400" dirty="0"/>
              <a:t> – learns to distinguish real data from fake data.</a:t>
            </a:r>
          </a:p>
          <a:p>
            <a:pPr>
              <a:lnSpc>
                <a:spcPct val="200000"/>
              </a:lnSpc>
            </a:pPr>
            <a:r>
              <a:rPr lang="en-IN" sz="1400" b="1" dirty="0"/>
              <a:t>Learning Mechanism:</a:t>
            </a:r>
            <a:endParaRPr lang="en-IN" sz="1400" dirty="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Both networks train simultaneously in an adversarial setup → each improves the other.</a:t>
            </a:r>
          </a:p>
          <a:p>
            <a:pPr>
              <a:lnSpc>
                <a:spcPct val="200000"/>
              </a:lnSpc>
            </a:pPr>
            <a:r>
              <a:rPr lang="en-IN" sz="1400" b="1" dirty="0"/>
              <a:t>Example:</a:t>
            </a:r>
            <a:br>
              <a:rPr lang="en-IN" dirty="0"/>
            </a:br>
            <a:r>
              <a:rPr lang="en-IN" sz="1400" dirty="0"/>
              <a:t>Generator tries to create a fake handwritten digit; Discriminator tries to catch it — like a forger and a detective learning together.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ACD24633-FF0E-01C2-AA29-686F220ECA37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371F059-4B75-7224-18CB-45737C49ADDA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8EDDE91F-49AD-02EC-433A-1281103EF3D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1E14FCAA-D399-C79C-838C-010645E7D1E6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274C721A-B595-A908-6AC0-7049936E3FDB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68358A9A-8DE4-7D9A-445F-390D434B9B6C}"/>
              </a:ext>
            </a:extLst>
          </p:cNvPr>
          <p:cNvSpPr txBox="1"/>
          <p:nvPr/>
        </p:nvSpPr>
        <p:spPr>
          <a:xfrm>
            <a:off x="1162878" y="1037698"/>
            <a:ext cx="8590722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000" dirty="0"/>
              <a:t>Why GANs?</a:t>
            </a:r>
            <a:endParaRPr sz="4000" dirty="0">
              <a:latin typeface="Trebuchet MS"/>
              <a:cs typeface="Trebuchet M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FC0E77-FFBE-8AF9-0551-6D3E8050B52F}"/>
              </a:ext>
            </a:extLst>
          </p:cNvPr>
          <p:cNvSpPr txBox="1"/>
          <p:nvPr/>
        </p:nvSpPr>
        <p:spPr>
          <a:xfrm>
            <a:off x="1162878" y="2057400"/>
            <a:ext cx="8590722" cy="2222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Earlier deep networks could </a:t>
            </a:r>
            <a:r>
              <a:rPr lang="en-IN" b="1" dirty="0"/>
              <a:t>recognize</a:t>
            </a:r>
            <a:r>
              <a:rPr lang="en-IN" dirty="0"/>
              <a:t> but not </a:t>
            </a:r>
            <a:r>
              <a:rPr lang="en-IN" b="1" dirty="0"/>
              <a:t>create</a:t>
            </a:r>
            <a:r>
              <a:rPr lang="en-IN" dirty="0"/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GANs enable machines to </a:t>
            </a:r>
            <a:r>
              <a:rPr lang="en-IN" b="1" dirty="0"/>
              <a:t>generate realistic data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Examples: Deepfakes | AI art | Synthetic medical data | Voice cloning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dirty="0">
              <a:latin typeface="Trebuchet MS" panose="020B070302020209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973C2-99B6-9BE3-4DD2-B81EB4513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9C72D21F-3759-FE05-716C-33ABE442F0B3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A4B176A-3B73-9020-EC0E-C69A4837860D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6E1B9433-70E8-6192-E29E-D6FD06DFF29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20F0EDA0-30A8-9C89-C600-075E34781B59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63E48640-6682-CDCC-BBB5-F07188CDB1E6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C2338105-3A1B-64C9-D98D-3FC831B7EFCC}"/>
              </a:ext>
            </a:extLst>
          </p:cNvPr>
          <p:cNvSpPr txBox="1"/>
          <p:nvPr/>
        </p:nvSpPr>
        <p:spPr>
          <a:xfrm>
            <a:off x="1066800" y="762000"/>
            <a:ext cx="9296400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IN" sz="4000" dirty="0"/>
              <a:t>Intuition</a:t>
            </a:r>
            <a:endParaRPr lang="en-IN" sz="4400" dirty="0">
              <a:latin typeface="Trebuchet MS"/>
              <a:cs typeface="Trebuchet M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F16A9-7B6A-21B7-C901-D13174A5DFFC}"/>
              </a:ext>
            </a:extLst>
          </p:cNvPr>
          <p:cNvSpPr txBox="1">
            <a:spLocks/>
          </p:cNvSpPr>
          <p:nvPr/>
        </p:nvSpPr>
        <p:spPr>
          <a:xfrm>
            <a:off x="1066800" y="1676400"/>
            <a:ext cx="8382000" cy="10225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Two players (Generator vs Discriminator) in a game of improvement.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Analogy: Forger vs Detective — each iteration makes both smarter.</a:t>
            </a:r>
          </a:p>
        </p:txBody>
      </p:sp>
    </p:spTree>
    <p:extLst>
      <p:ext uri="{BB962C8B-B14F-4D97-AF65-F5344CB8AC3E}">
        <p14:creationId xmlns:p14="http://schemas.microsoft.com/office/powerpoint/2010/main" val="2023731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35791-C55C-19AC-6E03-9E3BA8075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729F0FBA-75B4-4148-C8B5-16A032372AC4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36771B4B-A891-07BF-7A76-D2A598F22B13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98BB2E41-D1F7-3FC9-2CB4-73CF3F6F01F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6FFBD3EC-886E-4482-3A7E-DAD8E163362E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ADB07CBD-4187-DD45-9AE0-86CEE766DBA5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C14CCE-7BE7-B526-90D4-1A1971299875}"/>
              </a:ext>
            </a:extLst>
          </p:cNvPr>
          <p:cNvSpPr txBox="1"/>
          <p:nvPr/>
        </p:nvSpPr>
        <p:spPr>
          <a:xfrm>
            <a:off x="825210" y="762000"/>
            <a:ext cx="86997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The GAN Architecture</a:t>
            </a:r>
            <a:endParaRPr lang="en-US" sz="4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FB0C4B7-9A84-E9CC-52B1-DF52F81F9E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90989"/>
              </p:ext>
            </p:extLst>
          </p:nvPr>
        </p:nvGraphicFramePr>
        <p:xfrm>
          <a:off x="887684" y="2514600"/>
          <a:ext cx="6477000" cy="33528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619250">
                  <a:extLst>
                    <a:ext uri="{9D8B030D-6E8A-4147-A177-3AD203B41FA5}">
                      <a16:colId xmlns:a16="http://schemas.microsoft.com/office/drawing/2014/main" val="3826401580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208726168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1618397242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645721259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r>
                        <a:rPr lang="en-IN" sz="1400" dirty="0"/>
                        <a:t>Component</a:t>
                      </a:r>
                    </a:p>
                  </a:txBody>
                  <a:tcPr marL="47837" marR="47837" marT="23918" marB="23918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Description</a:t>
                      </a:r>
                    </a:p>
                  </a:txBody>
                  <a:tcPr marL="47837" marR="47837" marT="23918" marB="23918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Input</a:t>
                      </a:r>
                    </a:p>
                  </a:txBody>
                  <a:tcPr marL="47837" marR="47837" marT="23918" marB="23918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Output</a:t>
                      </a:r>
                    </a:p>
                  </a:txBody>
                  <a:tcPr marL="47837" marR="47837" marT="23918" marB="23918" anchor="ctr"/>
                </a:tc>
                <a:extLst>
                  <a:ext uri="{0D108BD9-81ED-4DB2-BD59-A6C34878D82A}">
                    <a16:rowId xmlns:a16="http://schemas.microsoft.com/office/drawing/2014/main" val="1534562872"/>
                  </a:ext>
                </a:extLst>
              </a:tr>
              <a:tr h="1452880">
                <a:tc>
                  <a:txBody>
                    <a:bodyPr/>
                    <a:lstStyle/>
                    <a:p>
                      <a:r>
                        <a:rPr lang="en-IN" sz="1400" b="1"/>
                        <a:t>Generator (G)</a:t>
                      </a:r>
                      <a:endParaRPr lang="en-IN" sz="1400"/>
                    </a:p>
                  </a:txBody>
                  <a:tcPr marL="47837" marR="47837" marT="23918" marB="23918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Takes random noise as input and tries to produce fake data that looks real.</a:t>
                      </a:r>
                    </a:p>
                  </a:txBody>
                  <a:tcPr marL="47837" marR="47837" marT="23918" marB="23918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Random vector z (usually 100–128 dims)</a:t>
                      </a:r>
                    </a:p>
                  </a:txBody>
                  <a:tcPr marL="47837" marR="47837" marT="23918" marB="23918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Synthetic sample (image, text, etc.)</a:t>
                      </a:r>
                    </a:p>
                  </a:txBody>
                  <a:tcPr marL="47837" marR="47837" marT="23918" marB="23918" anchor="ctr"/>
                </a:tc>
                <a:extLst>
                  <a:ext uri="{0D108BD9-81ED-4DB2-BD59-A6C34878D82A}">
                    <a16:rowId xmlns:a16="http://schemas.microsoft.com/office/drawing/2014/main" val="3360931532"/>
                  </a:ext>
                </a:extLst>
              </a:tr>
              <a:tr h="1452880">
                <a:tc>
                  <a:txBody>
                    <a:bodyPr/>
                    <a:lstStyle/>
                    <a:p>
                      <a:r>
                        <a:rPr lang="en-IN" sz="1400" b="1"/>
                        <a:t>Discriminator (D)</a:t>
                      </a:r>
                      <a:endParaRPr lang="en-IN" sz="1400"/>
                    </a:p>
                  </a:txBody>
                  <a:tcPr marL="47837" marR="47837" marT="23918" marB="23918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A binary classifier that learns to tell real data from fake data.</a:t>
                      </a:r>
                    </a:p>
                  </a:txBody>
                  <a:tcPr marL="47837" marR="47837" marT="23918" marB="23918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Real data or Generator output</a:t>
                      </a:r>
                    </a:p>
                  </a:txBody>
                  <a:tcPr marL="47837" marR="47837" marT="23918" marB="23918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Probability (0 = fake, 1 = real)</a:t>
                      </a:r>
                    </a:p>
                  </a:txBody>
                  <a:tcPr marL="47837" marR="47837" marT="23918" marB="23918" anchor="ctr"/>
                </a:tc>
                <a:extLst>
                  <a:ext uri="{0D108BD9-81ED-4DB2-BD59-A6C34878D82A}">
                    <a16:rowId xmlns:a16="http://schemas.microsoft.com/office/drawing/2014/main" val="5225456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C8ACB5B-8478-DAB2-2CBC-95046CFC6974}"/>
              </a:ext>
            </a:extLst>
          </p:cNvPr>
          <p:cNvSpPr txBox="1"/>
          <p:nvPr/>
        </p:nvSpPr>
        <p:spPr>
          <a:xfrm>
            <a:off x="844141" y="1684465"/>
            <a:ext cx="85611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A </a:t>
            </a:r>
            <a:r>
              <a:rPr lang="en-IN" sz="1400" b="1" dirty="0"/>
              <a:t>GAN</a:t>
            </a:r>
            <a:r>
              <a:rPr lang="en-IN" sz="1400" dirty="0"/>
              <a:t> is made up of two competing neural networks trained together in a loop</a:t>
            </a:r>
            <a:endParaRPr lang="en-US" sz="1400" dirty="0"/>
          </a:p>
        </p:txBody>
      </p:sp>
      <p:sp>
        <p:nvSpPr>
          <p:cNvPr id="12" name="AutoShape 2" descr="Generated image">
            <a:extLst>
              <a:ext uri="{FF2B5EF4-FFF2-40B4-BE49-F238E27FC236}">
                <a16:creationId xmlns:a16="http://schemas.microsoft.com/office/drawing/2014/main" id="{A05BF1D7-24F9-2596-9BA9-16E69003DB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D1549FF-9AFF-46E2-A9CE-405865D190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1859" y="1948699"/>
            <a:ext cx="3556000" cy="35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901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14B9E-4D5B-D6EB-1EB7-082384050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F24865CF-1C2D-17BC-5C52-FF1E319B56E4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C0D58C1B-86AF-A14C-F1A9-46D84AA0EFBC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E7B4A303-0EFF-BFA4-145F-118A9E1CE38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D7A0CCB2-0B2C-880B-859A-952B9A896D6D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5FDD6DE5-9B4E-C843-33BA-E7D23230C5B9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91F7F903-3FB8-CE79-F1C3-EC5BD405EBA5}"/>
              </a:ext>
            </a:extLst>
          </p:cNvPr>
          <p:cNvSpPr txBox="1"/>
          <p:nvPr/>
        </p:nvSpPr>
        <p:spPr>
          <a:xfrm>
            <a:off x="749944" y="685800"/>
            <a:ext cx="10646220" cy="132215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4400" dirty="0">
                <a:latin typeface="Trebuchet MS" panose="020B0703020202090204" pitchFamily="34" charset="0"/>
                <a:cs typeface="Trebuchet MS"/>
              </a:rPr>
              <a:t> </a:t>
            </a:r>
            <a:r>
              <a:rPr lang="en-IN" sz="4000" dirty="0"/>
              <a:t>How GANs Train</a:t>
            </a: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endParaRPr sz="4000" dirty="0">
              <a:latin typeface="Trebuchet MS" panose="020B0703020202090204" pitchFamily="34" charset="0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8D366F-D719-5C2A-DB31-DB3E4D0EECAA}"/>
              </a:ext>
            </a:extLst>
          </p:cNvPr>
          <p:cNvSpPr txBox="1"/>
          <p:nvPr/>
        </p:nvSpPr>
        <p:spPr>
          <a:xfrm>
            <a:off x="865913" y="1604623"/>
            <a:ext cx="7930893" cy="4992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b="1" dirty="0"/>
              <a:t>Step 1:</a:t>
            </a:r>
            <a:r>
              <a:rPr lang="en-IN" dirty="0"/>
              <a:t> Train Discriminator (D)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Feed it </a:t>
            </a:r>
            <a:r>
              <a:rPr lang="en-IN" i="1" dirty="0"/>
              <a:t>real data</a:t>
            </a:r>
            <a:r>
              <a:rPr lang="en-IN" dirty="0"/>
              <a:t> (label = 1) and </a:t>
            </a:r>
            <a:r>
              <a:rPr lang="en-IN" i="1" dirty="0"/>
              <a:t>fake data G(z)</a:t>
            </a:r>
            <a:r>
              <a:rPr lang="en-IN" dirty="0"/>
              <a:t> (label = 0).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Update D to classify correctly.</a:t>
            </a:r>
          </a:p>
          <a:p>
            <a:pPr>
              <a:lnSpc>
                <a:spcPct val="200000"/>
              </a:lnSpc>
            </a:pPr>
            <a:r>
              <a:rPr lang="en-IN" b="1" dirty="0"/>
              <a:t>Step 2:</a:t>
            </a:r>
            <a:r>
              <a:rPr lang="en-IN" dirty="0"/>
              <a:t> Train Generator (G)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Freeze D’s weights.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Feed random noise z; compute D(G(z)).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Update G to maximize D(G(z)) → fool D.</a:t>
            </a:r>
          </a:p>
          <a:p>
            <a:pPr>
              <a:lnSpc>
                <a:spcPct val="200000"/>
              </a:lnSpc>
            </a:pPr>
            <a:r>
              <a:rPr lang="en-IN" b="1" dirty="0"/>
              <a:t>Repeat</a:t>
            </a:r>
            <a:r>
              <a:rPr lang="en-IN" dirty="0"/>
              <a:t> until D cannot tell the difference (accuracy ≈ 50%).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4E8843-10D0-C28B-8529-0B7D7EE201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6287" y="822654"/>
            <a:ext cx="3479800" cy="347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872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43C27-E0BD-9B6D-3696-0C20C863B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DC55C0BC-7157-C394-7A88-AC7BE35F44AB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CB3BD1EF-2E81-2A12-1ADF-A13E4B28EBD0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E36879B5-2E77-17BF-41FA-F3D67A98480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7FF16B5D-E2F2-15DE-9D19-7DF5872711B3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1B271025-20A3-A79E-6692-07506A0E16A9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C78BAA03-D87A-953D-8C14-C050ABC1B1B9}"/>
              </a:ext>
            </a:extLst>
          </p:cNvPr>
          <p:cNvSpPr txBox="1"/>
          <p:nvPr/>
        </p:nvSpPr>
        <p:spPr>
          <a:xfrm>
            <a:off x="772890" y="651605"/>
            <a:ext cx="1064622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IN" sz="4400" dirty="0"/>
              <a:t>Training Challenges</a:t>
            </a:r>
            <a:endParaRPr sz="4400" dirty="0">
              <a:latin typeface="Trebuchet MS" panose="020B0703020202090204" pitchFamily="34" charset="0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50F6FE-7B48-1B40-DE5D-4BC6F0E3EFBA}"/>
              </a:ext>
            </a:extLst>
          </p:cNvPr>
          <p:cNvSpPr txBox="1"/>
          <p:nvPr/>
        </p:nvSpPr>
        <p:spPr>
          <a:xfrm>
            <a:off x="887684" y="1541991"/>
            <a:ext cx="6096000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400" b="1" dirty="0"/>
              <a:t>Common Problems:</a:t>
            </a:r>
            <a:endParaRPr lang="en-IN" sz="1400" dirty="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b="1" dirty="0"/>
              <a:t> Mode Collapse:</a:t>
            </a:r>
            <a:r>
              <a:rPr lang="en-IN" sz="1400" dirty="0"/>
              <a:t> Generator produces limited variety (same output for different noise).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b="1" dirty="0"/>
              <a:t> Non-Convergence:</a:t>
            </a:r>
            <a:r>
              <a:rPr lang="en-IN" sz="1400" dirty="0"/>
              <a:t> Loss oscillates because G and D learn at uneven speeds.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b="1" dirty="0"/>
              <a:t> Vanishing Gradients:</a:t>
            </a:r>
            <a:r>
              <a:rPr lang="en-IN" sz="1400" dirty="0"/>
              <a:t> D becomes too confident → G stops learning.</a:t>
            </a:r>
          </a:p>
          <a:p>
            <a:pPr>
              <a:lnSpc>
                <a:spcPct val="200000"/>
              </a:lnSpc>
            </a:pPr>
            <a:r>
              <a:rPr lang="en-IN" sz="1400" b="1" dirty="0"/>
              <a:t>Stabilization Tricks:</a:t>
            </a:r>
            <a:endParaRPr lang="en-IN" sz="1400" dirty="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 Batch Normalization and Label Smoothing.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 Use </a:t>
            </a:r>
            <a:r>
              <a:rPr lang="en-IN" sz="1400" dirty="0" err="1"/>
              <a:t>LeakyReLU</a:t>
            </a:r>
            <a:r>
              <a:rPr lang="en-IN" sz="1400" dirty="0"/>
              <a:t> in D for gradient flow.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b="1" dirty="0"/>
              <a:t> Wasserstein GAN (WGAN):</a:t>
            </a:r>
            <a:r>
              <a:rPr lang="en-IN" sz="1400" dirty="0"/>
              <a:t> Replaces cross-entropy loss with      Wasserstein distance for smooth gradients.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8519B2-B84D-1203-BA05-23D806259F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9110" y="1676400"/>
            <a:ext cx="381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002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0AC08-C208-188F-3306-C7A15711D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85B0EB7A-21C4-8DB2-9E7F-FA4E208BF112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1BC4D63D-4277-4C5C-91AF-0DAC8ECF3E56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7579730B-2F26-6A34-41DD-5C8D8073B4E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2A137D88-FD53-C948-B524-5F5086B61994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852E1A4F-FF90-5BA7-BAEF-17749EBBB9E3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649C725A-C076-C817-F500-3DC8D7C197F5}"/>
              </a:ext>
            </a:extLst>
          </p:cNvPr>
          <p:cNvSpPr txBox="1"/>
          <p:nvPr/>
        </p:nvSpPr>
        <p:spPr>
          <a:xfrm>
            <a:off x="607264" y="838200"/>
            <a:ext cx="10647395" cy="138371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4400" dirty="0">
                <a:latin typeface="Trebuchet MS" panose="020B0703020202090204" pitchFamily="34" charset="0"/>
                <a:cs typeface="Trebuchet MS"/>
              </a:rPr>
              <a:t> </a:t>
            </a:r>
            <a:r>
              <a:rPr lang="en-IN" sz="4400" b="1" dirty="0"/>
              <a:t>Popular GAN Variants</a:t>
            </a:r>
          </a:p>
          <a:p>
            <a:pPr marL="12700">
              <a:spcBef>
                <a:spcPts val="130"/>
              </a:spcBef>
            </a:pPr>
            <a:endParaRPr sz="4400" dirty="0">
              <a:latin typeface="Trebuchet MS" panose="020B0703020202090204" pitchFamily="34" charset="0"/>
              <a:cs typeface="Trebuchet M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E6A1948-2974-341A-59E9-68D9328884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792468"/>
              </p:ext>
            </p:extLst>
          </p:nvPr>
        </p:nvGraphicFramePr>
        <p:xfrm>
          <a:off x="855026" y="1983014"/>
          <a:ext cx="6307773" cy="35795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2591">
                  <a:extLst>
                    <a:ext uri="{9D8B030D-6E8A-4147-A177-3AD203B41FA5}">
                      <a16:colId xmlns:a16="http://schemas.microsoft.com/office/drawing/2014/main" val="3569730877"/>
                    </a:ext>
                  </a:extLst>
                </a:gridCol>
                <a:gridCol w="2102591">
                  <a:extLst>
                    <a:ext uri="{9D8B030D-6E8A-4147-A177-3AD203B41FA5}">
                      <a16:colId xmlns:a16="http://schemas.microsoft.com/office/drawing/2014/main" val="1594278345"/>
                    </a:ext>
                  </a:extLst>
                </a:gridCol>
                <a:gridCol w="2102591">
                  <a:extLst>
                    <a:ext uri="{9D8B030D-6E8A-4147-A177-3AD203B41FA5}">
                      <a16:colId xmlns:a16="http://schemas.microsoft.com/office/drawing/2014/main" val="2006273614"/>
                    </a:ext>
                  </a:extLst>
                </a:gridCol>
              </a:tblGrid>
              <a:tr h="367137">
                <a:tc>
                  <a:txBody>
                    <a:bodyPr/>
                    <a:lstStyle/>
                    <a:p>
                      <a:r>
                        <a:rPr lang="en-IN" sz="1400" dirty="0"/>
                        <a:t>Variant</a:t>
                      </a:r>
                    </a:p>
                  </a:txBody>
                  <a:tcPr marL="36797" marR="36797" marT="18399" marB="18399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Core Idea</a:t>
                      </a:r>
                    </a:p>
                  </a:txBody>
                  <a:tcPr marL="36797" marR="36797" marT="18399" marB="18399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Typical Use Case</a:t>
                      </a:r>
                    </a:p>
                  </a:txBody>
                  <a:tcPr marL="36797" marR="36797" marT="18399" marB="18399" anchor="ctr"/>
                </a:tc>
                <a:extLst>
                  <a:ext uri="{0D108BD9-81ED-4DB2-BD59-A6C34878D82A}">
                    <a16:rowId xmlns:a16="http://schemas.microsoft.com/office/drawing/2014/main" val="1554766351"/>
                  </a:ext>
                </a:extLst>
              </a:tr>
              <a:tr h="642490">
                <a:tc>
                  <a:txBody>
                    <a:bodyPr/>
                    <a:lstStyle/>
                    <a:p>
                      <a:r>
                        <a:rPr lang="en-IN" sz="1400" b="1" dirty="0"/>
                        <a:t>DCGAN</a:t>
                      </a:r>
                      <a:endParaRPr lang="en-IN" sz="1400" dirty="0"/>
                    </a:p>
                  </a:txBody>
                  <a:tcPr marL="36797" marR="36797" marT="18399" marB="18399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CNN-based G &amp; D for images</a:t>
                      </a:r>
                    </a:p>
                  </a:txBody>
                  <a:tcPr marL="36797" marR="36797" marT="18399" marB="18399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Image generation (MNIST, faces)</a:t>
                      </a:r>
                    </a:p>
                  </a:txBody>
                  <a:tcPr marL="36797" marR="36797" marT="18399" marB="18399" anchor="ctr"/>
                </a:tc>
                <a:extLst>
                  <a:ext uri="{0D108BD9-81ED-4DB2-BD59-A6C34878D82A}">
                    <a16:rowId xmlns:a16="http://schemas.microsoft.com/office/drawing/2014/main" val="3242735033"/>
                  </a:ext>
                </a:extLst>
              </a:tr>
              <a:tr h="642490">
                <a:tc>
                  <a:txBody>
                    <a:bodyPr/>
                    <a:lstStyle/>
                    <a:p>
                      <a:r>
                        <a:rPr lang="en-IN" sz="1400" b="1"/>
                        <a:t>Conditional GAN (cGAN)</a:t>
                      </a:r>
                      <a:endParaRPr lang="en-IN" sz="1400"/>
                    </a:p>
                  </a:txBody>
                  <a:tcPr marL="36797" marR="36797" marT="18399" marB="18399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Add labels (y) to G and D</a:t>
                      </a:r>
                    </a:p>
                  </a:txBody>
                  <a:tcPr marL="36797" marR="36797" marT="18399" marB="18399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Label-controlled image synthesis</a:t>
                      </a:r>
                    </a:p>
                  </a:txBody>
                  <a:tcPr marL="36797" marR="36797" marT="18399" marB="18399" anchor="ctr"/>
                </a:tc>
                <a:extLst>
                  <a:ext uri="{0D108BD9-81ED-4DB2-BD59-A6C34878D82A}">
                    <a16:rowId xmlns:a16="http://schemas.microsoft.com/office/drawing/2014/main" val="2126340941"/>
                  </a:ext>
                </a:extLst>
              </a:tr>
              <a:tr h="642490">
                <a:tc>
                  <a:txBody>
                    <a:bodyPr/>
                    <a:lstStyle/>
                    <a:p>
                      <a:r>
                        <a:rPr lang="en-IN" sz="1400" b="1"/>
                        <a:t>CycleGAN</a:t>
                      </a:r>
                      <a:endParaRPr lang="en-IN" sz="1400"/>
                    </a:p>
                  </a:txBody>
                  <a:tcPr marL="36797" marR="36797" marT="18399" marB="18399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Learn mapping between two domains w/o pairs</a:t>
                      </a:r>
                    </a:p>
                  </a:txBody>
                  <a:tcPr marL="36797" marR="36797" marT="18399" marB="18399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Style transfer (e.g., </a:t>
                      </a:r>
                      <a:r>
                        <a:rPr lang="en-IN" sz="1400" dirty="0" err="1"/>
                        <a:t>horse↔zebra</a:t>
                      </a:r>
                      <a:r>
                        <a:rPr lang="en-IN" sz="1400" dirty="0"/>
                        <a:t>)</a:t>
                      </a:r>
                    </a:p>
                  </a:txBody>
                  <a:tcPr marL="36797" marR="36797" marT="18399" marB="18399" anchor="ctr"/>
                </a:tc>
                <a:extLst>
                  <a:ext uri="{0D108BD9-81ED-4DB2-BD59-A6C34878D82A}">
                    <a16:rowId xmlns:a16="http://schemas.microsoft.com/office/drawing/2014/main" val="1258502549"/>
                  </a:ext>
                </a:extLst>
              </a:tr>
              <a:tr h="642490">
                <a:tc>
                  <a:txBody>
                    <a:bodyPr/>
                    <a:lstStyle/>
                    <a:p>
                      <a:r>
                        <a:rPr lang="en-IN" sz="1400" b="1"/>
                        <a:t>Pix2Pix</a:t>
                      </a:r>
                      <a:endParaRPr lang="en-IN" sz="1400"/>
                    </a:p>
                  </a:txBody>
                  <a:tcPr marL="36797" marR="36797" marT="18399" marB="18399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Paired image-to-image translation</a:t>
                      </a:r>
                    </a:p>
                  </a:txBody>
                  <a:tcPr marL="36797" marR="36797" marT="18399" marB="18399" anchor="ctr"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Edges→photo</a:t>
                      </a:r>
                      <a:r>
                        <a:rPr lang="en-IN" sz="1400" dirty="0"/>
                        <a:t>, </a:t>
                      </a:r>
                      <a:r>
                        <a:rPr lang="en-IN" sz="1400" dirty="0" err="1"/>
                        <a:t>sketch→portrait</a:t>
                      </a:r>
                      <a:endParaRPr lang="en-IN" sz="1400" dirty="0"/>
                    </a:p>
                  </a:txBody>
                  <a:tcPr marL="36797" marR="36797" marT="18399" marB="18399" anchor="ctr"/>
                </a:tc>
                <a:extLst>
                  <a:ext uri="{0D108BD9-81ED-4DB2-BD59-A6C34878D82A}">
                    <a16:rowId xmlns:a16="http://schemas.microsoft.com/office/drawing/2014/main" val="2530807564"/>
                  </a:ext>
                </a:extLst>
              </a:tr>
              <a:tr h="642490">
                <a:tc>
                  <a:txBody>
                    <a:bodyPr/>
                    <a:lstStyle/>
                    <a:p>
                      <a:r>
                        <a:rPr lang="en-IN" sz="1400" b="1"/>
                        <a:t>StyleGAN</a:t>
                      </a:r>
                      <a:endParaRPr lang="en-IN" sz="1400"/>
                    </a:p>
                  </a:txBody>
                  <a:tcPr marL="36797" marR="36797" marT="18399" marB="18399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Latent style control layers</a:t>
                      </a:r>
                    </a:p>
                  </a:txBody>
                  <a:tcPr marL="36797" marR="36797" marT="18399" marB="18399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Ultra-realistic faces and avatars</a:t>
                      </a:r>
                    </a:p>
                  </a:txBody>
                  <a:tcPr marL="36797" marR="36797" marT="18399" marB="18399" anchor="ctr"/>
                </a:tc>
                <a:extLst>
                  <a:ext uri="{0D108BD9-81ED-4DB2-BD59-A6C34878D82A}">
                    <a16:rowId xmlns:a16="http://schemas.microsoft.com/office/drawing/2014/main" val="3627497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5179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30A98-E292-9CBC-A94B-4F6E5E426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7364EF79-0F46-CDFD-EF0C-3EA65E1AEC0A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B58B147E-7445-BD67-0F1B-F4ECD480D609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F5DDFF74-D9AC-7E22-DDC5-1502BC41CBA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B09FE9D1-D377-0F04-CB00-560C3E46ABB7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EACB43F3-BFFF-2E0D-6A43-2801C9B41720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C2E16A6C-6FC1-798B-E377-FF4D4CC08A19}"/>
              </a:ext>
            </a:extLst>
          </p:cNvPr>
          <p:cNvSpPr txBox="1"/>
          <p:nvPr/>
        </p:nvSpPr>
        <p:spPr>
          <a:xfrm>
            <a:off x="772890" y="848211"/>
            <a:ext cx="1064622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4400" dirty="0">
                <a:latin typeface="Trebuchet MS" panose="020B0703020202090204" pitchFamily="34" charset="0"/>
                <a:cs typeface="Trebuchet MS"/>
              </a:rPr>
              <a:t> Real-World Examples</a:t>
            </a:r>
            <a:endParaRPr sz="4000" dirty="0">
              <a:latin typeface="Trebuchet MS" panose="020B0703020202090204" pitchFamily="34" charset="0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A08585-B729-A5B5-35C9-EC7FF5C46E35}"/>
              </a:ext>
            </a:extLst>
          </p:cNvPr>
          <p:cNvSpPr txBox="1"/>
          <p:nvPr/>
        </p:nvSpPr>
        <p:spPr>
          <a:xfrm>
            <a:off x="875628" y="1817913"/>
            <a:ext cx="9912093" cy="4992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b="1" dirty="0"/>
              <a:t>Creative Domains</a:t>
            </a:r>
            <a:endParaRPr lang="en-IN" dirty="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  AI Art &amp; Design (DeepArt, DALL·E, Midjourney)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  Gaming – Texture and world generation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  Deepfakes and film VFX</a:t>
            </a:r>
          </a:p>
          <a:p>
            <a:pPr>
              <a:lnSpc>
                <a:spcPct val="200000"/>
              </a:lnSpc>
            </a:pPr>
            <a:r>
              <a:rPr lang="en-IN" b="1" dirty="0"/>
              <a:t>Scientific &amp; Business Domains</a:t>
            </a:r>
            <a:endParaRPr lang="en-IN" dirty="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  Healthcare – synthetic MRI for privacy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  Finance – synthetic transactions for fraud model training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  </a:t>
            </a:r>
            <a:r>
              <a:rPr lang="en-IN" dirty="0" err="1"/>
              <a:t>DataChains</a:t>
            </a:r>
            <a:r>
              <a:rPr lang="en-IN" dirty="0"/>
              <a:t> – creating synthetic clean datasets to augment training after anomaly flagging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2836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96586-0C3E-8D99-1EAF-C719F6E8C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44C50111-3299-7CD1-0ED6-83A5CA6EEE8F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AB79B1B2-5785-3B57-D28F-E3E039804748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26D57EDE-73D7-6BE0-D8FD-1C8F87561F3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0AAD0E7D-A74C-1559-4932-8CFB8CDF825D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4DF7A7A1-D024-6934-86A7-B1D51B507FA8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93BAF23D-78AC-9D75-F954-A03A7C23D782}"/>
              </a:ext>
            </a:extLst>
          </p:cNvPr>
          <p:cNvSpPr txBox="1"/>
          <p:nvPr/>
        </p:nvSpPr>
        <p:spPr>
          <a:xfrm>
            <a:off x="772890" y="848211"/>
            <a:ext cx="10646220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IN" sz="4000" dirty="0"/>
              <a:t>Evaluating GAN Performance</a:t>
            </a:r>
            <a:endParaRPr sz="4000" dirty="0">
              <a:latin typeface="Trebuchet MS" panose="020B0703020202090204" pitchFamily="34" charset="0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E24A68-9827-E89C-3F89-E6571D7FFF0C}"/>
              </a:ext>
            </a:extLst>
          </p:cNvPr>
          <p:cNvSpPr txBox="1"/>
          <p:nvPr/>
        </p:nvSpPr>
        <p:spPr>
          <a:xfrm>
            <a:off x="679707" y="1828800"/>
            <a:ext cx="9912093" cy="2610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400" b="1" dirty="0"/>
              <a:t>Metrics:</a:t>
            </a:r>
            <a:endParaRPr lang="en-IN" sz="1400" dirty="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b="1" dirty="0"/>
              <a:t>Inception Score (IS):</a:t>
            </a:r>
            <a:r>
              <a:rPr lang="en-IN" sz="1400" dirty="0"/>
              <a:t> Measures image quality &amp; diversity.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b="1" dirty="0"/>
              <a:t>Fréchet Inception Distance (FID):</a:t>
            </a:r>
            <a:r>
              <a:rPr lang="en-IN" sz="1400" dirty="0"/>
              <a:t> Compares real and fake feature distributions (lower = better).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400" b="1" dirty="0"/>
              <a:t>Precision &amp; Recall for Generative Models:</a:t>
            </a:r>
            <a:r>
              <a:rPr lang="en-IN" sz="1400" dirty="0"/>
              <a:t> Balance between fidelity and variety.</a:t>
            </a:r>
          </a:p>
          <a:p>
            <a:pPr>
              <a:lnSpc>
                <a:spcPct val="200000"/>
              </a:lnSpc>
            </a:pPr>
            <a:r>
              <a:rPr lang="en-IN" sz="1400" b="1" dirty="0"/>
              <a:t>Human Evaluation:</a:t>
            </a:r>
            <a:br>
              <a:rPr lang="en-IN" sz="1400" dirty="0"/>
            </a:br>
            <a:r>
              <a:rPr lang="en-IN" sz="1400" dirty="0"/>
              <a:t>Sometimes the best judge is the eye test – “Does it look real?”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F0C16B-F950-EFDD-8E31-4B525F9D1C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7424" y="1653455"/>
            <a:ext cx="25908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178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B362C-0BDF-1C8B-77D8-9258955E8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6FFD9D4C-1C88-1995-7C7B-D95C969ADA0F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F0B9FAAD-C6FF-0998-8C9A-7D5994282B8A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927B606-5F7A-9366-B93B-A2039B16639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02EADC05-8859-BAF9-4680-8A92BF225B31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67376AE4-5128-D64A-A3BD-ACB80A244B02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582EDC0B-E0DE-29EB-2429-854EAB8B144D}"/>
              </a:ext>
            </a:extLst>
          </p:cNvPr>
          <p:cNvSpPr txBox="1"/>
          <p:nvPr/>
        </p:nvSpPr>
        <p:spPr>
          <a:xfrm>
            <a:off x="772890" y="848211"/>
            <a:ext cx="10646220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IN" sz="4000" dirty="0"/>
              <a:t>Summary</a:t>
            </a:r>
            <a:endParaRPr sz="4000" dirty="0">
              <a:latin typeface="Trebuchet MS" panose="020B0703020202090204" pitchFamily="34" charset="0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EAAE34-724F-7317-D33C-F7B2EF6FFAC5}"/>
              </a:ext>
            </a:extLst>
          </p:cNvPr>
          <p:cNvSpPr txBox="1"/>
          <p:nvPr/>
        </p:nvSpPr>
        <p:spPr>
          <a:xfrm>
            <a:off x="679707" y="1828800"/>
            <a:ext cx="9912093" cy="2222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GANs = Generator + Discriminator in adversarial training.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They enable machines to </a:t>
            </a:r>
            <a:r>
              <a:rPr lang="en-IN" b="1" dirty="0"/>
              <a:t>imagine and create</a:t>
            </a:r>
            <a:r>
              <a:rPr lang="en-IN" dirty="0"/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Balance between G &amp; D is the key to success.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0001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33370</TotalTime>
  <Words>931</Words>
  <Application>Microsoft Macintosh PowerPoint</Application>
  <PresentationFormat>Widescreen</PresentationFormat>
  <Paragraphs>108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sbaskaran878@gmail.com</cp:lastModifiedBy>
  <cp:revision>45</cp:revision>
  <dcterms:created xsi:type="dcterms:W3CDTF">2025-09-17T13:52:51Z</dcterms:created>
  <dcterms:modified xsi:type="dcterms:W3CDTF">2025-11-05T16:45:26Z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2025-09-16T00:00:00Z</vt:filetime>
  </property>
  <property fmtid="{D5CDD505-2E9C-101B-9397-08002B2CF9AE}" pid="3" name="LastSaved">
    <vt:filetime>2025-09-17T00:00:00Z</vt:filetime>
  </property>
</Properties>
</file>