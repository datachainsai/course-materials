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61" r:id="rId2"/>
    <p:sldId id="262" r:id="rId3"/>
    <p:sldId id="273" r:id="rId4"/>
    <p:sldId id="274" r:id="rId5"/>
    <p:sldId id="276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5"/>
  </p:normalViewPr>
  <p:slideViewPr>
    <p:cSldViewPr>
      <p:cViewPr varScale="1">
        <p:scale>
          <a:sx n="118" d="100"/>
          <a:sy n="118" d="100"/>
        </p:scale>
        <p:origin x="600" y="3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DDC26-9744-83AD-838A-25A746E99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A4EBE-279D-1972-AB27-6C70902D1A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DC8FFF-7BEA-05CE-01B0-E17460714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D3701-22DE-6831-8549-1157A891F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72868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B3AA-EE63-2198-0B14-A93AF2F1C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1D3A73-DC7F-885D-D5E2-123169B12E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3FC3E-1C2B-9048-1541-A2D073A486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40A3C-453E-7F7E-CA02-8C4CFBEFB1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51450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B0BE0-0B38-71CE-D681-44E27C66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F2BBF-1567-B3E5-B86B-AFA5AE643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DDD907-0ACE-0A7F-B69A-F25E754CF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93EE1-1832-676F-6957-3E8325F75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5305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4509267" y="1460183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</a:t>
            </a:r>
            <a:r>
              <a:rPr lang="en-US" sz="2400" spc="-25" dirty="0">
                <a:latin typeface="Trebuchet MS"/>
                <a:cs typeface="Trebuchet MS"/>
              </a:rPr>
              <a:t>18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3276600" y="2157031"/>
            <a:ext cx="11222673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>
                <a:latin typeface="Trebuchet MS"/>
                <a:cs typeface="Trebuchet MS"/>
              </a:rPr>
              <a:t>Prompt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20 Nov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771715" y="608589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Classification Prompts</a:t>
            </a:r>
            <a:endParaRPr lang="en-IN" sz="32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8763000" y="5486400"/>
            <a:ext cx="3335246" cy="13811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866C127-79FD-C4B4-A069-B1308E5DA337}"/>
              </a:ext>
            </a:extLst>
          </p:cNvPr>
          <p:cNvSpPr txBox="1"/>
          <p:nvPr/>
        </p:nvSpPr>
        <p:spPr>
          <a:xfrm>
            <a:off x="771715" y="1063392"/>
            <a:ext cx="8219885" cy="5915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b="1" dirty="0">
              <a:latin typeface="Trebuchet MS" panose="020B0703020202090204" pitchFamily="34" charset="0"/>
            </a:endParaRPr>
          </a:p>
          <a:p>
            <a:r>
              <a:rPr lang="en-IN" sz="1400" b="1" dirty="0">
                <a:latin typeface="Trebuchet MS" panose="020B0703020202090204" pitchFamily="34" charset="0"/>
              </a:rPr>
              <a:t>What it is</a:t>
            </a:r>
          </a:p>
          <a:p>
            <a:endParaRPr lang="en-IN" sz="1400" b="1" dirty="0">
              <a:latin typeface="Trebuchet MS" panose="020B0703020202090204" pitchFamily="34" charset="0"/>
            </a:endParaRPr>
          </a:p>
          <a:p>
            <a:r>
              <a:rPr lang="en-IN" sz="1400" dirty="0">
                <a:latin typeface="Trebuchet MS" panose="020B0703020202090204" pitchFamily="34" charset="0"/>
              </a:rPr>
              <a:t>A </a:t>
            </a:r>
            <a:r>
              <a:rPr lang="en-IN" sz="1400" b="1" dirty="0">
                <a:latin typeface="Trebuchet MS" panose="020B0703020202090204" pitchFamily="34" charset="0"/>
              </a:rPr>
              <a:t>classification prompt</a:t>
            </a:r>
            <a:r>
              <a:rPr lang="en-IN" sz="1400" dirty="0">
                <a:latin typeface="Trebuchet MS" panose="020B0703020202090204" pitchFamily="34" charset="0"/>
              </a:rPr>
              <a:t> asks the model to assign a label to text.</a:t>
            </a:r>
          </a:p>
          <a:p>
            <a:r>
              <a:rPr lang="en-IN" sz="1400" b="1" dirty="0">
                <a:latin typeface="Trebuchet MS" panose="020B0703020202090204" pitchFamily="34" charset="0"/>
              </a:rPr>
              <a:t> </a:t>
            </a:r>
          </a:p>
          <a:p>
            <a:r>
              <a:rPr lang="en-IN" sz="1400" b="1" dirty="0">
                <a:latin typeface="Trebuchet MS" panose="020B0703020202090204" pitchFamily="34" charset="0"/>
              </a:rPr>
              <a:t>Used for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dirty="0">
                <a:latin typeface="Trebuchet MS" panose="020B0703020202090204" pitchFamily="34" charset="0"/>
              </a:rPr>
              <a:t>Sentiment analysis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dirty="0">
                <a:latin typeface="Trebuchet MS" panose="020B0703020202090204" pitchFamily="34" charset="0"/>
              </a:rPr>
              <a:t>Cyberbullying detection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dirty="0">
                <a:latin typeface="Trebuchet MS" panose="020B0703020202090204" pitchFamily="34" charset="0"/>
              </a:rPr>
              <a:t>Fraud/normal classification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dirty="0">
                <a:latin typeface="Trebuchet MS" panose="020B0703020202090204" pitchFamily="34" charset="0"/>
              </a:rPr>
              <a:t>Toxic comment detection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1400" dirty="0">
                <a:latin typeface="Trebuchet MS" panose="020B0703020202090204" pitchFamily="34" charset="0"/>
              </a:rPr>
              <a:t>Spam detection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sz="1400" dirty="0">
              <a:latin typeface="Trebuchet MS" panose="020B0703020202090204" pitchFamily="34" charset="0"/>
            </a:endParaRPr>
          </a:p>
          <a:p>
            <a:r>
              <a:rPr lang="en-IN" sz="1400" b="1" dirty="0">
                <a:latin typeface="Trebuchet MS" panose="020B0703020202090204" pitchFamily="34" charset="0"/>
              </a:rPr>
              <a:t>Basic Prompt Pattern</a:t>
            </a:r>
          </a:p>
          <a:p>
            <a:pPr rtl="0"/>
            <a:r>
              <a:rPr lang="en-IN" sz="1400" dirty="0">
                <a:latin typeface="Trebuchet MS" panose="020B0703020202090204" pitchFamily="34" charset="0"/>
              </a:rPr>
              <a:t>Classify the sentiment of the following text as Positive, Negative, or Neutral: TEXT: "&lt;your text&gt;" ANSWER: </a:t>
            </a:r>
          </a:p>
          <a:p>
            <a:r>
              <a:rPr lang="en-IN" sz="1400" b="1" dirty="0">
                <a:latin typeface="Trebuchet MS" panose="020B0703020202090204" pitchFamily="34" charset="0"/>
              </a:rPr>
              <a:t>📌 Example</a:t>
            </a:r>
          </a:p>
          <a:p>
            <a:pPr rtl="0"/>
            <a:r>
              <a:rPr lang="en-IN" sz="1400" dirty="0">
                <a:latin typeface="Trebuchet MS" panose="020B0703020202090204" pitchFamily="34" charset="0"/>
              </a:rPr>
              <a:t>Classify this review as Positive, Neutral, or Negative: "The product arrived late and was damaged." ANSWER: </a:t>
            </a:r>
          </a:p>
          <a:p>
            <a:r>
              <a:rPr lang="en-IN" sz="1400" b="1" dirty="0">
                <a:latin typeface="Trebuchet MS" panose="020B0703020202090204" pitchFamily="34" charset="0"/>
              </a:rPr>
              <a:t>Expected output:</a:t>
            </a:r>
          </a:p>
          <a:p>
            <a:pPr rtl="0"/>
            <a:r>
              <a:rPr lang="en-IN" sz="1400" dirty="0">
                <a:latin typeface="Trebuchet MS" panose="020B0703020202090204" pitchFamily="34" charset="0"/>
              </a:rPr>
              <a:t>Negative </a:t>
            </a:r>
          </a:p>
          <a:p>
            <a:r>
              <a:rPr lang="en-IN" sz="1400" b="1" dirty="0">
                <a:latin typeface="Trebuchet MS" panose="020B0703020202090204" pitchFamily="34" charset="0"/>
              </a:rPr>
              <a:t> Improved Prompt Pattern (More Accurate)</a:t>
            </a:r>
          </a:p>
          <a:p>
            <a:pPr rtl="0"/>
            <a:r>
              <a:rPr lang="en-IN" sz="1400" dirty="0">
                <a:latin typeface="Trebuchet MS" panose="020B0703020202090204" pitchFamily="34" charset="0"/>
              </a:rPr>
              <a:t>You are a precise text classifier. Label the text with one class only: {Positive, Neutral, Negative}. TEXT: "I love the camera quality but battery drains fast." ANSWER: </a:t>
            </a:r>
          </a:p>
          <a:p>
            <a:r>
              <a:rPr lang="en-IN" sz="1400" dirty="0">
                <a:latin typeface="Trebuchet MS" panose="020B0703020202090204" pitchFamily="34" charset="0"/>
              </a:rPr>
              <a:t>This avoids mixed or long responses.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2FA30-877E-F018-E956-B9326C191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D0D4CBDB-3DC5-D9EA-BFDC-0D85589FF36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736D9E5-6FDD-CE8B-2021-9E23129E9A2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121C2ED-DCB5-71E9-94DD-1E29B19DA5A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B8CE70-0A26-54E2-EE9C-33FB37147883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8E7B00BF-CD7D-DDE6-7DDE-E4C3069F0AA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AA093323-5603-D3D0-9285-80F64E045617}"/>
              </a:ext>
            </a:extLst>
          </p:cNvPr>
          <p:cNvSpPr txBox="1"/>
          <p:nvPr/>
        </p:nvSpPr>
        <p:spPr>
          <a:xfrm>
            <a:off x="771715" y="574921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Chain-of-Thought Prompting (CoT)</a:t>
            </a:r>
            <a:endParaRPr lang="en-IN" sz="32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0CC134FD-6714-194F-B18E-54C4CA7793B5}"/>
              </a:ext>
            </a:extLst>
          </p:cNvPr>
          <p:cNvGrpSpPr/>
          <p:nvPr/>
        </p:nvGrpSpPr>
        <p:grpSpPr>
          <a:xfrm>
            <a:off x="8763000" y="5486400"/>
            <a:ext cx="3335246" cy="13811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725842D3-8CA8-D134-310C-F09519BB37AA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4A79A47A-F995-E5D3-CDD2-8CF334B5A9C1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43C1D13-5BCE-CB1F-C022-316B149F309C}"/>
              </a:ext>
            </a:extLst>
          </p:cNvPr>
          <p:cNvSpPr txBox="1"/>
          <p:nvPr/>
        </p:nvSpPr>
        <p:spPr>
          <a:xfrm>
            <a:off x="738450" y="947031"/>
            <a:ext cx="11353800" cy="6685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b="1" dirty="0">
              <a:latin typeface="Trebuchet MS" panose="020B0703020202090204" pitchFamily="34" charset="0"/>
            </a:endParaRPr>
          </a:p>
          <a:p>
            <a:r>
              <a:rPr lang="en-IN" sz="1400" b="1" dirty="0">
                <a:latin typeface="Trebuchet MS" panose="020B0703020202090204" pitchFamily="34" charset="0"/>
              </a:rPr>
              <a:t>What it is</a:t>
            </a:r>
          </a:p>
          <a:p>
            <a:endParaRPr lang="en-IN" sz="1200" b="1" dirty="0">
              <a:latin typeface="Trebuchet MS" panose="020B0703020202090204" pitchFamily="34" charset="0"/>
            </a:endParaRPr>
          </a:p>
          <a:p>
            <a:r>
              <a:rPr lang="en-IN" sz="1200" dirty="0"/>
              <a:t>CoT asks the model to </a:t>
            </a:r>
            <a:r>
              <a:rPr lang="en-IN" sz="1200" b="1" dirty="0"/>
              <a:t>show reasoning steps</a:t>
            </a:r>
            <a:r>
              <a:rPr lang="en-IN" sz="1200" dirty="0"/>
              <a:t> before answering.</a:t>
            </a:r>
          </a:p>
          <a:p>
            <a:r>
              <a:rPr lang="en-IN" sz="1400" b="1" dirty="0">
                <a:latin typeface="Trebuchet MS" panose="020B0703020202090204" pitchFamily="34" charset="0"/>
              </a:rPr>
              <a:t> </a:t>
            </a:r>
          </a:p>
          <a:p>
            <a:r>
              <a:rPr lang="en-IN" sz="1400" b="1" dirty="0">
                <a:latin typeface="Trebuchet MS" panose="020B0703020202090204" pitchFamily="34" charset="0"/>
              </a:rPr>
              <a:t>Used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Math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Logical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Fraud explanation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Medical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Root cause analysis</a:t>
            </a:r>
          </a:p>
          <a:p>
            <a:pPr lvl="1"/>
            <a:r>
              <a:rPr lang="en-IN" sz="1200" b="1" dirty="0">
                <a:latin typeface="Trebuchet MS" panose="020B0703020202090204" pitchFamily="34" charset="0"/>
              </a:rPr>
              <a:t>Prompt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Solve step-by-step and then give the final answer.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QUESTION: &lt;your question&gt;</a:t>
            </a:r>
          </a:p>
          <a:p>
            <a:pPr>
              <a:lnSpc>
                <a:spcPct val="150000"/>
              </a:lnSpc>
            </a:pPr>
            <a:r>
              <a:rPr lang="en-IN" sz="1200" b="1" dirty="0"/>
              <a:t>💡 Example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Solve step-by-step: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John has 5 apples. He buys 7 more and eats 3. How many apples left?</a:t>
            </a:r>
          </a:p>
          <a:p>
            <a:pPr>
              <a:lnSpc>
                <a:spcPct val="150000"/>
              </a:lnSpc>
            </a:pPr>
            <a:r>
              <a:rPr lang="en-IN" sz="1200" b="1" dirty="0"/>
              <a:t>Model response: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Step 1: John starts with 5 apples.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Step 2: He buys 7 → total = 12.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Step 3: He eats 3 → 12 - 3 = 9. Final Answer: 9 apples.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Why CoT works</a:t>
            </a:r>
          </a:p>
          <a:p>
            <a:pPr>
              <a:lnSpc>
                <a:spcPct val="150000"/>
              </a:lnSpc>
            </a:pPr>
            <a:r>
              <a:rPr lang="en-IN" sz="1200" dirty="0"/>
              <a:t>Forces the model to slow think. Avoids incorrect immediate answers. Increases accuracy for complex tasks</a:t>
            </a:r>
          </a:p>
          <a:p>
            <a:pPr>
              <a:lnSpc>
                <a:spcPct val="20000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11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ED88B-7232-10B8-BE89-58F269C0B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57632A2-1FB7-A7A1-B002-FEE84C8B311A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E024127-2684-6FD7-E7D3-484EE34B145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294D7374-B6FA-CB2E-FB1A-3627FB125F2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B8FE5A6-F569-5D38-FEF1-FD6AAD61987F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5946085-7AEE-A45A-5AA3-D004655C0152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FC40835E-114C-5FA0-DB21-525FC4144880}"/>
              </a:ext>
            </a:extLst>
          </p:cNvPr>
          <p:cNvSpPr txBox="1"/>
          <p:nvPr/>
        </p:nvSpPr>
        <p:spPr>
          <a:xfrm>
            <a:off x="771715" y="714446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dirty="0"/>
              <a:t>Few-Shot Prompting </a:t>
            </a:r>
            <a:endParaRPr lang="en-IN" sz="3200" b="1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8921453C-B860-1591-43E9-1E4478D72B79}"/>
              </a:ext>
            </a:extLst>
          </p:cNvPr>
          <p:cNvGrpSpPr/>
          <p:nvPr/>
        </p:nvGrpSpPr>
        <p:grpSpPr>
          <a:xfrm>
            <a:off x="8763000" y="5486400"/>
            <a:ext cx="3335246" cy="13811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DBE7CCE6-5936-ECCB-059C-511A9131F326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62A2B3B4-E2F2-91A8-7E10-353DC7B6A506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C2AE1B3-318E-69A2-A9CB-49F3424D0B44}"/>
              </a:ext>
            </a:extLst>
          </p:cNvPr>
          <p:cNvSpPr txBox="1"/>
          <p:nvPr/>
        </p:nvSpPr>
        <p:spPr>
          <a:xfrm>
            <a:off x="749944" y="1246189"/>
            <a:ext cx="8219885" cy="4869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b="1" dirty="0">
              <a:latin typeface="Trebuchet MS" panose="020B0703020202090204" pitchFamily="34" charset="0"/>
            </a:endParaRPr>
          </a:p>
          <a:p>
            <a:r>
              <a:rPr lang="en-IN" sz="1400" b="1" dirty="0">
                <a:latin typeface="Trebuchet MS" panose="020B0703020202090204" pitchFamily="34" charset="0"/>
              </a:rPr>
              <a:t>What it is</a:t>
            </a:r>
          </a:p>
          <a:p>
            <a:r>
              <a:rPr lang="en-IN" sz="1200" dirty="0"/>
              <a:t>You show </a:t>
            </a:r>
            <a:r>
              <a:rPr lang="en-IN" sz="1200" b="1" dirty="0"/>
              <a:t>2–5 examples</a:t>
            </a:r>
            <a:r>
              <a:rPr lang="en-IN" sz="1200" dirty="0"/>
              <a:t> of the task you want, then the model learns pattern.</a:t>
            </a:r>
            <a:r>
              <a:rPr lang="en-IN" sz="1200" b="1" dirty="0">
                <a:latin typeface="Trebuchet MS" panose="020B0703020202090204" pitchFamily="34" charset="0"/>
              </a:rPr>
              <a:t> </a:t>
            </a:r>
          </a:p>
          <a:p>
            <a:r>
              <a:rPr lang="en-IN" sz="1400" b="1" dirty="0">
                <a:latin typeface="Trebuchet MS" panose="020B0703020202090204" pitchFamily="34" charset="0"/>
              </a:rPr>
              <a:t>Used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Text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Translation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Style imitation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Fraud label prediction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Code pattern learning</a:t>
            </a:r>
            <a:endParaRPr lang="en-IN" sz="1200" dirty="0">
              <a:latin typeface="Trebuchet MS" panose="020B0703020202090204" pitchFamily="34" charset="0"/>
            </a:endParaRPr>
          </a:p>
          <a:p>
            <a:r>
              <a:rPr lang="en-IN" sz="1200" dirty="0"/>
              <a:t>You are a text classifier.</a:t>
            </a:r>
          </a:p>
          <a:p>
            <a:r>
              <a:rPr lang="en-IN" sz="1200" dirty="0"/>
              <a:t>Example 1:</a:t>
            </a:r>
          </a:p>
          <a:p>
            <a:r>
              <a:rPr lang="en-IN" sz="1200" dirty="0"/>
              <a:t>Input: "I hate this product"</a:t>
            </a:r>
          </a:p>
          <a:p>
            <a:r>
              <a:rPr lang="en-IN" sz="1200" dirty="0"/>
              <a:t>Output: Negative</a:t>
            </a:r>
          </a:p>
          <a:p>
            <a:r>
              <a:rPr lang="en-IN" sz="1200" dirty="0"/>
              <a:t>Example 2:</a:t>
            </a:r>
          </a:p>
          <a:p>
            <a:r>
              <a:rPr lang="en-IN" sz="1200" dirty="0"/>
              <a:t>Input: "This is the best phone ever"</a:t>
            </a:r>
          </a:p>
          <a:p>
            <a:r>
              <a:rPr lang="en-IN" sz="1200" dirty="0"/>
              <a:t>Output: Positive</a:t>
            </a:r>
          </a:p>
          <a:p>
            <a:r>
              <a:rPr lang="en-IN" sz="1200" dirty="0"/>
              <a:t>Example 3:</a:t>
            </a:r>
          </a:p>
          <a:p>
            <a:r>
              <a:rPr lang="en-IN" sz="1200" dirty="0"/>
              <a:t>Input: "Camera is fine, battery is okay"</a:t>
            </a:r>
          </a:p>
          <a:p>
            <a:r>
              <a:rPr lang="en-IN" sz="1200" dirty="0"/>
              <a:t>Output: Neutral</a:t>
            </a:r>
          </a:p>
          <a:p>
            <a:r>
              <a:rPr lang="en-IN" sz="1200" b="1" dirty="0"/>
              <a:t>Why it works</a:t>
            </a:r>
          </a:p>
          <a:p>
            <a:r>
              <a:rPr lang="en-IN" sz="1200" dirty="0"/>
              <a:t>The model learns pattern </a:t>
            </a:r>
            <a:r>
              <a:rPr lang="en-IN" sz="1200" b="1" dirty="0"/>
              <a:t>from your examples</a:t>
            </a:r>
            <a:r>
              <a:rPr lang="en-IN" sz="1200" dirty="0"/>
              <a:t> without formal training.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9388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C831D-5D7D-76C3-2D5E-67A8B208B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5DD91618-BB83-001F-2E12-17DC2E02235F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B19D23A-85DA-BEAA-B67C-824B78697052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72F0E85B-C548-711B-2486-090F4CDDD933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CB86337-1C74-82E0-C715-F8726524D93C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DC72596-9709-BF04-4FCA-10EE2B027903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8303C1DD-0533-6ACC-E56B-56E5E7E1326C}"/>
              </a:ext>
            </a:extLst>
          </p:cNvPr>
          <p:cNvSpPr txBox="1"/>
          <p:nvPr/>
        </p:nvSpPr>
        <p:spPr>
          <a:xfrm>
            <a:off x="771715" y="714446"/>
            <a:ext cx="12306300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3200" b="1" dirty="0">
                <a:latin typeface="Trebuchet MS"/>
                <a:cs typeface="Trebuchet MS"/>
              </a:rPr>
              <a:t>Summary</a:t>
            </a: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1AF6C920-D2E0-A2F3-7539-822DE4DA75CB}"/>
              </a:ext>
            </a:extLst>
          </p:cNvPr>
          <p:cNvGrpSpPr/>
          <p:nvPr/>
        </p:nvGrpSpPr>
        <p:grpSpPr>
          <a:xfrm>
            <a:off x="8763000" y="5486400"/>
            <a:ext cx="3335246" cy="1381124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AE247A8F-C36C-9ADE-5D69-6CD3F46BA414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6CD6CE77-09AA-EA9B-71B5-6B5D3BF65720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B6B18A-F50F-FDDF-50D9-DC953AEF9A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330363"/>
              </p:ext>
            </p:extLst>
          </p:nvPr>
        </p:nvGraphicFramePr>
        <p:xfrm>
          <a:off x="782601" y="1528816"/>
          <a:ext cx="7188612" cy="14350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96204">
                  <a:extLst>
                    <a:ext uri="{9D8B030D-6E8A-4147-A177-3AD203B41FA5}">
                      <a16:colId xmlns:a16="http://schemas.microsoft.com/office/drawing/2014/main" val="2671888740"/>
                    </a:ext>
                  </a:extLst>
                </a:gridCol>
                <a:gridCol w="2396204">
                  <a:extLst>
                    <a:ext uri="{9D8B030D-6E8A-4147-A177-3AD203B41FA5}">
                      <a16:colId xmlns:a16="http://schemas.microsoft.com/office/drawing/2014/main" val="1773616367"/>
                    </a:ext>
                  </a:extLst>
                </a:gridCol>
                <a:gridCol w="2396204">
                  <a:extLst>
                    <a:ext uri="{9D8B030D-6E8A-4147-A177-3AD203B41FA5}">
                      <a16:colId xmlns:a16="http://schemas.microsoft.com/office/drawing/2014/main" val="3241030528"/>
                    </a:ext>
                  </a:extLst>
                </a:gridCol>
              </a:tblGrid>
              <a:tr h="302126">
                <a:tc>
                  <a:txBody>
                    <a:bodyPr/>
                    <a:lstStyle/>
                    <a:p>
                      <a:r>
                        <a:rPr lang="en-IN" sz="1200" dirty="0"/>
                        <a:t>Prompt Pattern</a:t>
                      </a:r>
                    </a:p>
                  </a:txBody>
                  <a:tcPr marL="75532" marR="75532" marT="37766" marB="37766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Purpose</a:t>
                      </a:r>
                    </a:p>
                  </a:txBody>
                  <a:tcPr marL="75532" marR="75532" marT="37766" marB="37766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Example Use</a:t>
                      </a:r>
                    </a:p>
                  </a:txBody>
                  <a:tcPr marL="75532" marR="75532" marT="37766" marB="37766" anchor="ctr"/>
                </a:tc>
                <a:extLst>
                  <a:ext uri="{0D108BD9-81ED-4DB2-BD59-A6C34878D82A}">
                    <a16:rowId xmlns:a16="http://schemas.microsoft.com/office/drawing/2014/main" val="209951550"/>
                  </a:ext>
                </a:extLst>
              </a:tr>
              <a:tr h="302126">
                <a:tc>
                  <a:txBody>
                    <a:bodyPr/>
                    <a:lstStyle/>
                    <a:p>
                      <a:r>
                        <a:rPr lang="en-IN" sz="1200" b="1" dirty="0"/>
                        <a:t>Classification Prompts</a:t>
                      </a:r>
                      <a:endParaRPr lang="en-IN" sz="1200" dirty="0"/>
                    </a:p>
                  </a:txBody>
                  <a:tcPr marL="75532" marR="75532" marT="37766" marB="37766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Assign labels</a:t>
                      </a:r>
                    </a:p>
                  </a:txBody>
                  <a:tcPr marL="75532" marR="75532" marT="37766" marB="37766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Fraud/Normal, Sentiment</a:t>
                      </a:r>
                    </a:p>
                  </a:txBody>
                  <a:tcPr marL="75532" marR="75532" marT="37766" marB="37766" anchor="ctr"/>
                </a:tc>
                <a:extLst>
                  <a:ext uri="{0D108BD9-81ED-4DB2-BD59-A6C34878D82A}">
                    <a16:rowId xmlns:a16="http://schemas.microsoft.com/office/drawing/2014/main" val="2014972194"/>
                  </a:ext>
                </a:extLst>
              </a:tr>
              <a:tr h="302126">
                <a:tc>
                  <a:txBody>
                    <a:bodyPr/>
                    <a:lstStyle/>
                    <a:p>
                      <a:r>
                        <a:rPr lang="en-IN" sz="1200" b="1"/>
                        <a:t>Chain-of-Thought</a:t>
                      </a:r>
                      <a:endParaRPr lang="en-IN" sz="1200"/>
                    </a:p>
                  </a:txBody>
                  <a:tcPr marL="75532" marR="75532" marT="37766" marB="37766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Force model reasoning</a:t>
                      </a:r>
                    </a:p>
                  </a:txBody>
                  <a:tcPr marL="75532" marR="75532" marT="37766" marB="37766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Math, Logic, Root-cause</a:t>
                      </a:r>
                    </a:p>
                  </a:txBody>
                  <a:tcPr marL="75532" marR="75532" marT="37766" marB="37766" anchor="ctr"/>
                </a:tc>
                <a:extLst>
                  <a:ext uri="{0D108BD9-81ED-4DB2-BD59-A6C34878D82A}">
                    <a16:rowId xmlns:a16="http://schemas.microsoft.com/office/drawing/2014/main" val="3101308671"/>
                  </a:ext>
                </a:extLst>
              </a:tr>
              <a:tr h="528721">
                <a:tc>
                  <a:txBody>
                    <a:bodyPr/>
                    <a:lstStyle/>
                    <a:p>
                      <a:r>
                        <a:rPr lang="en-IN" sz="1200" b="1"/>
                        <a:t>Few-Shot Examples</a:t>
                      </a:r>
                      <a:endParaRPr lang="en-IN" sz="1200"/>
                    </a:p>
                  </a:txBody>
                  <a:tcPr marL="75532" marR="75532" marT="37766" marB="37766"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Teach model with small examples</a:t>
                      </a:r>
                    </a:p>
                  </a:txBody>
                  <a:tcPr marL="75532" marR="75532" marT="37766" marB="37766"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Domain tasks, style learning</a:t>
                      </a:r>
                    </a:p>
                  </a:txBody>
                  <a:tcPr marL="75532" marR="75532" marT="37766" marB="37766" anchor="ctr"/>
                </a:tc>
                <a:extLst>
                  <a:ext uri="{0D108BD9-81ED-4DB2-BD59-A6C34878D82A}">
                    <a16:rowId xmlns:a16="http://schemas.microsoft.com/office/drawing/2014/main" val="4263145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302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37886</TotalTime>
  <Words>542</Words>
  <Application>Microsoft Macintosh PowerPoint</Application>
  <PresentationFormat>Widescreen</PresentationFormat>
  <Paragraphs>94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48</cp:revision>
  <dcterms:created xsi:type="dcterms:W3CDTF">2025-09-17T13:52:51Z</dcterms:created>
  <dcterms:modified xsi:type="dcterms:W3CDTF">2025-11-25T14:43:49Z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