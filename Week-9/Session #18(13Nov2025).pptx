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9E42-51D1-9F07-3D1D-86598B0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0182-3A87-C273-2781-74E5AE509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34053-827B-4142-DE06-D74E56FE3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10660-3D64-2A72-2D22-715F9203E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126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574-F3E1-31FC-E753-BA8BF908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5645-438A-7B7E-0985-D1B6861A9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DEB5-1684-64D7-2D57-BA7A1D38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CFC-FF4E-9119-E3AE-2CE861D3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214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7090-3C2C-24EF-D945-5D645EEB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01B46-8470-AF9A-9E54-AC0F6907C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BE41C-E1DF-1EC3-037B-66F7A6821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4614E-D23C-F53F-DD17-DF4F93D7E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0482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5F20-79FB-AEB5-FDBE-6C3C645E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3A7D6-0466-6A3C-3FD8-895F2210A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C2E5-0777-B546-AE5F-811509179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65B18-758A-8BAB-6C55-BDFA4A16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670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17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4648200" y="2286000"/>
            <a:ext cx="1122267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>
                <a:latin typeface="Trebuchet MS"/>
                <a:cs typeface="Trebuchet MS"/>
              </a:rPr>
              <a:t>GANs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5 Nov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714446"/>
            <a:ext cx="1230630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What is a GAN?</a:t>
            </a:r>
            <a:endParaRPr lang="en-IN" sz="24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633768" y="1274336"/>
            <a:ext cx="8219885" cy="486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dirty="0"/>
              <a:t>A </a:t>
            </a:r>
            <a:r>
              <a:rPr lang="en-IN" sz="1400" b="1" dirty="0"/>
              <a:t>Generative Adversarial Network (GAN)</a:t>
            </a:r>
            <a:r>
              <a:rPr lang="en-IN" sz="1400" dirty="0"/>
              <a:t> is a deep-learning framework comprising </a:t>
            </a:r>
            <a:r>
              <a:rPr lang="en-IN" sz="1400" b="1" dirty="0"/>
              <a:t>two neural networks</a:t>
            </a:r>
            <a:r>
              <a:rPr lang="en-IN" sz="1400" dirty="0"/>
              <a:t> that compete with each other to generate new data samples similar to the real ones.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Components:</a:t>
            </a:r>
            <a:endParaRPr lang="en-IN" sz="1400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1400" b="1" dirty="0"/>
              <a:t> Generator (G)</a:t>
            </a:r>
            <a:r>
              <a:rPr lang="en-IN" sz="1400" dirty="0"/>
              <a:t> – learns to create synthetic data from random noise.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1400" b="1" dirty="0"/>
              <a:t> Discriminator (D)</a:t>
            </a:r>
            <a:r>
              <a:rPr lang="en-IN" sz="1400" dirty="0"/>
              <a:t> – learns to distinguish real data from fake data.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Learning Mechanism: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Both networks train simultaneously in an adversarial setup → each improves the other.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Example:</a:t>
            </a:r>
            <a:br>
              <a:rPr lang="en-IN" dirty="0"/>
            </a:br>
            <a:r>
              <a:rPr lang="en-IN" sz="1400" dirty="0"/>
              <a:t>Generator tries to create a fake handwritten digit; Discriminator tries to catch it — like a forger and a detective learning together.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dirty="0"/>
              <a:t>Why GANs?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C0E77-FFBE-8AF9-0551-6D3E8050B52F}"/>
              </a:ext>
            </a:extLst>
          </p:cNvPr>
          <p:cNvSpPr txBox="1"/>
          <p:nvPr/>
        </p:nvSpPr>
        <p:spPr>
          <a:xfrm>
            <a:off x="1162878" y="2057400"/>
            <a:ext cx="8590722" cy="222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Earlier deep networks could </a:t>
            </a:r>
            <a:r>
              <a:rPr lang="en-IN" b="1" dirty="0"/>
              <a:t>recognize</a:t>
            </a:r>
            <a:r>
              <a:rPr lang="en-IN" dirty="0"/>
              <a:t> but not </a:t>
            </a:r>
            <a:r>
              <a:rPr lang="en-IN" b="1" dirty="0"/>
              <a:t>create</a:t>
            </a:r>
            <a:r>
              <a:rPr lang="en-IN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GANs enable machines to </a:t>
            </a:r>
            <a:r>
              <a:rPr lang="en-IN" b="1" dirty="0"/>
              <a:t>generate realistic data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Examples: Deepfakes | AI art | Synthetic medical data | Voice cloning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066800" y="762000"/>
            <a:ext cx="929640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Intuition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066800" y="1676400"/>
            <a:ext cx="8382000" cy="1022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Two players (Generator vs Discriminator) in a game of improvement.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Analogy: Forger vs Detective — each iteration makes both smarter.</a:t>
            </a:r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25210" y="762000"/>
            <a:ext cx="8699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The GAN Architecture</a:t>
            </a:r>
            <a:endParaRPr lang="en-US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B0C4B7-9A84-E9CC-52B1-DF52F81F9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90989"/>
              </p:ext>
            </p:extLst>
          </p:nvPr>
        </p:nvGraphicFramePr>
        <p:xfrm>
          <a:off x="887684" y="2514600"/>
          <a:ext cx="6477000" cy="33528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382640158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20872616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61839724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645721259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r>
                        <a:rPr lang="en-IN" sz="1400" dirty="0"/>
                        <a:t>Component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Description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Input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Output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1534562872"/>
                  </a:ext>
                </a:extLst>
              </a:tr>
              <a:tr h="1452880">
                <a:tc>
                  <a:txBody>
                    <a:bodyPr/>
                    <a:lstStyle/>
                    <a:p>
                      <a:r>
                        <a:rPr lang="en-IN" sz="1400" b="1"/>
                        <a:t>Generator (G)</a:t>
                      </a:r>
                      <a:endParaRPr lang="en-IN" sz="14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Takes random noise as input and tries to produce fake data that looks real.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Random vector z (usually 100–128 dims)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Synthetic sample (image, text, etc.)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3360931532"/>
                  </a:ext>
                </a:extLst>
              </a:tr>
              <a:tr h="1452880">
                <a:tc>
                  <a:txBody>
                    <a:bodyPr/>
                    <a:lstStyle/>
                    <a:p>
                      <a:r>
                        <a:rPr lang="en-IN" sz="1400" b="1"/>
                        <a:t>Discriminator (D)</a:t>
                      </a:r>
                      <a:endParaRPr lang="en-IN" sz="14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 binary classifier that learns to tell real data from fake data.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Real data or Generator output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Probability (0 = fake, 1 = real)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522545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C8ACB5B-8478-DAB2-2CBC-95046CFC6974}"/>
              </a:ext>
            </a:extLst>
          </p:cNvPr>
          <p:cNvSpPr txBox="1"/>
          <p:nvPr/>
        </p:nvSpPr>
        <p:spPr>
          <a:xfrm>
            <a:off x="844141" y="1684465"/>
            <a:ext cx="85611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A </a:t>
            </a:r>
            <a:r>
              <a:rPr lang="en-IN" sz="1400" b="1" dirty="0"/>
              <a:t>GAN</a:t>
            </a:r>
            <a:r>
              <a:rPr lang="en-IN" sz="1400" dirty="0"/>
              <a:t> is made up of two competing neural networks trained together in a loop</a:t>
            </a:r>
            <a:endParaRPr lang="en-US" sz="1400" dirty="0"/>
          </a:p>
        </p:txBody>
      </p:sp>
      <p:sp>
        <p:nvSpPr>
          <p:cNvPr id="12" name="AutoShape 2" descr="Generated image">
            <a:extLst>
              <a:ext uri="{FF2B5EF4-FFF2-40B4-BE49-F238E27FC236}">
                <a16:creationId xmlns:a16="http://schemas.microsoft.com/office/drawing/2014/main" id="{A05BF1D7-24F9-2596-9BA9-16E69003DB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1549FF-9AFF-46E2-A9CE-405865D19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859" y="1948699"/>
            <a:ext cx="3556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49944" y="685800"/>
            <a:ext cx="10646220" cy="13221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How GANs Train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865913" y="1604623"/>
            <a:ext cx="79308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Step 1:</a:t>
            </a:r>
            <a:r>
              <a:rPr lang="en-IN" dirty="0"/>
              <a:t> Train Discriminator (D)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Feed it </a:t>
            </a:r>
            <a:r>
              <a:rPr lang="en-IN" i="1" dirty="0"/>
              <a:t>real data</a:t>
            </a:r>
            <a:r>
              <a:rPr lang="en-IN" dirty="0"/>
              <a:t> (label = 1) and </a:t>
            </a:r>
            <a:r>
              <a:rPr lang="en-IN" i="1" dirty="0"/>
              <a:t>fake data G(z)</a:t>
            </a:r>
            <a:r>
              <a:rPr lang="en-IN" dirty="0"/>
              <a:t> (label = 0).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D to classify correctly.</a:t>
            </a:r>
          </a:p>
          <a:p>
            <a:pPr>
              <a:lnSpc>
                <a:spcPct val="200000"/>
              </a:lnSpc>
            </a:pPr>
            <a:r>
              <a:rPr lang="en-IN" b="1" dirty="0"/>
              <a:t>Step 2:</a:t>
            </a:r>
            <a:r>
              <a:rPr lang="en-IN" dirty="0"/>
              <a:t> Train Generator (G)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Freeze D’s weights.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Feed random noise z; compute D(G(z)).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G to maximize D(G(z)) → fool D.</a:t>
            </a:r>
          </a:p>
          <a:p>
            <a:pPr>
              <a:lnSpc>
                <a:spcPct val="200000"/>
              </a:lnSpc>
            </a:pPr>
            <a:r>
              <a:rPr lang="en-IN" b="1" dirty="0"/>
              <a:t>Repeat</a:t>
            </a:r>
            <a:r>
              <a:rPr lang="en-IN" dirty="0"/>
              <a:t> until D cannot tell the difference (accuracy ≈ 50%).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E8843-10D0-C28B-8529-0B7D7EE20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287" y="822654"/>
            <a:ext cx="3479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72890" y="651605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400" dirty="0"/>
              <a:t>Training Challenges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0F6FE-7B48-1B40-DE5D-4BC6F0E3EFBA}"/>
              </a:ext>
            </a:extLst>
          </p:cNvPr>
          <p:cNvSpPr txBox="1"/>
          <p:nvPr/>
        </p:nvSpPr>
        <p:spPr>
          <a:xfrm>
            <a:off x="887684" y="1541991"/>
            <a:ext cx="6096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b="1" dirty="0"/>
              <a:t>Common Problems: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Mode Collapse:</a:t>
            </a:r>
            <a:r>
              <a:rPr lang="en-IN" sz="1400" dirty="0"/>
              <a:t> Generator produces limited variety (same output for different noise).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Non-Convergence:</a:t>
            </a:r>
            <a:r>
              <a:rPr lang="en-IN" sz="1400" dirty="0"/>
              <a:t> Loss oscillates because G and D learn at uneven speeds.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Vanishing Gradients:</a:t>
            </a:r>
            <a:r>
              <a:rPr lang="en-IN" sz="1400" dirty="0"/>
              <a:t> D becomes too confident → G stops learning.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Stabilization Tricks: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 Batch Normalization and Label Smoothing.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 Use </a:t>
            </a:r>
            <a:r>
              <a:rPr lang="en-IN" sz="1400" dirty="0" err="1"/>
              <a:t>LeakyReLU</a:t>
            </a:r>
            <a:r>
              <a:rPr lang="en-IN" sz="1400" dirty="0"/>
              <a:t> in D for gradient flow.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Wasserstein GAN (WGAN):</a:t>
            </a:r>
            <a:r>
              <a:rPr lang="en-IN" sz="1400" dirty="0"/>
              <a:t> Replaces cross-entropy loss with      Wasserstein distance for smooth gradients.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519B2-B84D-1203-BA05-23D806259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110" y="16764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AC08-C208-188F-3306-C7A15711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5B0EB7A-21C4-8DB2-9E7F-FA4E208BF11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BC4D63D-4277-4C5C-91AF-0DAC8ECF3E56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579730B-2F26-6A34-41DD-5C8D8073B4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A137D88-FD53-C948-B524-5F5086B6199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52E1A4F-FF90-5BA7-BAEF-17749EBBB9E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49C725A-C076-C817-F500-3DC8D7C197F5}"/>
              </a:ext>
            </a:extLst>
          </p:cNvPr>
          <p:cNvSpPr txBox="1"/>
          <p:nvPr/>
        </p:nvSpPr>
        <p:spPr>
          <a:xfrm>
            <a:off x="607264" y="838200"/>
            <a:ext cx="10647395" cy="13837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b="1" dirty="0"/>
              <a:t>Popular GAN Variants</a:t>
            </a:r>
          </a:p>
          <a:p>
            <a:pPr marL="12700">
              <a:spcBef>
                <a:spcPts val="130"/>
              </a:spcBef>
            </a:pP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6A1948-2974-341A-59E9-68D932888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792468"/>
              </p:ext>
            </p:extLst>
          </p:nvPr>
        </p:nvGraphicFramePr>
        <p:xfrm>
          <a:off x="855026" y="1983014"/>
          <a:ext cx="6307773" cy="35795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2591">
                  <a:extLst>
                    <a:ext uri="{9D8B030D-6E8A-4147-A177-3AD203B41FA5}">
                      <a16:colId xmlns:a16="http://schemas.microsoft.com/office/drawing/2014/main" val="3569730877"/>
                    </a:ext>
                  </a:extLst>
                </a:gridCol>
                <a:gridCol w="2102591">
                  <a:extLst>
                    <a:ext uri="{9D8B030D-6E8A-4147-A177-3AD203B41FA5}">
                      <a16:colId xmlns:a16="http://schemas.microsoft.com/office/drawing/2014/main" val="1594278345"/>
                    </a:ext>
                  </a:extLst>
                </a:gridCol>
                <a:gridCol w="2102591">
                  <a:extLst>
                    <a:ext uri="{9D8B030D-6E8A-4147-A177-3AD203B41FA5}">
                      <a16:colId xmlns:a16="http://schemas.microsoft.com/office/drawing/2014/main" val="2006273614"/>
                    </a:ext>
                  </a:extLst>
                </a:gridCol>
              </a:tblGrid>
              <a:tr h="367137">
                <a:tc>
                  <a:txBody>
                    <a:bodyPr/>
                    <a:lstStyle/>
                    <a:p>
                      <a:r>
                        <a:rPr lang="en-IN" sz="1400" dirty="0"/>
                        <a:t>Variant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Core Idea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Typical Use Case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1554766351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 dirty="0"/>
                        <a:t>DCGAN</a:t>
                      </a:r>
                      <a:endParaRPr lang="en-IN" sz="1400" dirty="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CNN-based G &amp; D for images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Image generation (MNIST, faces)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3242735033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Conditional GAN (cGAN)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Add labels (y) to G and D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Label-controlled image synthesis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2126340941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CycleGAN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Learn mapping between two domains w/o pairs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Style transfer (e.g., </a:t>
                      </a:r>
                      <a:r>
                        <a:rPr lang="en-IN" sz="1400" dirty="0" err="1"/>
                        <a:t>horse↔zebra</a:t>
                      </a:r>
                      <a:r>
                        <a:rPr lang="en-IN" sz="1400" dirty="0"/>
                        <a:t>)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1258502549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Pix2Pix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Paired image-to-image translation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Edges→photo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sketch→portrait</a:t>
                      </a:r>
                      <a:endParaRPr lang="en-IN" sz="1400" dirty="0"/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2530807564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StyleGAN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Latent style control layers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Ultra-realistic faces and avatars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362749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17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0A98-E292-9CBC-A94B-4F6E5E42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364EF79-0F46-CDFD-EF0C-3EA65E1AEC0A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58B147E-7445-BD67-0F1B-F4ECD480D60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5DDFF74-D9AC-7E22-DDC5-1502BC41CB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09FE9D1-D377-0F04-CB00-560C3E46ABB7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ACB43F3-BFFF-2E0D-6A43-2801C9B4172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2E16A6C-6FC1-798B-E377-FF4D4CC08A1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Real-World Examples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08585-B729-A5B5-35C9-EC7FF5C46E35}"/>
              </a:ext>
            </a:extLst>
          </p:cNvPr>
          <p:cNvSpPr txBox="1"/>
          <p:nvPr/>
        </p:nvSpPr>
        <p:spPr>
          <a:xfrm>
            <a:off x="875628" y="1817913"/>
            <a:ext cx="99120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Creative Domains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AI Art &amp; Design (DeepArt, DALL·E, Midjourney)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Gaming – Texture and world generation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Deepfakes and film VFX</a:t>
            </a:r>
          </a:p>
          <a:p>
            <a:pPr>
              <a:lnSpc>
                <a:spcPct val="200000"/>
              </a:lnSpc>
            </a:pPr>
            <a:r>
              <a:rPr lang="en-IN" b="1" dirty="0"/>
              <a:t>Scientific &amp; Business Domains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Healthcare – synthetic MRI for privacy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Finance – synthetic transactions for fraud model training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</a:t>
            </a:r>
            <a:r>
              <a:rPr lang="en-IN" dirty="0" err="1"/>
              <a:t>DataChains</a:t>
            </a:r>
            <a:r>
              <a:rPr lang="en-IN" dirty="0"/>
              <a:t> – creating synthetic clean datasets to augment training after anomaly flagging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83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6586-0C3E-8D99-1EAF-C719F6E8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4C50111-3299-7CD1-0ED6-83A5CA6EEE8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B79B1B2-5785-3B57-D28F-E3E03980474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6D57EDE-73D7-6BE0-D8FD-1C8F87561F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AAD0E7D-A74C-1559-4932-8CFB8CDF825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DF7A7A1-D024-6934-86A7-B1D51B507FA8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3BAF23D-78AC-9D75-F954-A03A7C23D782}"/>
              </a:ext>
            </a:extLst>
          </p:cNvPr>
          <p:cNvSpPr txBox="1"/>
          <p:nvPr/>
        </p:nvSpPr>
        <p:spPr>
          <a:xfrm>
            <a:off x="772890" y="848211"/>
            <a:ext cx="1064622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Evaluating GAN Performance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4A68-9827-E89C-3F89-E6571D7FFF0C}"/>
              </a:ext>
            </a:extLst>
          </p:cNvPr>
          <p:cNvSpPr txBox="1"/>
          <p:nvPr/>
        </p:nvSpPr>
        <p:spPr>
          <a:xfrm>
            <a:off x="679707" y="1828800"/>
            <a:ext cx="9912093" cy="261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b="1" dirty="0"/>
              <a:t>Metrics: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Inception Score (IS):</a:t>
            </a:r>
            <a:r>
              <a:rPr lang="en-IN" sz="1400" dirty="0"/>
              <a:t> Measures image quality &amp; diversity.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Fréchet Inception Distance (FID):</a:t>
            </a:r>
            <a:r>
              <a:rPr lang="en-IN" sz="1400" dirty="0"/>
              <a:t> Compares real and fake feature distributions (lower = better).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Precision &amp; Recall for Generative Models:</a:t>
            </a:r>
            <a:r>
              <a:rPr lang="en-IN" sz="1400" dirty="0"/>
              <a:t> Balance between fidelity and variety.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Human Evaluation:</a:t>
            </a:r>
            <a:br>
              <a:rPr lang="en-IN" sz="1400" dirty="0"/>
            </a:br>
            <a:r>
              <a:rPr lang="en-IN" sz="1400" dirty="0"/>
              <a:t>Sometimes the best judge is the eye test – “Does it look real?”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0C16B-F950-EFDD-8E31-4B525F9D1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424" y="1653455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362C-0BDF-1C8B-77D8-9258955E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6FFD9D4C-1C88-1995-7C7B-D95C969ADA0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0B9FAAD-C6FF-0998-8C9A-7D5994282B8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27B606-5F7A-9366-B93B-A2039B16639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2EADC05-8859-BAF9-4680-8A92BF225B31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7376AE4-5128-D64A-A3BD-ACB80A244B02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582EDC0B-E0DE-29EB-2429-854EAB8B144D}"/>
              </a:ext>
            </a:extLst>
          </p:cNvPr>
          <p:cNvSpPr txBox="1"/>
          <p:nvPr/>
        </p:nvSpPr>
        <p:spPr>
          <a:xfrm>
            <a:off x="772890" y="848211"/>
            <a:ext cx="1064622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Summary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AAE34-724F-7317-D33C-F7B2EF6FFAC5}"/>
              </a:ext>
            </a:extLst>
          </p:cNvPr>
          <p:cNvSpPr txBox="1"/>
          <p:nvPr/>
        </p:nvSpPr>
        <p:spPr>
          <a:xfrm>
            <a:off x="679707" y="1828800"/>
            <a:ext cx="9912093" cy="222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GANs = Generator + Discriminator in adversarial training.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They enable machines to </a:t>
            </a:r>
            <a:r>
              <a:rPr lang="en-IN" b="1" dirty="0"/>
              <a:t>imagine and create</a:t>
            </a:r>
            <a:r>
              <a:rPr lang="en-IN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Balance between G &amp; D is the key to success.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00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33370</TotalTime>
  <Words>931</Words>
  <Application>Microsoft Macintosh PowerPoint</Application>
  <PresentationFormat>Widescreen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45</cp:revision>
  <dcterms:created xsi:type="dcterms:W3CDTF">2025-09-17T13:52:51Z</dcterms:created>
  <dcterms:modified xsi:type="dcterms:W3CDTF">2025-11-13T14:51:10Z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