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61" r:id="rId2"/>
    <p:sldId id="262" r:id="rId3"/>
    <p:sldId id="263" r:id="rId4"/>
    <p:sldId id="271" r:id="rId5"/>
    <p:sldId id="272" r:id="rId6"/>
    <p:sldId id="273" r:id="rId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7"/>
    <p:restoredTop sz="94645"/>
  </p:normalViewPr>
  <p:slideViewPr>
    <p:cSldViewPr>
      <p:cViewPr varScale="1">
        <p:scale>
          <a:sx n="118" d="100"/>
          <a:sy n="118" d="100"/>
        </p:scale>
        <p:origin x="600" y="2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544D7F-A89F-BD45-A303-0BFEC5123660}" type="datetimeFigureOut">
              <a:rPr lang="en-US" smtClean="0"/>
              <a:t>10/6/25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57C749-F60A-8342-826B-5F481864A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040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Start by reminding the team that linear regression is limited to straight-line relationships. Polynomial regression extends it by adding squared and cubic terms, allowing curved fits.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polynomial regression is not a completely new algorithm—it’s just linear regression on transformed features. The coefficients are still learned linearly, but the features are higher powers of 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4F1DB-86E7-6C55-9B30-6063141FF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CD6C57-E660-BFA9-8A77-B963A94E37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3D5C41-8609-4503-2246-678645BA82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polynomial regression is not a completely new algorithm—it’s just linear regression on transformed features. The coefficients are still learned linearly, but the features are higher powers of x.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A7CDE9-C80A-5ED1-D972-6D6F716F06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955578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34479-17E6-0EDA-57EF-F39595795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15E3D9-E346-D025-5DB2-6B6E46A271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4D203E-6526-CCF6-B18A-7D4E744763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848B3-F1C1-F930-0AA4-5135ACF29A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621441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A8A54-1564-45D9-F7BF-F9792044E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3A0B9B-0F53-6490-51B8-59634DA6A8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EA86F6-330A-16D6-9FE9-E8BBDFB986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833C5-04B7-4917-5603-BDC8B68681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7205083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02780" y="247713"/>
            <a:ext cx="368935" cy="372110"/>
          </a:xfrm>
          <a:custGeom>
            <a:avLst/>
            <a:gdLst/>
            <a:ahLst/>
            <a:cxnLst/>
            <a:rect l="l" t="t" r="r" b="b"/>
            <a:pathLst>
              <a:path w="368934" h="372109">
                <a:moveTo>
                  <a:pt x="232422" y="38227"/>
                </a:moveTo>
                <a:lnTo>
                  <a:pt x="194475" y="0"/>
                </a:lnTo>
                <a:lnTo>
                  <a:pt x="0" y="195897"/>
                </a:lnTo>
                <a:lnTo>
                  <a:pt x="0" y="202234"/>
                </a:lnTo>
                <a:lnTo>
                  <a:pt x="54457" y="257086"/>
                </a:lnTo>
                <a:lnTo>
                  <a:pt x="92405" y="218859"/>
                </a:lnTo>
                <a:lnTo>
                  <a:pt x="74295" y="200609"/>
                </a:lnTo>
                <a:lnTo>
                  <a:pt x="74295" y="197446"/>
                </a:lnTo>
                <a:lnTo>
                  <a:pt x="76238" y="195491"/>
                </a:lnTo>
                <a:lnTo>
                  <a:pt x="232422" y="38227"/>
                </a:lnTo>
                <a:close/>
              </a:path>
              <a:path w="368934" h="372109">
                <a:moveTo>
                  <a:pt x="368655" y="175463"/>
                </a:moveTo>
                <a:lnTo>
                  <a:pt x="330720" y="137261"/>
                </a:lnTo>
                <a:lnTo>
                  <a:pt x="172427" y="296735"/>
                </a:lnTo>
                <a:lnTo>
                  <a:pt x="169291" y="296735"/>
                </a:lnTo>
                <a:lnTo>
                  <a:pt x="151180" y="278485"/>
                </a:lnTo>
                <a:lnTo>
                  <a:pt x="113233" y="316712"/>
                </a:lnTo>
                <a:lnTo>
                  <a:pt x="167690" y="371563"/>
                </a:lnTo>
                <a:lnTo>
                  <a:pt x="173977" y="371563"/>
                </a:lnTo>
                <a:lnTo>
                  <a:pt x="248272" y="296735"/>
                </a:lnTo>
                <a:lnTo>
                  <a:pt x="368655" y="1754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57" y="250446"/>
            <a:ext cx="252302" cy="23114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403264" y="364205"/>
            <a:ext cx="230504" cy="255270"/>
          </a:xfrm>
          <a:custGeom>
            <a:avLst/>
            <a:gdLst/>
            <a:ahLst/>
            <a:cxnLst/>
            <a:rect l="l" t="t" r="r" b="b"/>
            <a:pathLst>
              <a:path w="230504" h="255270">
                <a:moveTo>
                  <a:pt x="175748" y="0"/>
                </a:moveTo>
                <a:lnTo>
                  <a:pt x="137798" y="38227"/>
                </a:lnTo>
                <a:lnTo>
                  <a:pt x="153963" y="54509"/>
                </a:lnTo>
                <a:lnTo>
                  <a:pt x="155908" y="56470"/>
                </a:lnTo>
                <a:lnTo>
                  <a:pt x="155908" y="59630"/>
                </a:lnTo>
                <a:lnTo>
                  <a:pt x="0" y="216678"/>
                </a:lnTo>
                <a:lnTo>
                  <a:pt x="37950" y="254905"/>
                </a:lnTo>
                <a:lnTo>
                  <a:pt x="230219" y="61230"/>
                </a:lnTo>
                <a:lnTo>
                  <a:pt x="230219" y="54890"/>
                </a:lnTo>
                <a:lnTo>
                  <a:pt x="226347" y="50990"/>
                </a:lnTo>
                <a:lnTo>
                  <a:pt x="1757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2769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2769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77940"/>
            <a:ext cx="2804160" cy="27699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45280" y="6377940"/>
            <a:ext cx="3901440" cy="276999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402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55027" y="211612"/>
            <a:ext cx="9801225" cy="10972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7575" y="2098992"/>
            <a:ext cx="8703310" cy="143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6">
            <a:extLst>
              <a:ext uri="{FF2B5EF4-FFF2-40B4-BE49-F238E27FC236}">
                <a16:creationId xmlns:a16="http://schemas.microsoft.com/office/drawing/2014/main" id="{9ED7B8BF-4802-9411-B9EB-1D61C7544BB3}"/>
              </a:ext>
            </a:extLst>
          </p:cNvPr>
          <p:cNvGrpSpPr/>
          <p:nvPr/>
        </p:nvGrpSpPr>
        <p:grpSpPr>
          <a:xfrm>
            <a:off x="10106025" y="76200"/>
            <a:ext cx="2085975" cy="1666875"/>
            <a:chOff x="10115550" y="-9525"/>
            <a:chExt cx="2085975" cy="1666875"/>
          </a:xfrm>
        </p:grpSpPr>
        <p:sp>
          <p:nvSpPr>
            <p:cNvPr id="5" name="object 7">
              <a:extLst>
                <a:ext uri="{FF2B5EF4-FFF2-40B4-BE49-F238E27FC236}">
                  <a16:creationId xmlns:a16="http://schemas.microsoft.com/office/drawing/2014/main" id="{93C2435D-86AB-21E0-9A25-19A985E164D3}"/>
                </a:ext>
              </a:extLst>
            </p:cNvPr>
            <p:cNvSpPr/>
            <p:nvPr/>
          </p:nvSpPr>
          <p:spPr>
            <a:xfrm>
              <a:off x="10125075" y="0"/>
              <a:ext cx="2066925" cy="1647825"/>
            </a:xfrm>
            <a:custGeom>
              <a:avLst/>
              <a:gdLst/>
              <a:ahLst/>
              <a:cxnLst/>
              <a:rect l="l" t="t" r="r" b="b"/>
              <a:pathLst>
                <a:path w="2066925" h="1647825">
                  <a:moveTo>
                    <a:pt x="2066925" y="0"/>
                  </a:moveTo>
                  <a:lnTo>
                    <a:pt x="5140" y="0"/>
                  </a:lnTo>
                  <a:lnTo>
                    <a:pt x="2998" y="27450"/>
                  </a:lnTo>
                  <a:lnTo>
                    <a:pt x="753" y="75449"/>
                  </a:lnTo>
                  <a:lnTo>
                    <a:pt x="0" y="123825"/>
                  </a:lnTo>
                  <a:lnTo>
                    <a:pt x="753" y="172200"/>
                  </a:lnTo>
                  <a:lnTo>
                    <a:pt x="2998" y="220199"/>
                  </a:lnTo>
                  <a:lnTo>
                    <a:pt x="6713" y="267800"/>
                  </a:lnTo>
                  <a:lnTo>
                    <a:pt x="11874" y="314981"/>
                  </a:lnTo>
                  <a:lnTo>
                    <a:pt x="18461" y="361720"/>
                  </a:lnTo>
                  <a:lnTo>
                    <a:pt x="26450" y="407993"/>
                  </a:lnTo>
                  <a:lnTo>
                    <a:pt x="35820" y="453779"/>
                  </a:lnTo>
                  <a:lnTo>
                    <a:pt x="46547" y="499056"/>
                  </a:lnTo>
                  <a:lnTo>
                    <a:pt x="58610" y="543800"/>
                  </a:lnTo>
                  <a:lnTo>
                    <a:pt x="71986" y="587990"/>
                  </a:lnTo>
                  <a:lnTo>
                    <a:pt x="86653" y="631604"/>
                  </a:lnTo>
                  <a:lnTo>
                    <a:pt x="102589" y="674618"/>
                  </a:lnTo>
                  <a:lnTo>
                    <a:pt x="119770" y="717012"/>
                  </a:lnTo>
                  <a:lnTo>
                    <a:pt x="138176" y="758762"/>
                  </a:lnTo>
                  <a:lnTo>
                    <a:pt x="157784" y="799845"/>
                  </a:lnTo>
                  <a:lnTo>
                    <a:pt x="178570" y="840241"/>
                  </a:lnTo>
                  <a:lnTo>
                    <a:pt x="200514" y="879926"/>
                  </a:lnTo>
                  <a:lnTo>
                    <a:pt x="223593" y="918879"/>
                  </a:lnTo>
                  <a:lnTo>
                    <a:pt x="247783" y="957076"/>
                  </a:lnTo>
                  <a:lnTo>
                    <a:pt x="273064" y="994495"/>
                  </a:lnTo>
                  <a:lnTo>
                    <a:pt x="299412" y="1031115"/>
                  </a:lnTo>
                  <a:lnTo>
                    <a:pt x="326806" y="1066913"/>
                  </a:lnTo>
                  <a:lnTo>
                    <a:pt x="355223" y="1101866"/>
                  </a:lnTo>
                  <a:lnTo>
                    <a:pt x="384641" y="1135952"/>
                  </a:lnTo>
                  <a:lnTo>
                    <a:pt x="415037" y="1169150"/>
                  </a:lnTo>
                  <a:lnTo>
                    <a:pt x="446389" y="1201435"/>
                  </a:lnTo>
                  <a:lnTo>
                    <a:pt x="478674" y="1232787"/>
                  </a:lnTo>
                  <a:lnTo>
                    <a:pt x="511872" y="1263183"/>
                  </a:lnTo>
                  <a:lnTo>
                    <a:pt x="545958" y="1292601"/>
                  </a:lnTo>
                  <a:lnTo>
                    <a:pt x="580911" y="1321018"/>
                  </a:lnTo>
                  <a:lnTo>
                    <a:pt x="616709" y="1348412"/>
                  </a:lnTo>
                  <a:lnTo>
                    <a:pt x="653329" y="1374760"/>
                  </a:lnTo>
                  <a:lnTo>
                    <a:pt x="690748" y="1400041"/>
                  </a:lnTo>
                  <a:lnTo>
                    <a:pt x="728945" y="1424231"/>
                  </a:lnTo>
                  <a:lnTo>
                    <a:pt x="767898" y="1447310"/>
                  </a:lnTo>
                  <a:lnTo>
                    <a:pt x="807583" y="1469254"/>
                  </a:lnTo>
                  <a:lnTo>
                    <a:pt x="847979" y="1490040"/>
                  </a:lnTo>
                  <a:lnTo>
                    <a:pt x="889062" y="1509648"/>
                  </a:lnTo>
                  <a:lnTo>
                    <a:pt x="930812" y="1528054"/>
                  </a:lnTo>
                  <a:lnTo>
                    <a:pt x="973206" y="1545235"/>
                  </a:lnTo>
                  <a:lnTo>
                    <a:pt x="1016220" y="1561171"/>
                  </a:lnTo>
                  <a:lnTo>
                    <a:pt x="1059834" y="1575838"/>
                  </a:lnTo>
                  <a:lnTo>
                    <a:pt x="1104024" y="1589214"/>
                  </a:lnTo>
                  <a:lnTo>
                    <a:pt x="1148768" y="1601277"/>
                  </a:lnTo>
                  <a:lnTo>
                    <a:pt x="1194045" y="1612004"/>
                  </a:lnTo>
                  <a:lnTo>
                    <a:pt x="1239831" y="1621374"/>
                  </a:lnTo>
                  <a:lnTo>
                    <a:pt x="1286104" y="1629363"/>
                  </a:lnTo>
                  <a:lnTo>
                    <a:pt x="1332843" y="1635950"/>
                  </a:lnTo>
                  <a:lnTo>
                    <a:pt x="1380024" y="1641111"/>
                  </a:lnTo>
                  <a:lnTo>
                    <a:pt x="1427625" y="1644826"/>
                  </a:lnTo>
                  <a:lnTo>
                    <a:pt x="1475624" y="1647071"/>
                  </a:lnTo>
                  <a:lnTo>
                    <a:pt x="1524000" y="1647825"/>
                  </a:lnTo>
                  <a:lnTo>
                    <a:pt x="1572375" y="1647071"/>
                  </a:lnTo>
                  <a:lnTo>
                    <a:pt x="1620374" y="1644826"/>
                  </a:lnTo>
                  <a:lnTo>
                    <a:pt x="1667975" y="1641111"/>
                  </a:lnTo>
                  <a:lnTo>
                    <a:pt x="1715156" y="1635950"/>
                  </a:lnTo>
                  <a:lnTo>
                    <a:pt x="1761895" y="1629363"/>
                  </a:lnTo>
                  <a:lnTo>
                    <a:pt x="1808168" y="1621374"/>
                  </a:lnTo>
                  <a:lnTo>
                    <a:pt x="1853954" y="1612004"/>
                  </a:lnTo>
                  <a:lnTo>
                    <a:pt x="1899231" y="1601277"/>
                  </a:lnTo>
                  <a:lnTo>
                    <a:pt x="1943975" y="1589214"/>
                  </a:lnTo>
                  <a:lnTo>
                    <a:pt x="1988165" y="1575838"/>
                  </a:lnTo>
                  <a:lnTo>
                    <a:pt x="2031779" y="1561171"/>
                  </a:lnTo>
                  <a:lnTo>
                    <a:pt x="2066925" y="1548151"/>
                  </a:lnTo>
                  <a:lnTo>
                    <a:pt x="20669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8">
              <a:extLst>
                <a:ext uri="{FF2B5EF4-FFF2-40B4-BE49-F238E27FC236}">
                  <a16:creationId xmlns:a16="http://schemas.microsoft.com/office/drawing/2014/main" id="{2812E270-21E9-B66F-47B2-E8AFED974E04}"/>
                </a:ext>
              </a:extLst>
            </p:cNvPr>
            <p:cNvSpPr/>
            <p:nvPr/>
          </p:nvSpPr>
          <p:spPr>
            <a:xfrm>
              <a:off x="10125075" y="0"/>
              <a:ext cx="2066925" cy="1647825"/>
            </a:xfrm>
            <a:custGeom>
              <a:avLst/>
              <a:gdLst/>
              <a:ahLst/>
              <a:cxnLst/>
              <a:rect l="l" t="t" r="r" b="b"/>
              <a:pathLst>
                <a:path w="2066925" h="1647825">
                  <a:moveTo>
                    <a:pt x="2066925" y="1548151"/>
                  </a:moveTo>
                  <a:lnTo>
                    <a:pt x="1988165" y="1575838"/>
                  </a:lnTo>
                  <a:lnTo>
                    <a:pt x="1943975" y="1589214"/>
                  </a:lnTo>
                  <a:lnTo>
                    <a:pt x="1899231" y="1601277"/>
                  </a:lnTo>
                  <a:lnTo>
                    <a:pt x="1853954" y="1612004"/>
                  </a:lnTo>
                  <a:lnTo>
                    <a:pt x="1808168" y="1621374"/>
                  </a:lnTo>
                  <a:lnTo>
                    <a:pt x="1761895" y="1629363"/>
                  </a:lnTo>
                  <a:lnTo>
                    <a:pt x="1715156" y="1635950"/>
                  </a:lnTo>
                  <a:lnTo>
                    <a:pt x="1667975" y="1641111"/>
                  </a:lnTo>
                  <a:lnTo>
                    <a:pt x="1620374" y="1644826"/>
                  </a:lnTo>
                  <a:lnTo>
                    <a:pt x="1572375" y="1647071"/>
                  </a:lnTo>
                  <a:lnTo>
                    <a:pt x="1524000" y="1647825"/>
                  </a:lnTo>
                  <a:lnTo>
                    <a:pt x="1475624" y="1647071"/>
                  </a:lnTo>
                  <a:lnTo>
                    <a:pt x="1427625" y="1644826"/>
                  </a:lnTo>
                  <a:lnTo>
                    <a:pt x="1380024" y="1641111"/>
                  </a:lnTo>
                  <a:lnTo>
                    <a:pt x="1332843" y="1635950"/>
                  </a:lnTo>
                  <a:lnTo>
                    <a:pt x="1286104" y="1629363"/>
                  </a:lnTo>
                  <a:lnTo>
                    <a:pt x="1239831" y="1621374"/>
                  </a:lnTo>
                  <a:lnTo>
                    <a:pt x="1194045" y="1612004"/>
                  </a:lnTo>
                  <a:lnTo>
                    <a:pt x="1148768" y="1601277"/>
                  </a:lnTo>
                  <a:lnTo>
                    <a:pt x="1104024" y="1589214"/>
                  </a:lnTo>
                  <a:lnTo>
                    <a:pt x="1059834" y="1575838"/>
                  </a:lnTo>
                  <a:lnTo>
                    <a:pt x="1016220" y="1561171"/>
                  </a:lnTo>
                  <a:lnTo>
                    <a:pt x="973206" y="1545235"/>
                  </a:lnTo>
                  <a:lnTo>
                    <a:pt x="930812" y="1528054"/>
                  </a:lnTo>
                  <a:lnTo>
                    <a:pt x="889062" y="1509648"/>
                  </a:lnTo>
                  <a:lnTo>
                    <a:pt x="847979" y="1490040"/>
                  </a:lnTo>
                  <a:lnTo>
                    <a:pt x="807583" y="1469254"/>
                  </a:lnTo>
                  <a:lnTo>
                    <a:pt x="767898" y="1447310"/>
                  </a:lnTo>
                  <a:lnTo>
                    <a:pt x="728945" y="1424231"/>
                  </a:lnTo>
                  <a:lnTo>
                    <a:pt x="690748" y="1400041"/>
                  </a:lnTo>
                  <a:lnTo>
                    <a:pt x="653329" y="1374760"/>
                  </a:lnTo>
                  <a:lnTo>
                    <a:pt x="616709" y="1348412"/>
                  </a:lnTo>
                  <a:lnTo>
                    <a:pt x="580911" y="1321018"/>
                  </a:lnTo>
                  <a:lnTo>
                    <a:pt x="545958" y="1292601"/>
                  </a:lnTo>
                  <a:lnTo>
                    <a:pt x="511872" y="1263183"/>
                  </a:lnTo>
                  <a:lnTo>
                    <a:pt x="478674" y="1232787"/>
                  </a:lnTo>
                  <a:lnTo>
                    <a:pt x="446389" y="1201435"/>
                  </a:lnTo>
                  <a:lnTo>
                    <a:pt x="415037" y="1169150"/>
                  </a:lnTo>
                  <a:lnTo>
                    <a:pt x="384641" y="1135952"/>
                  </a:lnTo>
                  <a:lnTo>
                    <a:pt x="355223" y="1101866"/>
                  </a:lnTo>
                  <a:lnTo>
                    <a:pt x="326806" y="1066913"/>
                  </a:lnTo>
                  <a:lnTo>
                    <a:pt x="299412" y="1031115"/>
                  </a:lnTo>
                  <a:lnTo>
                    <a:pt x="273064" y="994495"/>
                  </a:lnTo>
                  <a:lnTo>
                    <a:pt x="247783" y="957076"/>
                  </a:lnTo>
                  <a:lnTo>
                    <a:pt x="223593" y="918879"/>
                  </a:lnTo>
                  <a:lnTo>
                    <a:pt x="200514" y="879926"/>
                  </a:lnTo>
                  <a:lnTo>
                    <a:pt x="178570" y="840241"/>
                  </a:lnTo>
                  <a:lnTo>
                    <a:pt x="157784" y="799845"/>
                  </a:lnTo>
                  <a:lnTo>
                    <a:pt x="138176" y="758762"/>
                  </a:lnTo>
                  <a:lnTo>
                    <a:pt x="119770" y="717012"/>
                  </a:lnTo>
                  <a:lnTo>
                    <a:pt x="102589" y="674618"/>
                  </a:lnTo>
                  <a:lnTo>
                    <a:pt x="86653" y="631604"/>
                  </a:lnTo>
                  <a:lnTo>
                    <a:pt x="71986" y="587990"/>
                  </a:lnTo>
                  <a:lnTo>
                    <a:pt x="58610" y="543800"/>
                  </a:lnTo>
                  <a:lnTo>
                    <a:pt x="46547" y="499056"/>
                  </a:lnTo>
                  <a:lnTo>
                    <a:pt x="35820" y="453779"/>
                  </a:lnTo>
                  <a:lnTo>
                    <a:pt x="26450" y="407993"/>
                  </a:lnTo>
                  <a:lnTo>
                    <a:pt x="18461" y="361720"/>
                  </a:lnTo>
                  <a:lnTo>
                    <a:pt x="11874" y="314981"/>
                  </a:lnTo>
                  <a:lnTo>
                    <a:pt x="6713" y="267800"/>
                  </a:lnTo>
                  <a:lnTo>
                    <a:pt x="2998" y="220199"/>
                  </a:lnTo>
                  <a:lnTo>
                    <a:pt x="753" y="172200"/>
                  </a:lnTo>
                  <a:lnTo>
                    <a:pt x="0" y="123825"/>
                  </a:lnTo>
                  <a:lnTo>
                    <a:pt x="753" y="75449"/>
                  </a:lnTo>
                  <a:lnTo>
                    <a:pt x="2998" y="27450"/>
                  </a:lnTo>
                  <a:lnTo>
                    <a:pt x="5140" y="0"/>
                  </a:lnTo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3">
            <a:extLst>
              <a:ext uri="{FF2B5EF4-FFF2-40B4-BE49-F238E27FC236}">
                <a16:creationId xmlns:a16="http://schemas.microsoft.com/office/drawing/2014/main" id="{97A54B44-C534-0EBF-354F-D45B7ED608BF}"/>
              </a:ext>
            </a:extLst>
          </p:cNvPr>
          <p:cNvSpPr txBox="1"/>
          <p:nvPr/>
        </p:nvSpPr>
        <p:spPr>
          <a:xfrm>
            <a:off x="5292090" y="1206182"/>
            <a:ext cx="16160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50" dirty="0">
                <a:latin typeface="Trebuchet MS"/>
                <a:cs typeface="Trebuchet MS"/>
              </a:rPr>
              <a:t>Session</a:t>
            </a:r>
            <a:r>
              <a:rPr sz="2400" spc="-15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#0</a:t>
            </a:r>
            <a:r>
              <a:rPr lang="en-US" sz="2400" spc="-25" dirty="0">
                <a:latin typeface="Trebuchet MS"/>
                <a:cs typeface="Trebuchet MS"/>
              </a:rPr>
              <a:t>9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85D8B188-3BEF-3708-BE9A-3283023B826F}"/>
              </a:ext>
            </a:extLst>
          </p:cNvPr>
          <p:cNvSpPr txBox="1"/>
          <p:nvPr/>
        </p:nvSpPr>
        <p:spPr>
          <a:xfrm>
            <a:off x="2819400" y="2590800"/>
            <a:ext cx="864870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400" dirty="0"/>
              <a:t>Fraud Detection Pipeline</a:t>
            </a:r>
            <a:endParaRPr lang="en-IN" sz="4400" dirty="0">
              <a:latin typeface="Trebuchet MS"/>
              <a:cs typeface="Trebuchet M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944146-D6B3-E6C7-C2D8-ABDDD4DD4EE5}"/>
              </a:ext>
            </a:extLst>
          </p:cNvPr>
          <p:cNvSpPr txBox="1"/>
          <p:nvPr/>
        </p:nvSpPr>
        <p:spPr>
          <a:xfrm>
            <a:off x="487017" y="44726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pSp>
        <p:nvGrpSpPr>
          <p:cNvPr id="15" name="object 4">
            <a:extLst>
              <a:ext uri="{FF2B5EF4-FFF2-40B4-BE49-F238E27FC236}">
                <a16:creationId xmlns:a16="http://schemas.microsoft.com/office/drawing/2014/main" id="{0F5EE9FC-78FF-A658-896F-05C767618F04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16" name="object 5">
              <a:extLst>
                <a:ext uri="{FF2B5EF4-FFF2-40B4-BE49-F238E27FC236}">
                  <a16:creationId xmlns:a16="http://schemas.microsoft.com/office/drawing/2014/main" id="{CB7838B8-B9C2-A189-8C2C-C531B953421C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6">
              <a:extLst>
                <a:ext uri="{FF2B5EF4-FFF2-40B4-BE49-F238E27FC236}">
                  <a16:creationId xmlns:a16="http://schemas.microsoft.com/office/drawing/2014/main" id="{BF0F943D-80FA-0E62-4541-D616E35A8B2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18" name="object 7">
              <a:extLst>
                <a:ext uri="{FF2B5EF4-FFF2-40B4-BE49-F238E27FC236}">
                  <a16:creationId xmlns:a16="http://schemas.microsoft.com/office/drawing/2014/main" id="{0995AAF2-0078-58B1-535F-AA3E76E14534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8">
            <a:extLst>
              <a:ext uri="{FF2B5EF4-FFF2-40B4-BE49-F238E27FC236}">
                <a16:creationId xmlns:a16="http://schemas.microsoft.com/office/drawing/2014/main" id="{67FDF485-D219-B80B-87B9-094D20FD4139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/>
              <a:t>Datachains</a:t>
            </a:r>
            <a:endParaRPr lang="en-IN" spc="-10" dirty="0"/>
          </a:p>
        </p:txBody>
      </p:sp>
      <p:sp>
        <p:nvSpPr>
          <p:cNvPr id="26" name="object 9">
            <a:extLst>
              <a:ext uri="{FF2B5EF4-FFF2-40B4-BE49-F238E27FC236}">
                <a16:creationId xmlns:a16="http://schemas.microsoft.com/office/drawing/2014/main" id="{D1F75B9D-D0FC-7691-F4C5-094D3D34BC02}"/>
              </a:ext>
            </a:extLst>
          </p:cNvPr>
          <p:cNvSpPr txBox="1"/>
          <p:nvPr/>
        </p:nvSpPr>
        <p:spPr>
          <a:xfrm>
            <a:off x="10886440" y="509206"/>
            <a:ext cx="924560" cy="18530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1100" spc="-50" dirty="0">
                <a:solidFill>
                  <a:srgbClr val="FFFFFF"/>
                </a:solidFill>
                <a:latin typeface="Trebuchet MS"/>
                <a:cs typeface="Trebuchet MS"/>
              </a:rPr>
              <a:t> 6 Oct </a:t>
            </a:r>
            <a:r>
              <a:rPr sz="1100" spc="-20" dirty="0">
                <a:solidFill>
                  <a:srgbClr val="FFFFFF"/>
                </a:solidFill>
                <a:latin typeface="Trebuchet MS"/>
                <a:cs typeface="Trebuchet MS"/>
              </a:rPr>
              <a:t>2025</a:t>
            </a:r>
            <a:endParaRPr sz="11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>
            <a:extLst>
              <a:ext uri="{FF2B5EF4-FFF2-40B4-BE49-F238E27FC236}">
                <a16:creationId xmlns:a16="http://schemas.microsoft.com/office/drawing/2014/main" id="{E5B60FB2-A803-AB58-C6F3-DFDF9014DFA1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386B3B0-8577-1EDD-B966-7F9B32403E70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DE2244AC-D025-ACC6-1BF3-EBF0AF1C984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4081909A-0522-2FD2-C6F7-79492AB23779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416C7B6B-50B0-50AF-FF4B-503F903A97C5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 err="1"/>
              <a:t>Datachains</a:t>
            </a:r>
            <a:endParaRPr lang="en-IN" spc="-10" dirty="0"/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EEE1B15C-21E3-7992-FFAE-B0C92A99FB67}"/>
              </a:ext>
            </a:extLst>
          </p:cNvPr>
          <p:cNvSpPr txBox="1"/>
          <p:nvPr/>
        </p:nvSpPr>
        <p:spPr>
          <a:xfrm>
            <a:off x="4000500" y="481586"/>
            <a:ext cx="937260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4400" dirty="0"/>
              <a:t>Agenda </a:t>
            </a:r>
            <a:endParaRPr sz="4400" dirty="0">
              <a:latin typeface="Trebuchet MS"/>
              <a:cs typeface="Trebuchet MS"/>
            </a:endParaRPr>
          </a:p>
        </p:txBody>
      </p:sp>
      <p:grpSp>
        <p:nvGrpSpPr>
          <p:cNvPr id="12" name="object 9">
            <a:extLst>
              <a:ext uri="{FF2B5EF4-FFF2-40B4-BE49-F238E27FC236}">
                <a16:creationId xmlns:a16="http://schemas.microsoft.com/office/drawing/2014/main" id="{76A9C592-722E-0ED6-727D-0ADDB35F1145}"/>
              </a:ext>
            </a:extLst>
          </p:cNvPr>
          <p:cNvGrpSpPr/>
          <p:nvPr/>
        </p:nvGrpSpPr>
        <p:grpSpPr>
          <a:xfrm>
            <a:off x="6799806" y="4505325"/>
            <a:ext cx="5298440" cy="2362200"/>
            <a:chOff x="6799806" y="4505325"/>
            <a:chExt cx="5298440" cy="2362200"/>
          </a:xfrm>
        </p:grpSpPr>
        <p:sp>
          <p:nvSpPr>
            <p:cNvPr id="13" name="object 10">
              <a:extLst>
                <a:ext uri="{FF2B5EF4-FFF2-40B4-BE49-F238E27FC236}">
                  <a16:creationId xmlns:a16="http://schemas.microsoft.com/office/drawing/2014/main" id="{F6548E6A-8BB2-506A-3236-16DEF4214469}"/>
                </a:ext>
              </a:extLst>
            </p:cNvPr>
            <p:cNvSpPr/>
            <p:nvPr/>
          </p:nvSpPr>
          <p:spPr>
            <a:xfrm>
              <a:off x="6809331" y="4514850"/>
              <a:ext cx="5279390" cy="2343150"/>
            </a:xfrm>
            <a:custGeom>
              <a:avLst/>
              <a:gdLst/>
              <a:ahLst/>
              <a:cxnLst/>
              <a:rect l="l" t="t" r="r" b="b"/>
              <a:pathLst>
                <a:path w="5279390" h="2343150">
                  <a:moveTo>
                    <a:pt x="2639468" y="0"/>
                  </a:moveTo>
                  <a:lnTo>
                    <a:pt x="2591183" y="429"/>
                  </a:lnTo>
                  <a:lnTo>
                    <a:pt x="2543106" y="1711"/>
                  </a:lnTo>
                  <a:lnTo>
                    <a:pt x="2495246" y="3839"/>
                  </a:lnTo>
                  <a:lnTo>
                    <a:pt x="2447608" y="6806"/>
                  </a:lnTo>
                  <a:lnTo>
                    <a:pt x="2400202" y="10605"/>
                  </a:lnTo>
                  <a:lnTo>
                    <a:pt x="2353033" y="15228"/>
                  </a:lnTo>
                  <a:lnTo>
                    <a:pt x="2306109" y="20668"/>
                  </a:lnTo>
                  <a:lnTo>
                    <a:pt x="2259437" y="26918"/>
                  </a:lnTo>
                  <a:lnTo>
                    <a:pt x="2213024" y="33970"/>
                  </a:lnTo>
                  <a:lnTo>
                    <a:pt x="2166879" y="41818"/>
                  </a:lnTo>
                  <a:lnTo>
                    <a:pt x="2121007" y="50453"/>
                  </a:lnTo>
                  <a:lnTo>
                    <a:pt x="2075417" y="59870"/>
                  </a:lnTo>
                  <a:lnTo>
                    <a:pt x="2030115" y="70060"/>
                  </a:lnTo>
                  <a:lnTo>
                    <a:pt x="1985109" y="81016"/>
                  </a:lnTo>
                  <a:lnTo>
                    <a:pt x="1940407" y="92732"/>
                  </a:lnTo>
                  <a:lnTo>
                    <a:pt x="1896014" y="105199"/>
                  </a:lnTo>
                  <a:lnTo>
                    <a:pt x="1851939" y="118410"/>
                  </a:lnTo>
                  <a:lnTo>
                    <a:pt x="1808189" y="132359"/>
                  </a:lnTo>
                  <a:lnTo>
                    <a:pt x="1764771" y="147039"/>
                  </a:lnTo>
                  <a:lnTo>
                    <a:pt x="1721692" y="162441"/>
                  </a:lnTo>
                  <a:lnTo>
                    <a:pt x="1678960" y="178558"/>
                  </a:lnTo>
                  <a:lnTo>
                    <a:pt x="1636582" y="195384"/>
                  </a:lnTo>
                  <a:lnTo>
                    <a:pt x="1594565" y="212911"/>
                  </a:lnTo>
                  <a:lnTo>
                    <a:pt x="1552916" y="231131"/>
                  </a:lnTo>
                  <a:lnTo>
                    <a:pt x="1511643" y="250039"/>
                  </a:lnTo>
                  <a:lnTo>
                    <a:pt x="1470753" y="269625"/>
                  </a:lnTo>
                  <a:lnTo>
                    <a:pt x="1430253" y="289884"/>
                  </a:lnTo>
                  <a:lnTo>
                    <a:pt x="1390150" y="310808"/>
                  </a:lnTo>
                  <a:lnTo>
                    <a:pt x="1350453" y="332389"/>
                  </a:lnTo>
                  <a:lnTo>
                    <a:pt x="1311167" y="354620"/>
                  </a:lnTo>
                  <a:lnTo>
                    <a:pt x="1272300" y="377495"/>
                  </a:lnTo>
                  <a:lnTo>
                    <a:pt x="1233860" y="401005"/>
                  </a:lnTo>
                  <a:lnTo>
                    <a:pt x="1195853" y="425144"/>
                  </a:lnTo>
                  <a:lnTo>
                    <a:pt x="1158288" y="449904"/>
                  </a:lnTo>
                  <a:lnTo>
                    <a:pt x="1121170" y="475279"/>
                  </a:lnTo>
                  <a:lnTo>
                    <a:pt x="1084509" y="501260"/>
                  </a:lnTo>
                  <a:lnTo>
                    <a:pt x="1048310" y="527841"/>
                  </a:lnTo>
                  <a:lnTo>
                    <a:pt x="1012581" y="555014"/>
                  </a:lnTo>
                  <a:lnTo>
                    <a:pt x="977329" y="582773"/>
                  </a:lnTo>
                  <a:lnTo>
                    <a:pt x="942562" y="611109"/>
                  </a:lnTo>
                  <a:lnTo>
                    <a:pt x="908287" y="640016"/>
                  </a:lnTo>
                  <a:lnTo>
                    <a:pt x="874510" y="669486"/>
                  </a:lnTo>
                  <a:lnTo>
                    <a:pt x="841240" y="699512"/>
                  </a:lnTo>
                  <a:lnTo>
                    <a:pt x="808484" y="730087"/>
                  </a:lnTo>
                  <a:lnTo>
                    <a:pt x="776248" y="761204"/>
                  </a:lnTo>
                  <a:lnTo>
                    <a:pt x="744541" y="792855"/>
                  </a:lnTo>
                  <a:lnTo>
                    <a:pt x="713369" y="825033"/>
                  </a:lnTo>
                  <a:lnTo>
                    <a:pt x="682739" y="857732"/>
                  </a:lnTo>
                  <a:lnTo>
                    <a:pt x="652659" y="890942"/>
                  </a:lnTo>
                  <a:lnTo>
                    <a:pt x="623137" y="924659"/>
                  </a:lnTo>
                  <a:lnTo>
                    <a:pt x="594179" y="958873"/>
                  </a:lnTo>
                  <a:lnTo>
                    <a:pt x="565792" y="993578"/>
                  </a:lnTo>
                  <a:lnTo>
                    <a:pt x="537985" y="1028767"/>
                  </a:lnTo>
                  <a:lnTo>
                    <a:pt x="510763" y="1064432"/>
                  </a:lnTo>
                  <a:lnTo>
                    <a:pt x="484135" y="1100567"/>
                  </a:lnTo>
                  <a:lnTo>
                    <a:pt x="458108" y="1137163"/>
                  </a:lnTo>
                  <a:lnTo>
                    <a:pt x="432689" y="1174214"/>
                  </a:lnTo>
                  <a:lnTo>
                    <a:pt x="407885" y="1211712"/>
                  </a:lnTo>
                  <a:lnTo>
                    <a:pt x="383703" y="1249651"/>
                  </a:lnTo>
                  <a:lnTo>
                    <a:pt x="360151" y="1288022"/>
                  </a:lnTo>
                  <a:lnTo>
                    <a:pt x="337236" y="1326819"/>
                  </a:lnTo>
                  <a:lnTo>
                    <a:pt x="314966" y="1366035"/>
                  </a:lnTo>
                  <a:lnTo>
                    <a:pt x="293346" y="1405661"/>
                  </a:lnTo>
                  <a:lnTo>
                    <a:pt x="272386" y="1445692"/>
                  </a:lnTo>
                  <a:lnTo>
                    <a:pt x="252092" y="1486119"/>
                  </a:lnTo>
                  <a:lnTo>
                    <a:pt x="232471" y="1526935"/>
                  </a:lnTo>
                  <a:lnTo>
                    <a:pt x="213530" y="1568134"/>
                  </a:lnTo>
                  <a:lnTo>
                    <a:pt x="195277" y="1609708"/>
                  </a:lnTo>
                  <a:lnTo>
                    <a:pt x="177719" y="1651649"/>
                  </a:lnTo>
                  <a:lnTo>
                    <a:pt x="160864" y="1693951"/>
                  </a:lnTo>
                  <a:lnTo>
                    <a:pt x="144718" y="1736606"/>
                  </a:lnTo>
                  <a:lnTo>
                    <a:pt x="129289" y="1779607"/>
                  </a:lnTo>
                  <a:lnTo>
                    <a:pt x="114584" y="1822947"/>
                  </a:lnTo>
                  <a:lnTo>
                    <a:pt x="100611" y="1866618"/>
                  </a:lnTo>
                  <a:lnTo>
                    <a:pt x="87376" y="1910613"/>
                  </a:lnTo>
                  <a:lnTo>
                    <a:pt x="74887" y="1954925"/>
                  </a:lnTo>
                  <a:lnTo>
                    <a:pt x="63151" y="1999547"/>
                  </a:lnTo>
                  <a:lnTo>
                    <a:pt x="52176" y="2044471"/>
                  </a:lnTo>
                  <a:lnTo>
                    <a:pt x="41968" y="2089691"/>
                  </a:lnTo>
                  <a:lnTo>
                    <a:pt x="32535" y="2135198"/>
                  </a:lnTo>
                  <a:lnTo>
                    <a:pt x="23884" y="2180986"/>
                  </a:lnTo>
                  <a:lnTo>
                    <a:pt x="16023" y="2227048"/>
                  </a:lnTo>
                  <a:lnTo>
                    <a:pt x="8958" y="2273376"/>
                  </a:lnTo>
                  <a:lnTo>
                    <a:pt x="2697" y="2319963"/>
                  </a:lnTo>
                  <a:lnTo>
                    <a:pt x="0" y="2343150"/>
                  </a:lnTo>
                  <a:lnTo>
                    <a:pt x="5278936" y="2343150"/>
                  </a:lnTo>
                  <a:lnTo>
                    <a:pt x="5269977" y="2273376"/>
                  </a:lnTo>
                  <a:lnTo>
                    <a:pt x="5262913" y="2227048"/>
                  </a:lnTo>
                  <a:lnTo>
                    <a:pt x="5255051" y="2180986"/>
                  </a:lnTo>
                  <a:lnTo>
                    <a:pt x="5246401" y="2135198"/>
                  </a:lnTo>
                  <a:lnTo>
                    <a:pt x="5236968" y="2089691"/>
                  </a:lnTo>
                  <a:lnTo>
                    <a:pt x="5226760" y="2044471"/>
                  </a:lnTo>
                  <a:lnTo>
                    <a:pt x="5215784" y="1999547"/>
                  </a:lnTo>
                  <a:lnTo>
                    <a:pt x="5204048" y="1954925"/>
                  </a:lnTo>
                  <a:lnTo>
                    <a:pt x="5191559" y="1910613"/>
                  </a:lnTo>
                  <a:lnTo>
                    <a:pt x="5178324" y="1866618"/>
                  </a:lnTo>
                  <a:lnTo>
                    <a:pt x="5164351" y="1822947"/>
                  </a:lnTo>
                  <a:lnTo>
                    <a:pt x="5149646" y="1779607"/>
                  </a:lnTo>
                  <a:lnTo>
                    <a:pt x="5134217" y="1736606"/>
                  </a:lnTo>
                  <a:lnTo>
                    <a:pt x="5118071" y="1693951"/>
                  </a:lnTo>
                  <a:lnTo>
                    <a:pt x="5101216" y="1651649"/>
                  </a:lnTo>
                  <a:lnTo>
                    <a:pt x="5083658" y="1609708"/>
                  </a:lnTo>
                  <a:lnTo>
                    <a:pt x="5065405" y="1568134"/>
                  </a:lnTo>
                  <a:lnTo>
                    <a:pt x="5046465" y="1526935"/>
                  </a:lnTo>
                  <a:lnTo>
                    <a:pt x="5026844" y="1486119"/>
                  </a:lnTo>
                  <a:lnTo>
                    <a:pt x="5006549" y="1445692"/>
                  </a:lnTo>
                  <a:lnTo>
                    <a:pt x="4985589" y="1405661"/>
                  </a:lnTo>
                  <a:lnTo>
                    <a:pt x="4963970" y="1366035"/>
                  </a:lnTo>
                  <a:lnTo>
                    <a:pt x="4941699" y="1326819"/>
                  </a:lnTo>
                  <a:lnTo>
                    <a:pt x="4918784" y="1288022"/>
                  </a:lnTo>
                  <a:lnTo>
                    <a:pt x="4895232" y="1249651"/>
                  </a:lnTo>
                  <a:lnTo>
                    <a:pt x="4871050" y="1211712"/>
                  </a:lnTo>
                  <a:lnTo>
                    <a:pt x="4846246" y="1174214"/>
                  </a:lnTo>
                  <a:lnTo>
                    <a:pt x="4820827" y="1137163"/>
                  </a:lnTo>
                  <a:lnTo>
                    <a:pt x="4794800" y="1100567"/>
                  </a:lnTo>
                  <a:lnTo>
                    <a:pt x="4768172" y="1064432"/>
                  </a:lnTo>
                  <a:lnTo>
                    <a:pt x="4740950" y="1028767"/>
                  </a:lnTo>
                  <a:lnTo>
                    <a:pt x="4713143" y="993578"/>
                  </a:lnTo>
                  <a:lnTo>
                    <a:pt x="4684756" y="958873"/>
                  </a:lnTo>
                  <a:lnTo>
                    <a:pt x="4655798" y="924659"/>
                  </a:lnTo>
                  <a:lnTo>
                    <a:pt x="4626276" y="890942"/>
                  </a:lnTo>
                  <a:lnTo>
                    <a:pt x="4596196" y="857732"/>
                  </a:lnTo>
                  <a:lnTo>
                    <a:pt x="4565567" y="825033"/>
                  </a:lnTo>
                  <a:lnTo>
                    <a:pt x="4534395" y="792855"/>
                  </a:lnTo>
                  <a:lnTo>
                    <a:pt x="4502687" y="761204"/>
                  </a:lnTo>
                  <a:lnTo>
                    <a:pt x="4470451" y="730087"/>
                  </a:lnTo>
                  <a:lnTo>
                    <a:pt x="4437695" y="699512"/>
                  </a:lnTo>
                  <a:lnTo>
                    <a:pt x="4404425" y="669486"/>
                  </a:lnTo>
                  <a:lnTo>
                    <a:pt x="4370649" y="640016"/>
                  </a:lnTo>
                  <a:lnTo>
                    <a:pt x="4336373" y="611109"/>
                  </a:lnTo>
                  <a:lnTo>
                    <a:pt x="4301606" y="582773"/>
                  </a:lnTo>
                  <a:lnTo>
                    <a:pt x="4266355" y="555014"/>
                  </a:lnTo>
                  <a:lnTo>
                    <a:pt x="4230626" y="527841"/>
                  </a:lnTo>
                  <a:lnTo>
                    <a:pt x="4194427" y="501260"/>
                  </a:lnTo>
                  <a:lnTo>
                    <a:pt x="4157765" y="475279"/>
                  </a:lnTo>
                  <a:lnTo>
                    <a:pt x="4120648" y="449904"/>
                  </a:lnTo>
                  <a:lnTo>
                    <a:pt x="4083082" y="425144"/>
                  </a:lnTo>
                  <a:lnTo>
                    <a:pt x="4045075" y="401005"/>
                  </a:lnTo>
                  <a:lnTo>
                    <a:pt x="4006635" y="377495"/>
                  </a:lnTo>
                  <a:lnTo>
                    <a:pt x="3967769" y="354620"/>
                  </a:lnTo>
                  <a:lnTo>
                    <a:pt x="3928483" y="332389"/>
                  </a:lnTo>
                  <a:lnTo>
                    <a:pt x="3888785" y="310808"/>
                  </a:lnTo>
                  <a:lnTo>
                    <a:pt x="3848682" y="289884"/>
                  </a:lnTo>
                  <a:lnTo>
                    <a:pt x="3808182" y="269625"/>
                  </a:lnTo>
                  <a:lnTo>
                    <a:pt x="3767292" y="250039"/>
                  </a:lnTo>
                  <a:lnTo>
                    <a:pt x="3726019" y="231131"/>
                  </a:lnTo>
                  <a:lnTo>
                    <a:pt x="3684371" y="212911"/>
                  </a:lnTo>
                  <a:lnTo>
                    <a:pt x="3642353" y="195384"/>
                  </a:lnTo>
                  <a:lnTo>
                    <a:pt x="3599975" y="178558"/>
                  </a:lnTo>
                  <a:lnTo>
                    <a:pt x="3557243" y="162441"/>
                  </a:lnTo>
                  <a:lnTo>
                    <a:pt x="3514164" y="147039"/>
                  </a:lnTo>
                  <a:lnTo>
                    <a:pt x="3470746" y="132359"/>
                  </a:lnTo>
                  <a:lnTo>
                    <a:pt x="3426996" y="118410"/>
                  </a:lnTo>
                  <a:lnTo>
                    <a:pt x="3382921" y="105199"/>
                  </a:lnTo>
                  <a:lnTo>
                    <a:pt x="3338529" y="92732"/>
                  </a:lnTo>
                  <a:lnTo>
                    <a:pt x="3293826" y="81016"/>
                  </a:lnTo>
                  <a:lnTo>
                    <a:pt x="3248820" y="70060"/>
                  </a:lnTo>
                  <a:lnTo>
                    <a:pt x="3203518" y="59870"/>
                  </a:lnTo>
                  <a:lnTo>
                    <a:pt x="3157928" y="50453"/>
                  </a:lnTo>
                  <a:lnTo>
                    <a:pt x="3112056" y="41818"/>
                  </a:lnTo>
                  <a:lnTo>
                    <a:pt x="3065911" y="33970"/>
                  </a:lnTo>
                  <a:lnTo>
                    <a:pt x="3019499" y="26918"/>
                  </a:lnTo>
                  <a:lnTo>
                    <a:pt x="2972827" y="20668"/>
                  </a:lnTo>
                  <a:lnTo>
                    <a:pt x="2925903" y="15228"/>
                  </a:lnTo>
                  <a:lnTo>
                    <a:pt x="2878734" y="10605"/>
                  </a:lnTo>
                  <a:lnTo>
                    <a:pt x="2831327" y="6806"/>
                  </a:lnTo>
                  <a:lnTo>
                    <a:pt x="2783690" y="3839"/>
                  </a:lnTo>
                  <a:lnTo>
                    <a:pt x="2735829" y="1711"/>
                  </a:lnTo>
                  <a:lnTo>
                    <a:pt x="2687753" y="429"/>
                  </a:lnTo>
                  <a:lnTo>
                    <a:pt x="26394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1">
              <a:extLst>
                <a:ext uri="{FF2B5EF4-FFF2-40B4-BE49-F238E27FC236}">
                  <a16:creationId xmlns:a16="http://schemas.microsoft.com/office/drawing/2014/main" id="{AABC0778-EA43-1AAD-0425-8BA082F5276E}"/>
                </a:ext>
              </a:extLst>
            </p:cNvPr>
            <p:cNvSpPr/>
            <p:nvPr/>
          </p:nvSpPr>
          <p:spPr>
            <a:xfrm>
              <a:off x="6809331" y="4514850"/>
              <a:ext cx="5279390" cy="2343150"/>
            </a:xfrm>
            <a:custGeom>
              <a:avLst/>
              <a:gdLst/>
              <a:ahLst/>
              <a:cxnLst/>
              <a:rect l="l" t="t" r="r" b="b"/>
              <a:pathLst>
                <a:path w="5279390" h="2343150">
                  <a:moveTo>
                    <a:pt x="0" y="2343150"/>
                  </a:moveTo>
                  <a:lnTo>
                    <a:pt x="8958" y="2273376"/>
                  </a:lnTo>
                  <a:lnTo>
                    <a:pt x="16023" y="2227048"/>
                  </a:lnTo>
                  <a:lnTo>
                    <a:pt x="23884" y="2180986"/>
                  </a:lnTo>
                  <a:lnTo>
                    <a:pt x="32535" y="2135198"/>
                  </a:lnTo>
                  <a:lnTo>
                    <a:pt x="41968" y="2089691"/>
                  </a:lnTo>
                  <a:lnTo>
                    <a:pt x="52176" y="2044471"/>
                  </a:lnTo>
                  <a:lnTo>
                    <a:pt x="63151" y="1999547"/>
                  </a:lnTo>
                  <a:lnTo>
                    <a:pt x="74887" y="1954925"/>
                  </a:lnTo>
                  <a:lnTo>
                    <a:pt x="87376" y="1910613"/>
                  </a:lnTo>
                  <a:lnTo>
                    <a:pt x="100611" y="1866618"/>
                  </a:lnTo>
                  <a:lnTo>
                    <a:pt x="114584" y="1822947"/>
                  </a:lnTo>
                  <a:lnTo>
                    <a:pt x="129289" y="1779607"/>
                  </a:lnTo>
                  <a:lnTo>
                    <a:pt x="144718" y="1736606"/>
                  </a:lnTo>
                  <a:lnTo>
                    <a:pt x="160864" y="1693951"/>
                  </a:lnTo>
                  <a:lnTo>
                    <a:pt x="177719" y="1651649"/>
                  </a:lnTo>
                  <a:lnTo>
                    <a:pt x="195277" y="1609708"/>
                  </a:lnTo>
                  <a:lnTo>
                    <a:pt x="213530" y="1568134"/>
                  </a:lnTo>
                  <a:lnTo>
                    <a:pt x="232471" y="1526935"/>
                  </a:lnTo>
                  <a:lnTo>
                    <a:pt x="252092" y="1486119"/>
                  </a:lnTo>
                  <a:lnTo>
                    <a:pt x="272386" y="1445692"/>
                  </a:lnTo>
                  <a:lnTo>
                    <a:pt x="293346" y="1405661"/>
                  </a:lnTo>
                  <a:lnTo>
                    <a:pt x="314966" y="1366035"/>
                  </a:lnTo>
                  <a:lnTo>
                    <a:pt x="337236" y="1326819"/>
                  </a:lnTo>
                  <a:lnTo>
                    <a:pt x="360151" y="1288022"/>
                  </a:lnTo>
                  <a:lnTo>
                    <a:pt x="383703" y="1249651"/>
                  </a:lnTo>
                  <a:lnTo>
                    <a:pt x="407885" y="1211712"/>
                  </a:lnTo>
                  <a:lnTo>
                    <a:pt x="432689" y="1174214"/>
                  </a:lnTo>
                  <a:lnTo>
                    <a:pt x="458108" y="1137163"/>
                  </a:lnTo>
                  <a:lnTo>
                    <a:pt x="484135" y="1100567"/>
                  </a:lnTo>
                  <a:lnTo>
                    <a:pt x="510763" y="1064432"/>
                  </a:lnTo>
                  <a:lnTo>
                    <a:pt x="537985" y="1028767"/>
                  </a:lnTo>
                  <a:lnTo>
                    <a:pt x="565792" y="993578"/>
                  </a:lnTo>
                  <a:lnTo>
                    <a:pt x="594179" y="958873"/>
                  </a:lnTo>
                  <a:lnTo>
                    <a:pt x="623137" y="924659"/>
                  </a:lnTo>
                  <a:lnTo>
                    <a:pt x="652659" y="890942"/>
                  </a:lnTo>
                  <a:lnTo>
                    <a:pt x="682739" y="857732"/>
                  </a:lnTo>
                  <a:lnTo>
                    <a:pt x="713369" y="825033"/>
                  </a:lnTo>
                  <a:lnTo>
                    <a:pt x="744541" y="792855"/>
                  </a:lnTo>
                  <a:lnTo>
                    <a:pt x="776248" y="761204"/>
                  </a:lnTo>
                  <a:lnTo>
                    <a:pt x="808484" y="730087"/>
                  </a:lnTo>
                  <a:lnTo>
                    <a:pt x="841240" y="699512"/>
                  </a:lnTo>
                  <a:lnTo>
                    <a:pt x="874510" y="669486"/>
                  </a:lnTo>
                  <a:lnTo>
                    <a:pt x="908287" y="640016"/>
                  </a:lnTo>
                  <a:lnTo>
                    <a:pt x="942562" y="611109"/>
                  </a:lnTo>
                  <a:lnTo>
                    <a:pt x="977329" y="582773"/>
                  </a:lnTo>
                  <a:lnTo>
                    <a:pt x="1012581" y="555014"/>
                  </a:lnTo>
                  <a:lnTo>
                    <a:pt x="1048310" y="527841"/>
                  </a:lnTo>
                  <a:lnTo>
                    <a:pt x="1084509" y="501260"/>
                  </a:lnTo>
                  <a:lnTo>
                    <a:pt x="1121170" y="475279"/>
                  </a:lnTo>
                  <a:lnTo>
                    <a:pt x="1158288" y="449904"/>
                  </a:lnTo>
                  <a:lnTo>
                    <a:pt x="1195853" y="425144"/>
                  </a:lnTo>
                  <a:lnTo>
                    <a:pt x="1233860" y="401005"/>
                  </a:lnTo>
                  <a:lnTo>
                    <a:pt x="1272300" y="377495"/>
                  </a:lnTo>
                  <a:lnTo>
                    <a:pt x="1311167" y="354620"/>
                  </a:lnTo>
                  <a:lnTo>
                    <a:pt x="1350453" y="332389"/>
                  </a:lnTo>
                  <a:lnTo>
                    <a:pt x="1390150" y="310808"/>
                  </a:lnTo>
                  <a:lnTo>
                    <a:pt x="1430253" y="289884"/>
                  </a:lnTo>
                  <a:lnTo>
                    <a:pt x="1470753" y="269625"/>
                  </a:lnTo>
                  <a:lnTo>
                    <a:pt x="1511643" y="250039"/>
                  </a:lnTo>
                  <a:lnTo>
                    <a:pt x="1552916" y="231131"/>
                  </a:lnTo>
                  <a:lnTo>
                    <a:pt x="1594565" y="212911"/>
                  </a:lnTo>
                  <a:lnTo>
                    <a:pt x="1636582" y="195384"/>
                  </a:lnTo>
                  <a:lnTo>
                    <a:pt x="1678960" y="178558"/>
                  </a:lnTo>
                  <a:lnTo>
                    <a:pt x="1721692" y="162441"/>
                  </a:lnTo>
                  <a:lnTo>
                    <a:pt x="1764771" y="147039"/>
                  </a:lnTo>
                  <a:lnTo>
                    <a:pt x="1808189" y="132359"/>
                  </a:lnTo>
                  <a:lnTo>
                    <a:pt x="1851939" y="118410"/>
                  </a:lnTo>
                  <a:lnTo>
                    <a:pt x="1896014" y="105199"/>
                  </a:lnTo>
                  <a:lnTo>
                    <a:pt x="1940407" y="92732"/>
                  </a:lnTo>
                  <a:lnTo>
                    <a:pt x="1985109" y="81016"/>
                  </a:lnTo>
                  <a:lnTo>
                    <a:pt x="2030115" y="70060"/>
                  </a:lnTo>
                  <a:lnTo>
                    <a:pt x="2075417" y="59870"/>
                  </a:lnTo>
                  <a:lnTo>
                    <a:pt x="2121007" y="50453"/>
                  </a:lnTo>
                  <a:lnTo>
                    <a:pt x="2166879" y="41818"/>
                  </a:lnTo>
                  <a:lnTo>
                    <a:pt x="2213024" y="33970"/>
                  </a:lnTo>
                  <a:lnTo>
                    <a:pt x="2259437" y="26918"/>
                  </a:lnTo>
                  <a:lnTo>
                    <a:pt x="2306109" y="20668"/>
                  </a:lnTo>
                  <a:lnTo>
                    <a:pt x="2353033" y="15228"/>
                  </a:lnTo>
                  <a:lnTo>
                    <a:pt x="2400202" y="10605"/>
                  </a:lnTo>
                  <a:lnTo>
                    <a:pt x="2447608" y="6806"/>
                  </a:lnTo>
                  <a:lnTo>
                    <a:pt x="2495246" y="3839"/>
                  </a:lnTo>
                  <a:lnTo>
                    <a:pt x="2543106" y="1711"/>
                  </a:lnTo>
                  <a:lnTo>
                    <a:pt x="2591183" y="429"/>
                  </a:lnTo>
                  <a:lnTo>
                    <a:pt x="2639468" y="0"/>
                  </a:lnTo>
                  <a:lnTo>
                    <a:pt x="2687753" y="429"/>
                  </a:lnTo>
                  <a:lnTo>
                    <a:pt x="2735829" y="1711"/>
                  </a:lnTo>
                  <a:lnTo>
                    <a:pt x="2783690" y="3839"/>
                  </a:lnTo>
                  <a:lnTo>
                    <a:pt x="2831327" y="6806"/>
                  </a:lnTo>
                  <a:lnTo>
                    <a:pt x="2878734" y="10605"/>
                  </a:lnTo>
                  <a:lnTo>
                    <a:pt x="2925903" y="15228"/>
                  </a:lnTo>
                  <a:lnTo>
                    <a:pt x="2972827" y="20668"/>
                  </a:lnTo>
                  <a:lnTo>
                    <a:pt x="3019499" y="26918"/>
                  </a:lnTo>
                  <a:lnTo>
                    <a:pt x="3065911" y="33970"/>
                  </a:lnTo>
                  <a:lnTo>
                    <a:pt x="3112056" y="41818"/>
                  </a:lnTo>
                  <a:lnTo>
                    <a:pt x="3157928" y="50453"/>
                  </a:lnTo>
                  <a:lnTo>
                    <a:pt x="3203518" y="59870"/>
                  </a:lnTo>
                  <a:lnTo>
                    <a:pt x="3248820" y="70060"/>
                  </a:lnTo>
                  <a:lnTo>
                    <a:pt x="3293826" y="81016"/>
                  </a:lnTo>
                  <a:lnTo>
                    <a:pt x="3338529" y="92732"/>
                  </a:lnTo>
                  <a:lnTo>
                    <a:pt x="3382921" y="105199"/>
                  </a:lnTo>
                  <a:lnTo>
                    <a:pt x="3426996" y="118410"/>
                  </a:lnTo>
                  <a:lnTo>
                    <a:pt x="3470746" y="132359"/>
                  </a:lnTo>
                  <a:lnTo>
                    <a:pt x="3514164" y="147039"/>
                  </a:lnTo>
                  <a:lnTo>
                    <a:pt x="3557243" y="162441"/>
                  </a:lnTo>
                  <a:lnTo>
                    <a:pt x="3599975" y="178558"/>
                  </a:lnTo>
                  <a:lnTo>
                    <a:pt x="3642353" y="195384"/>
                  </a:lnTo>
                  <a:lnTo>
                    <a:pt x="3684371" y="212911"/>
                  </a:lnTo>
                  <a:lnTo>
                    <a:pt x="3726019" y="231131"/>
                  </a:lnTo>
                  <a:lnTo>
                    <a:pt x="3767292" y="250039"/>
                  </a:lnTo>
                  <a:lnTo>
                    <a:pt x="3808182" y="269625"/>
                  </a:lnTo>
                  <a:lnTo>
                    <a:pt x="3848682" y="289884"/>
                  </a:lnTo>
                  <a:lnTo>
                    <a:pt x="3888785" y="310808"/>
                  </a:lnTo>
                  <a:lnTo>
                    <a:pt x="3928483" y="332389"/>
                  </a:lnTo>
                  <a:lnTo>
                    <a:pt x="3967769" y="354620"/>
                  </a:lnTo>
                  <a:lnTo>
                    <a:pt x="4006635" y="377495"/>
                  </a:lnTo>
                  <a:lnTo>
                    <a:pt x="4045075" y="401005"/>
                  </a:lnTo>
                  <a:lnTo>
                    <a:pt x="4083082" y="425144"/>
                  </a:lnTo>
                  <a:lnTo>
                    <a:pt x="4120648" y="449904"/>
                  </a:lnTo>
                  <a:lnTo>
                    <a:pt x="4157765" y="475279"/>
                  </a:lnTo>
                  <a:lnTo>
                    <a:pt x="4194427" y="501260"/>
                  </a:lnTo>
                  <a:lnTo>
                    <a:pt x="4230626" y="527841"/>
                  </a:lnTo>
                  <a:lnTo>
                    <a:pt x="4266355" y="555014"/>
                  </a:lnTo>
                  <a:lnTo>
                    <a:pt x="4301606" y="582773"/>
                  </a:lnTo>
                  <a:lnTo>
                    <a:pt x="4336373" y="611109"/>
                  </a:lnTo>
                  <a:lnTo>
                    <a:pt x="4370649" y="640016"/>
                  </a:lnTo>
                  <a:lnTo>
                    <a:pt x="4404425" y="669486"/>
                  </a:lnTo>
                  <a:lnTo>
                    <a:pt x="4437695" y="699512"/>
                  </a:lnTo>
                  <a:lnTo>
                    <a:pt x="4470451" y="730087"/>
                  </a:lnTo>
                  <a:lnTo>
                    <a:pt x="4502687" y="761204"/>
                  </a:lnTo>
                  <a:lnTo>
                    <a:pt x="4534395" y="792855"/>
                  </a:lnTo>
                  <a:lnTo>
                    <a:pt x="4565567" y="825033"/>
                  </a:lnTo>
                  <a:lnTo>
                    <a:pt x="4596196" y="857732"/>
                  </a:lnTo>
                  <a:lnTo>
                    <a:pt x="4626276" y="890942"/>
                  </a:lnTo>
                  <a:lnTo>
                    <a:pt x="4655798" y="924659"/>
                  </a:lnTo>
                  <a:lnTo>
                    <a:pt x="4684756" y="958873"/>
                  </a:lnTo>
                  <a:lnTo>
                    <a:pt x="4713143" y="993578"/>
                  </a:lnTo>
                  <a:lnTo>
                    <a:pt x="4740950" y="1028767"/>
                  </a:lnTo>
                  <a:lnTo>
                    <a:pt x="4768172" y="1064432"/>
                  </a:lnTo>
                  <a:lnTo>
                    <a:pt x="4794800" y="1100567"/>
                  </a:lnTo>
                  <a:lnTo>
                    <a:pt x="4820827" y="1137163"/>
                  </a:lnTo>
                  <a:lnTo>
                    <a:pt x="4846246" y="1174214"/>
                  </a:lnTo>
                  <a:lnTo>
                    <a:pt x="4871050" y="1211712"/>
                  </a:lnTo>
                  <a:lnTo>
                    <a:pt x="4895232" y="1249651"/>
                  </a:lnTo>
                  <a:lnTo>
                    <a:pt x="4918784" y="1288022"/>
                  </a:lnTo>
                  <a:lnTo>
                    <a:pt x="4941699" y="1326819"/>
                  </a:lnTo>
                  <a:lnTo>
                    <a:pt x="4963970" y="1366035"/>
                  </a:lnTo>
                  <a:lnTo>
                    <a:pt x="4985589" y="1405661"/>
                  </a:lnTo>
                  <a:lnTo>
                    <a:pt x="5006549" y="1445692"/>
                  </a:lnTo>
                  <a:lnTo>
                    <a:pt x="5026844" y="1486119"/>
                  </a:lnTo>
                  <a:lnTo>
                    <a:pt x="5046465" y="1526935"/>
                  </a:lnTo>
                  <a:lnTo>
                    <a:pt x="5065405" y="1568134"/>
                  </a:lnTo>
                  <a:lnTo>
                    <a:pt x="5083658" y="1609708"/>
                  </a:lnTo>
                  <a:lnTo>
                    <a:pt x="5101216" y="1651649"/>
                  </a:lnTo>
                  <a:lnTo>
                    <a:pt x="5118071" y="1693951"/>
                  </a:lnTo>
                  <a:lnTo>
                    <a:pt x="5134217" y="1736606"/>
                  </a:lnTo>
                  <a:lnTo>
                    <a:pt x="5149646" y="1779607"/>
                  </a:lnTo>
                  <a:lnTo>
                    <a:pt x="5164351" y="1822947"/>
                  </a:lnTo>
                  <a:lnTo>
                    <a:pt x="5178324" y="1866618"/>
                  </a:lnTo>
                  <a:lnTo>
                    <a:pt x="5191559" y="1910613"/>
                  </a:lnTo>
                  <a:lnTo>
                    <a:pt x="5204048" y="1954925"/>
                  </a:lnTo>
                  <a:lnTo>
                    <a:pt x="5215784" y="1999547"/>
                  </a:lnTo>
                  <a:lnTo>
                    <a:pt x="5226760" y="2044471"/>
                  </a:lnTo>
                  <a:lnTo>
                    <a:pt x="5236968" y="2089691"/>
                  </a:lnTo>
                  <a:lnTo>
                    <a:pt x="5246401" y="2135198"/>
                  </a:lnTo>
                  <a:lnTo>
                    <a:pt x="5255051" y="2180986"/>
                  </a:lnTo>
                  <a:lnTo>
                    <a:pt x="5262913" y="2227048"/>
                  </a:lnTo>
                  <a:lnTo>
                    <a:pt x="5269977" y="2273376"/>
                  </a:lnTo>
                  <a:lnTo>
                    <a:pt x="5276238" y="2319963"/>
                  </a:lnTo>
                  <a:lnTo>
                    <a:pt x="5278936" y="2343150"/>
                  </a:lnTo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4CD8D-359F-26E4-4CF9-BA65445F9A29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26845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800" b="0" i="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What is a Fraud Detection Pipeline?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Pipeline Architecture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Key Stages Explained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Example Pipeline in Python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Real-world Use Cases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>
            <a:extLst>
              <a:ext uri="{FF2B5EF4-FFF2-40B4-BE49-F238E27FC236}">
                <a16:creationId xmlns:a16="http://schemas.microsoft.com/office/drawing/2014/main" id="{ACD24633-FF0E-01C2-AA29-686F220ECA37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371F059-4B75-7224-18CB-45737C49ADDA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8EDDE91F-49AD-02EC-433A-1281103EF3D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1E14FCAA-D399-C79C-838C-010645E7D1E6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274C721A-B595-A908-6AC0-7049936E3FDB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/>
              <a:t>Datachains</a:t>
            </a:r>
            <a:endParaRPr lang="en-IN" spc="-10" dirty="0"/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68358A9A-8DE4-7D9A-445F-390D434B9B6C}"/>
              </a:ext>
            </a:extLst>
          </p:cNvPr>
          <p:cNvSpPr txBox="1"/>
          <p:nvPr/>
        </p:nvSpPr>
        <p:spPr>
          <a:xfrm>
            <a:off x="1162878" y="1037698"/>
            <a:ext cx="8590722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400" dirty="0"/>
              <a:t>What is Fraud Detection Pipeline</a:t>
            </a:r>
            <a:endParaRPr sz="4400" dirty="0">
              <a:latin typeface="Trebuchet MS"/>
              <a:cs typeface="Trebuchet M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0FEAA-0E3A-84AB-73AE-AB77FBF62178}"/>
              </a:ext>
            </a:extLst>
          </p:cNvPr>
          <p:cNvSpPr txBox="1">
            <a:spLocks/>
          </p:cNvSpPr>
          <p:nvPr/>
        </p:nvSpPr>
        <p:spPr>
          <a:xfrm>
            <a:off x="1162878" y="2229544"/>
            <a:ext cx="8229600" cy="3238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800" b="0" i="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A step-by-step automated process to detect fraudulent behaviour in transactions or events.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Combines data preprocessing, machine learning, and monitoring to identify anomalies or fraud.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Used across industries like Banking, E-commerce, Insurance, and Healthcare.</a:t>
            </a:r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973C2-99B6-9BE3-4DD2-B81EB4513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>
            <a:extLst>
              <a:ext uri="{FF2B5EF4-FFF2-40B4-BE49-F238E27FC236}">
                <a16:creationId xmlns:a16="http://schemas.microsoft.com/office/drawing/2014/main" id="{9C72D21F-3759-FE05-716C-33ABE442F0B3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A4B176A-3B73-9020-EC0E-C69A4837860D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6E1B9433-70E8-6192-E29E-D6FD06DFF29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20F0EDA0-30A8-9C89-C600-075E34781B59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63E48640-6682-CDCC-BBB5-F07188CDB1E6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/>
              <a:t>Datachains</a:t>
            </a:r>
            <a:endParaRPr lang="en-IN" spc="-10" dirty="0"/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C2338105-3A1B-64C9-D98D-3FC831B7EFCC}"/>
              </a:ext>
            </a:extLst>
          </p:cNvPr>
          <p:cNvSpPr txBox="1"/>
          <p:nvPr/>
        </p:nvSpPr>
        <p:spPr>
          <a:xfrm>
            <a:off x="1295400" y="914400"/>
            <a:ext cx="929640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400" dirty="0"/>
              <a:t>Pipeline Architecture – Key stages </a:t>
            </a:r>
            <a:endParaRPr lang="en-IN" sz="4400" dirty="0">
              <a:latin typeface="Trebuchet MS"/>
              <a:cs typeface="Trebuchet M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F16A9-7B6A-21B7-C901-D13174A5DFFC}"/>
              </a:ext>
            </a:extLst>
          </p:cNvPr>
          <p:cNvSpPr txBox="1">
            <a:spLocks/>
          </p:cNvSpPr>
          <p:nvPr/>
        </p:nvSpPr>
        <p:spPr>
          <a:xfrm>
            <a:off x="1143000" y="1663786"/>
            <a:ext cx="8229600" cy="60085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800" b="0" i="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Data Ingestion – Load structured/unstructured data from sources (CSV, DB, APIs).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Data Cleaning – Handle missing values, PII masking, encoding.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Feature Engineering – Derive new fraud-relevant variables.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Model Training – Train ML models for fraud classification or anomaly detection.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Evaluation – Validate using metrics like ROC-AUC, Precision, Recall.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Deployment – Integrate model into dashboards or real-time APIs.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Monitoring: Track drift, retrain models periodically.</a:t>
            </a:r>
          </a:p>
          <a:p>
            <a:pPr>
              <a:lnSpc>
                <a:spcPct val="200000"/>
              </a:lnSpc>
            </a:pPr>
            <a:endParaRPr lang="en-IN" dirty="0"/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3731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35791-C55C-19AC-6E03-9E3BA8075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729F0FBA-75B4-4148-C8B5-16A032372AC4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36771B4B-A891-07BF-7A76-D2A598F22B13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98BB2E41-D1F7-3FC9-2CB4-73CF3F6F01F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6FFBD3EC-886E-4482-3A7E-DAD8E163362E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ADB07CBD-4187-DD45-9AE0-86CEE766DBA5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 err="1"/>
              <a:t>Datachains</a:t>
            </a:r>
            <a:endParaRPr lang="en-IN" spc="-10" dirty="0"/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4A9A4D40-4C8C-47FB-A3B6-9BA94DB53FB8}"/>
              </a:ext>
            </a:extLst>
          </p:cNvPr>
          <p:cNvSpPr txBox="1"/>
          <p:nvPr/>
        </p:nvSpPr>
        <p:spPr>
          <a:xfrm>
            <a:off x="822370" y="797977"/>
            <a:ext cx="1064622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400" dirty="0"/>
              <a:t>Credit Card Fraud</a:t>
            </a:r>
            <a:endParaRPr sz="4400" dirty="0">
              <a:latin typeface="Trebuchet MS" panose="020B0703020202090204" pitchFamily="34" charset="0"/>
              <a:cs typeface="Trebuchet M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BBA058-FBF9-C267-6423-58A3247F1AA7}"/>
              </a:ext>
            </a:extLst>
          </p:cNvPr>
          <p:cNvSpPr txBox="1"/>
          <p:nvPr/>
        </p:nvSpPr>
        <p:spPr>
          <a:xfrm>
            <a:off x="679707" y="1828800"/>
            <a:ext cx="8436420" cy="3884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Load dataset → </a:t>
            </a:r>
            <a:r>
              <a:rPr lang="en-IN" dirty="0" err="1"/>
              <a:t>creditcard.csv</a:t>
            </a:r>
            <a:endParaRPr lang="en-I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Split data → Train/Test sets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Scale numeric features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Train RandomForestClassifier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Evaluate using ROC-AUC and F1-score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Code demo provided in </a:t>
            </a:r>
            <a:r>
              <a:rPr lang="en-IN" dirty="0" err="1"/>
              <a:t>Jupyter</a:t>
            </a:r>
            <a:r>
              <a:rPr lang="en-IN" dirty="0"/>
              <a:t> Notebook or script</a:t>
            </a:r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6901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14B9E-4D5B-D6EB-1EB7-082384050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F24865CF-1C2D-17BC-5C52-FF1E319B56E4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C0D58C1B-86AF-A14C-F1A9-46D84AA0EFBC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E7B4A303-0EFF-BFA4-145F-118A9E1CE38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D7A0CCB2-0B2C-880B-859A-952B9A896D6D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5FDD6DE5-9B4E-C843-33BA-E7D23230C5B9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 err="1"/>
              <a:t>Datachains</a:t>
            </a:r>
            <a:endParaRPr lang="en-IN" spc="-10" dirty="0"/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91F7F903-3FB8-CE79-F1C3-EC5BD405EBA5}"/>
              </a:ext>
            </a:extLst>
          </p:cNvPr>
          <p:cNvSpPr txBox="1"/>
          <p:nvPr/>
        </p:nvSpPr>
        <p:spPr>
          <a:xfrm>
            <a:off x="772890" y="848211"/>
            <a:ext cx="1064622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400" dirty="0"/>
              <a:t>Real-World Use Cases</a:t>
            </a:r>
            <a:endParaRPr sz="4400" dirty="0">
              <a:latin typeface="Trebuchet MS" panose="020B0703020202090204" pitchFamily="34" charset="0"/>
              <a:cs typeface="Trebuchet M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8D366F-D719-5C2A-DB31-DB3E4D0EECAA}"/>
              </a:ext>
            </a:extLst>
          </p:cNvPr>
          <p:cNvSpPr txBox="1"/>
          <p:nvPr/>
        </p:nvSpPr>
        <p:spPr>
          <a:xfrm>
            <a:off x="679707" y="1828800"/>
            <a:ext cx="8436420" cy="3330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Banking – Credit card and loan fraud detection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E-commerce – Fake accounts, refund fraud, payment anomalies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Insurance – False claim detection and pattern anomalies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Healthcare – Overbilling and duplicate claim identification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Cybersecurity – Detect credential stuffing and login anomalies</a:t>
            </a:r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7872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8811</TotalTime>
  <Words>386</Words>
  <Application>Microsoft Macintosh PowerPoint</Application>
  <PresentationFormat>Widescreen</PresentationFormat>
  <Paragraphs>45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sbaskaran878@gmail.com</cp:lastModifiedBy>
  <cp:revision>22</cp:revision>
  <dcterms:created xsi:type="dcterms:W3CDTF">2025-09-17T13:52:51Z</dcterms:created>
  <dcterms:modified xsi:type="dcterms:W3CDTF">2025-10-06T15:53:36Z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2025-09-16T00:00:00Z</vt:filetime>
  </property>
  <property fmtid="{D5CDD505-2E9C-101B-9397-08002B2CF9AE}" pid="3" name="LastSaved">
    <vt:filetime>2025-09-17T00:00:00Z</vt:filetime>
  </property>
</Properties>
</file>