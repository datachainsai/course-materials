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61" r:id="rId2"/>
    <p:sldId id="262" r:id="rId3"/>
    <p:sldId id="263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5"/>
  </p:normalViewPr>
  <p:slideViewPr>
    <p:cSldViewPr>
      <p:cViewPr varScale="1">
        <p:scale>
          <a:sx n="118" d="100"/>
          <a:sy n="118" d="100"/>
        </p:scale>
        <p:origin x="60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4479-17E6-0EDA-57EF-F3959579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E3D9-E346-D025-5DB2-6B6E46A27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D203E-6526-CCF6-B18A-7D4E74476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848B3-F1C1-F930-0AA4-5135ACF29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2144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8A54-1564-45D9-F7BF-F9792044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A0B9B-0F53-6490-51B8-59634DA6A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A86F6-330A-16D6-9FE9-E8BBDFB98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33C5-04B7-4917-5603-BDC8B6868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0508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714D3-772D-D7FC-04CA-7FE803FD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8ED2B-4A3A-52CC-C5BC-B751403B8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5126E-1F48-5DF0-E3E1-BF9BFB1DD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BBD9F-C614-0770-02CE-7150E0D4F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31008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89E42-51D1-9F07-3D1D-86598B03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A0182-3A87-C273-2781-74E5AE5096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434053-827B-4142-DE06-D74E56FE3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10660-3D64-2A72-2D22-715F9203E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012604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27574-F3E1-31FC-E753-BA8BF9082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15645-438A-7B7E-0985-D1B6861A9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2DEB5-1684-64D7-2D57-BA7A1D38BD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88CFC-FF4E-9119-E3AE-2CE861D3DC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92144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7090-3C2C-24EF-D945-5D645EEBA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601B46-8470-AF9A-9E54-AC0F6907C8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BE41C-E1DF-1EC3-037B-66F7A6821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4614E-D23C-F53F-DD17-DF4F93D7E3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80482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5F20-79FB-AEB5-FDBE-6C3C645E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F3A7D6-0466-6A3C-3FD8-895F2210A7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5C2E5-0777-B546-AE5F-811509179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65B18-758A-8BAB-6C55-BDFA4A160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36705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3BF05-1D3F-BB06-47CB-785530879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61A56-8E28-D701-808E-B601B821A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096ECC-C202-DC24-C241-510DBA482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A2A674-FCDB-901B-1D9B-82A495D43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24868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1509-7CCA-7750-0ED7-43D32C973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29AB6-96AF-F8BB-F11E-749CF9F594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941FC-B071-63BC-FE9A-4BC141D9E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84E44-CEE5-0BB7-8765-41F4751BE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82532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A32EE-1FBF-0B55-ABAF-2FC482B2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A08E9-C2B0-8402-1141-501D4016B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A065D-67DD-7CEB-C54D-339221BC6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B8C66-B7CF-005B-482C-5B222D189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00266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5162F-9C6E-24A2-30A6-25CC6446F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B928F8-61FA-86B0-2FAE-4CB68D1352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B237E-49D3-1101-9A2F-542C137BA8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03D2C-3646-2C57-9AEE-B822E9D31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08235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2D26-6E88-59F6-B0D8-F984A74F9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6B647-2422-752E-12F3-9A2E6744AB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C625D-9373-1D77-6A2D-E317A6E69E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03714-3CC1-7147-53C0-315960BDB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208182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4E53A-41CB-7DAD-A390-23A84EC89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E7990-511B-9B1F-4EC4-1B5EA660E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9583D-8516-8828-2D69-A867D4DE4F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487C3-6113-C38E-C73C-B87CE1A4B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074832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73B33-6C8D-B7B1-A18B-7EFD1408A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BF602-6E86-A2FD-28B7-5E1DECFEBA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781F5-F8FE-AEBF-7DB3-689620832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DB879-4BC7-0D91-216C-BBC48E9CF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342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4509267" y="1460183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</a:t>
            </a:r>
            <a:r>
              <a:rPr lang="en-US" sz="2400" spc="-25" dirty="0">
                <a:latin typeface="Trebuchet MS"/>
                <a:cs typeface="Trebuchet MS"/>
              </a:rPr>
              <a:t>15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855027" y="2362200"/>
            <a:ext cx="11222673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Recurrent Neural Networks </a:t>
            </a:r>
            <a:r>
              <a:rPr lang="en-IN" sz="4400" b="1" dirty="0"/>
              <a:t>- </a:t>
            </a:r>
            <a:r>
              <a:rPr lang="en-IN" sz="4400" dirty="0">
                <a:latin typeface="Trebuchet MS"/>
                <a:cs typeface="Trebuchet MS"/>
              </a:rPr>
              <a:t>RNNs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 1 Nov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771715" y="888333"/>
            <a:ext cx="1230630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/>
              <a:t>Recurrent Neural Networks</a:t>
            </a:r>
            <a:r>
              <a:rPr lang="en-IN" sz="2400" b="1" dirty="0"/>
              <a:t>(RNNs) - </a:t>
            </a:r>
            <a:r>
              <a:rPr lang="en-IN" sz="2400" dirty="0"/>
              <a:t>Learning from Sequences</a:t>
            </a:r>
            <a:endParaRPr sz="24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866C127-79FD-C4B4-A069-B1308E5DA337}"/>
              </a:ext>
            </a:extLst>
          </p:cNvPr>
          <p:cNvSpPr txBox="1"/>
          <p:nvPr/>
        </p:nvSpPr>
        <p:spPr>
          <a:xfrm>
            <a:off x="771714" y="1486609"/>
            <a:ext cx="8219885" cy="1668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 deep-learning model made for </a:t>
            </a:r>
            <a:r>
              <a:rPr lang="en-IN" b="1" dirty="0"/>
              <a:t>time-series and sequential data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Designed to </a:t>
            </a:r>
            <a:r>
              <a:rPr lang="en-IN" b="1" dirty="0"/>
              <a:t>remember past information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Used widely in </a:t>
            </a:r>
            <a:r>
              <a:rPr lang="en-IN" b="1" dirty="0"/>
              <a:t>NLP, speech recognition, forecasting, and IoT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8590722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000" dirty="0"/>
              <a:t>What Are RNNs?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FC0E77-FFBE-8AF9-0551-6D3E8050B52F}"/>
              </a:ext>
            </a:extLst>
          </p:cNvPr>
          <p:cNvSpPr txBox="1"/>
          <p:nvPr/>
        </p:nvSpPr>
        <p:spPr>
          <a:xfrm>
            <a:off x="1162878" y="2057400"/>
            <a:ext cx="8590722" cy="277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RNN = </a:t>
            </a:r>
            <a:r>
              <a:rPr lang="en-IN" b="1" dirty="0"/>
              <a:t>Recurrent Neural Network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Processes inputs </a:t>
            </a:r>
            <a:r>
              <a:rPr lang="en-IN" b="1" dirty="0"/>
              <a:t>step by step</a:t>
            </a:r>
            <a:r>
              <a:rPr lang="en-IN" dirty="0"/>
              <a:t>, keeping track of previous outputs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Has a </a:t>
            </a:r>
            <a:r>
              <a:rPr lang="en-IN" b="1" dirty="0"/>
              <a:t>memory loop</a:t>
            </a:r>
            <a:r>
              <a:rPr lang="en-IN" dirty="0"/>
              <a:t> that connects past to present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Example inputs: sentences, music, sensor readings, stock prices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rebuchet MS" panose="020B070302020209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066800" y="762000"/>
            <a:ext cx="9296400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IN" sz="4000" dirty="0"/>
              <a:t>Why Do We Need RNNs?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143000" y="1663786"/>
            <a:ext cx="8229600" cy="26844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Standard NNs don’t remember past inputs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Many tasks depend on </a:t>
            </a:r>
            <a:r>
              <a:rPr lang="en-IN" b="1" dirty="0"/>
              <a:t>context and order</a:t>
            </a:r>
            <a:endParaRPr lang="en-IN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Example: “The bank will </a:t>
            </a:r>
            <a:r>
              <a:rPr lang="en-IN" b="1" dirty="0"/>
              <a:t>approve</a:t>
            </a:r>
            <a:r>
              <a:rPr lang="en-IN" dirty="0"/>
              <a:t>” vs “The river bank will </a:t>
            </a:r>
            <a:r>
              <a:rPr lang="en-IN" b="1" dirty="0"/>
              <a:t>overflow</a:t>
            </a:r>
            <a:r>
              <a:rPr lang="en-IN" dirty="0"/>
              <a:t>”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RNNs solve this by storing information across time steps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5791-C55C-19AC-6E03-9E3BA807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29F0FBA-75B4-4148-C8B5-16A032372AC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6771B4B-A891-07BF-7A76-D2A598F22B13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8BB2E41-D1F7-3FC9-2CB4-73CF3F6F01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FFBD3EC-886E-4482-3A7E-DAD8E163362E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DB07CBD-4187-DD45-9AE0-86CEE766DBA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14CCE-7BE7-B526-90D4-1A1971299875}"/>
              </a:ext>
            </a:extLst>
          </p:cNvPr>
          <p:cNvSpPr txBox="1"/>
          <p:nvPr/>
        </p:nvSpPr>
        <p:spPr>
          <a:xfrm>
            <a:off x="825210" y="762000"/>
            <a:ext cx="8699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How RNNs Work?</a:t>
            </a:r>
            <a:endParaRPr lang="en-US"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9C40C8-10C6-1F66-366B-D9AA10E34067}"/>
              </a:ext>
            </a:extLst>
          </p:cNvPr>
          <p:cNvSpPr txBox="1"/>
          <p:nvPr/>
        </p:nvSpPr>
        <p:spPr>
          <a:xfrm>
            <a:off x="881530" y="1691239"/>
            <a:ext cx="8338669" cy="4438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/>
              <a:t>Each step takes: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Current input (xₜ)</a:t>
            </a:r>
            <a:r>
              <a:rPr lang="en-IN" dirty="0"/>
              <a:t> + </a:t>
            </a:r>
            <a:r>
              <a:rPr lang="en-IN" b="1" dirty="0"/>
              <a:t>previous hidden state (hₜ₋₁)</a:t>
            </a:r>
            <a:endParaRPr lang="en-IN" dirty="0"/>
          </a:p>
          <a:p>
            <a:pPr>
              <a:lnSpc>
                <a:spcPct val="200000"/>
              </a:lnSpc>
            </a:pPr>
            <a:r>
              <a:rPr lang="en-IN" dirty="0"/>
              <a:t>Produces: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New hidden state (hₜ)</a:t>
            </a:r>
            <a:r>
              <a:rPr lang="en-IN" dirty="0"/>
              <a:t> + </a:t>
            </a:r>
            <a:r>
              <a:rPr lang="en-IN" b="1" dirty="0"/>
              <a:t>output (yₜ)</a:t>
            </a:r>
            <a:endParaRPr lang="en-IN" dirty="0"/>
          </a:p>
          <a:p>
            <a:pPr>
              <a:lnSpc>
                <a:spcPct val="200000"/>
              </a:lnSpc>
            </a:pPr>
            <a:r>
              <a:rPr lang="en-IN" dirty="0"/>
              <a:t>Formula:</a:t>
            </a:r>
            <a:br>
              <a:rPr lang="en-IN" dirty="0"/>
            </a:br>
            <a:r>
              <a:rPr lang="en-IN" dirty="0"/>
              <a:t>hₜ = tanh(</a:t>
            </a:r>
            <a:r>
              <a:rPr lang="en-IN" dirty="0" err="1"/>
              <a:t>Wₓx</a:t>
            </a:r>
            <a:r>
              <a:rPr lang="en-IN" dirty="0"/>
              <a:t>ₜ + </a:t>
            </a:r>
            <a:r>
              <a:rPr lang="en-IN" dirty="0" err="1"/>
              <a:t>Wₕh</a:t>
            </a:r>
            <a:r>
              <a:rPr lang="en-IN" dirty="0"/>
              <a:t>ₜ₋₁ + b)</a:t>
            </a:r>
          </a:p>
          <a:p>
            <a:pPr>
              <a:lnSpc>
                <a:spcPct val="200000"/>
              </a:lnSpc>
            </a:pPr>
            <a:r>
              <a:rPr lang="en-IN" dirty="0"/>
              <a:t>Think of it as a chain passing memory forward in time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dirty="0">
              <a:latin typeface="Trebuchet MS" panose="020B0703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90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4B9E-4D5B-D6EB-1EB7-08238405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F24865CF-1C2D-17BC-5C52-FF1E319B56E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0D58C1B-86AF-A14C-F1A9-46D84AA0EFB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7B4A303-0EFF-BFA4-145F-118A9E1CE38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7A0CCB2-0B2C-880B-859A-952B9A896D6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5FDD6DE5-9B4E-C843-33BA-E7D23230C5B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1F7F903-3FB8-CE79-F1C3-EC5BD405EBA5}"/>
              </a:ext>
            </a:extLst>
          </p:cNvPr>
          <p:cNvSpPr txBox="1"/>
          <p:nvPr/>
        </p:nvSpPr>
        <p:spPr>
          <a:xfrm>
            <a:off x="772890" y="848211"/>
            <a:ext cx="10646220" cy="132215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RNN Unfolded Over Time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D366F-D719-5C2A-DB31-DB3E4D0EECAA}"/>
              </a:ext>
            </a:extLst>
          </p:cNvPr>
          <p:cNvSpPr txBox="1"/>
          <p:nvPr/>
        </p:nvSpPr>
        <p:spPr>
          <a:xfrm>
            <a:off x="914400" y="1828799"/>
            <a:ext cx="7930893" cy="2776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When “unrolled,” it looks like many copies of the same network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Each copy handles one time step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Weights are </a:t>
            </a:r>
            <a:r>
              <a:rPr lang="en-IN" b="1" dirty="0"/>
              <a:t>shared</a:t>
            </a:r>
            <a:r>
              <a:rPr lang="en-IN" dirty="0"/>
              <a:t> across time steps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Enables training on entire sequences at once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87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43C27-E0BD-9B6D-3696-0C20C863B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DC55C0BC-7157-C394-7A88-AC7BE35F44AB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B3BD1EF-2E81-2A12-1ADF-A13E4B28EBD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36879B5-2E77-17BF-41FA-F3D67A98480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7FF16B5D-E2F2-15DE-9D19-7DF5872711B3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1B271025-20A3-A79E-6692-07506A0E16A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78BAA03-D87A-953D-8C14-C050ABC1B1B9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400" dirty="0"/>
              <a:t>Types of RNN Tasks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9C1FC2-6F49-4896-2435-0B8FFE0F0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3702"/>
              </p:ext>
            </p:extLst>
          </p:nvPr>
        </p:nvGraphicFramePr>
        <p:xfrm>
          <a:off x="990600" y="2172962"/>
          <a:ext cx="7162800" cy="1865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3918303609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308999571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698566457"/>
                    </a:ext>
                  </a:extLst>
                </a:gridCol>
              </a:tblGrid>
              <a:tr h="373128">
                <a:tc>
                  <a:txBody>
                    <a:bodyPr/>
                    <a:lstStyle/>
                    <a:p>
                      <a:r>
                        <a:rPr lang="en-IN" sz="1400"/>
                        <a:t>Input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Output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Example</a:t>
                      </a:r>
                    </a:p>
                  </a:txBody>
                  <a:tcPr marL="71755" marR="71755" marT="35877" marB="35877" anchor="ctr"/>
                </a:tc>
                <a:extLst>
                  <a:ext uri="{0D108BD9-81ED-4DB2-BD59-A6C34878D82A}">
                    <a16:rowId xmlns:a16="http://schemas.microsoft.com/office/drawing/2014/main" val="1716781981"/>
                  </a:ext>
                </a:extLst>
              </a:tr>
              <a:tr h="373128">
                <a:tc>
                  <a:txBody>
                    <a:bodyPr/>
                    <a:lstStyle/>
                    <a:p>
                      <a:r>
                        <a:rPr lang="en-IN" sz="1400"/>
                        <a:t>One → One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Static classification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Image label</a:t>
                      </a:r>
                    </a:p>
                  </a:txBody>
                  <a:tcPr marL="71755" marR="71755" marT="35877" marB="35877" anchor="ctr"/>
                </a:tc>
                <a:extLst>
                  <a:ext uri="{0D108BD9-81ED-4DB2-BD59-A6C34878D82A}">
                    <a16:rowId xmlns:a16="http://schemas.microsoft.com/office/drawing/2014/main" val="2686870804"/>
                  </a:ext>
                </a:extLst>
              </a:tr>
              <a:tr h="373128">
                <a:tc>
                  <a:txBody>
                    <a:bodyPr/>
                    <a:lstStyle/>
                    <a:p>
                      <a:r>
                        <a:rPr lang="en-IN" sz="1400"/>
                        <a:t>One → Many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Sequence generation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Captioning</a:t>
                      </a:r>
                    </a:p>
                  </a:txBody>
                  <a:tcPr marL="71755" marR="71755" marT="35877" marB="35877" anchor="ctr"/>
                </a:tc>
                <a:extLst>
                  <a:ext uri="{0D108BD9-81ED-4DB2-BD59-A6C34878D82A}">
                    <a16:rowId xmlns:a16="http://schemas.microsoft.com/office/drawing/2014/main" val="2708631303"/>
                  </a:ext>
                </a:extLst>
              </a:tr>
              <a:tr h="373128">
                <a:tc>
                  <a:txBody>
                    <a:bodyPr/>
                    <a:lstStyle/>
                    <a:p>
                      <a:r>
                        <a:rPr lang="en-IN" sz="1400"/>
                        <a:t>Many → One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Sentiment analysis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Positive / Negative</a:t>
                      </a:r>
                    </a:p>
                  </a:txBody>
                  <a:tcPr marL="71755" marR="71755" marT="35877" marB="35877" anchor="ctr"/>
                </a:tc>
                <a:extLst>
                  <a:ext uri="{0D108BD9-81ED-4DB2-BD59-A6C34878D82A}">
                    <a16:rowId xmlns:a16="http://schemas.microsoft.com/office/drawing/2014/main" val="847162731"/>
                  </a:ext>
                </a:extLst>
              </a:tr>
              <a:tr h="373128">
                <a:tc>
                  <a:txBody>
                    <a:bodyPr/>
                    <a:lstStyle/>
                    <a:p>
                      <a:r>
                        <a:rPr lang="en-IN" sz="1400"/>
                        <a:t>Many → Many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Translation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English → French</a:t>
                      </a:r>
                    </a:p>
                  </a:txBody>
                  <a:tcPr marL="71755" marR="71755" marT="35877" marB="35877" anchor="ctr"/>
                </a:tc>
                <a:extLst>
                  <a:ext uri="{0D108BD9-81ED-4DB2-BD59-A6C34878D82A}">
                    <a16:rowId xmlns:a16="http://schemas.microsoft.com/office/drawing/2014/main" val="2565640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00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0AC08-C208-188F-3306-C7A15711D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85B0EB7A-21C4-8DB2-9E7F-FA4E208BF112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BC4D63D-4277-4C5C-91AF-0DAC8ECF3E56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7579730B-2F26-6A34-41DD-5C8D8073B4E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2A137D88-FD53-C948-B524-5F5086B6199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852E1A4F-FF90-5BA7-BAEF-17749EBBB9E3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649C725A-C076-C817-F500-3DC8D7C197F5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400" dirty="0"/>
              <a:t>Simple RNN Architecture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13D353-410F-ECC3-CCCF-DD4983386C47}"/>
              </a:ext>
            </a:extLst>
          </p:cNvPr>
          <p:cNvSpPr txBox="1"/>
          <p:nvPr/>
        </p:nvSpPr>
        <p:spPr>
          <a:xfrm>
            <a:off x="679707" y="1828800"/>
            <a:ext cx="9912093" cy="2222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Input Layer → Hidden Layer (with loop) → Output Layer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Each hidden node remembers previous output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Learns temporal relationships like patterns in speech or text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5179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0A98-E292-9CBC-A94B-4F6E5E42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364EF79-0F46-CDFD-EF0C-3EA65E1AEC0A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58B147E-7445-BD67-0F1B-F4ECD480D609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5DDFF74-D9AC-7E22-DDC5-1502BC41CBA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B09FE9D1-D377-0F04-CB00-560C3E46ABB7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EACB43F3-BFFF-2E0D-6A43-2801C9B41720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2E16A6C-6FC1-798B-E377-FF4D4CC08A19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The Challenge of Vanishing Gradient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A08585-B729-A5B5-35C9-EC7FF5C46E35}"/>
              </a:ext>
            </a:extLst>
          </p:cNvPr>
          <p:cNvSpPr txBox="1"/>
          <p:nvPr/>
        </p:nvSpPr>
        <p:spPr>
          <a:xfrm>
            <a:off x="679707" y="1828800"/>
            <a:ext cx="9912093" cy="2776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As sequences get longer, gradients shrink during training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Model “forgets” earlier steps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Difficult to learn long-term dependencies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Solution → Use </a:t>
            </a:r>
            <a:r>
              <a:rPr lang="en-IN" b="1" dirty="0"/>
              <a:t>LSTM</a:t>
            </a:r>
            <a:r>
              <a:rPr lang="en-IN" dirty="0"/>
              <a:t> or </a:t>
            </a:r>
            <a:r>
              <a:rPr lang="en-IN" b="1" dirty="0"/>
              <a:t>GRU</a:t>
            </a:r>
            <a:r>
              <a:rPr lang="en-IN" dirty="0"/>
              <a:t> architectures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2836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96586-0C3E-8D99-1EAF-C719F6E8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44C50111-3299-7CD1-0ED6-83A5CA6EEE8F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AB79B1B2-5785-3B57-D28F-E3E039804748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26D57EDE-73D7-6BE0-D8FD-1C8F87561F3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AAD0E7D-A74C-1559-4932-8CFB8CDF825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4DF7A7A1-D024-6934-86A7-B1D51B507FA8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3BAF23D-78AC-9D75-F954-A03A7C23D782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LSTM (Long Short-Term Memory)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24A68-9827-E89C-3F89-E6571D7FFF0C}"/>
              </a:ext>
            </a:extLst>
          </p:cNvPr>
          <p:cNvSpPr txBox="1"/>
          <p:nvPr/>
        </p:nvSpPr>
        <p:spPr>
          <a:xfrm>
            <a:off x="679707" y="1828800"/>
            <a:ext cx="9912093" cy="3884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>
                <a:latin typeface="Trebuchet MS" panose="020B0703020202090204" pitchFamily="34" charset="0"/>
              </a:rPr>
              <a:t>Special RNN that </a:t>
            </a:r>
            <a:r>
              <a:rPr lang="en-IN" b="1" dirty="0">
                <a:latin typeface="Trebuchet MS" panose="020B0703020202090204" pitchFamily="34" charset="0"/>
              </a:rPr>
              <a:t>remembers long sequences</a:t>
            </a:r>
            <a:endParaRPr lang="en-IN" dirty="0">
              <a:latin typeface="Trebuchet MS" panose="020B0703020202090204" pitchFamily="34" charset="0"/>
            </a:endParaRPr>
          </a:p>
          <a:p>
            <a:pPr>
              <a:lnSpc>
                <a:spcPct val="200000"/>
              </a:lnSpc>
            </a:pPr>
            <a:r>
              <a:rPr lang="en-IN" dirty="0">
                <a:latin typeface="Trebuchet MS" panose="020B0703020202090204" pitchFamily="34" charset="0"/>
              </a:rPr>
              <a:t>Uses three gates: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Trebuchet MS" panose="020B0703020202090204" pitchFamily="34" charset="0"/>
              </a:rPr>
              <a:t>Forget Gate</a:t>
            </a:r>
            <a:r>
              <a:rPr lang="en-IN" dirty="0">
                <a:latin typeface="Trebuchet MS" panose="020B0703020202090204" pitchFamily="34" charset="0"/>
              </a:rPr>
              <a:t> – what to discard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Trebuchet MS" panose="020B0703020202090204" pitchFamily="34" charset="0"/>
              </a:rPr>
              <a:t>Input Gate</a:t>
            </a:r>
            <a:r>
              <a:rPr lang="en-IN" dirty="0">
                <a:latin typeface="Trebuchet MS" panose="020B0703020202090204" pitchFamily="34" charset="0"/>
              </a:rPr>
              <a:t> – what new info to add</a:t>
            </a:r>
          </a:p>
          <a:p>
            <a:pPr>
              <a:lnSpc>
                <a:spcPct val="200000"/>
              </a:lnSpc>
              <a:buFont typeface="+mj-lt"/>
              <a:buAutoNum type="arabicPeriod"/>
            </a:pPr>
            <a:r>
              <a:rPr lang="en-IN" b="1" dirty="0">
                <a:latin typeface="Trebuchet MS" panose="020B0703020202090204" pitchFamily="34" charset="0"/>
              </a:rPr>
              <a:t>Output Gate</a:t>
            </a:r>
            <a:r>
              <a:rPr lang="en-IN" dirty="0">
                <a:latin typeface="Trebuchet MS" panose="020B0703020202090204" pitchFamily="34" charset="0"/>
              </a:rPr>
              <a:t> – what to send out</a:t>
            </a:r>
          </a:p>
          <a:p>
            <a:pPr>
              <a:lnSpc>
                <a:spcPct val="200000"/>
              </a:lnSpc>
            </a:pPr>
            <a:r>
              <a:rPr lang="en-IN" dirty="0">
                <a:latin typeface="Trebuchet MS" panose="020B0703020202090204" pitchFamily="34" charset="0"/>
              </a:rPr>
              <a:t>Keeps important context over time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178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362C-0BDF-1C8B-77D8-9258955E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6FFD9D4C-1C88-1995-7C7B-D95C969ADA0F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0B9FAAD-C6FF-0998-8C9A-7D5994282B8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927B606-5F7A-9366-B93B-A2039B16639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02EADC05-8859-BAF9-4680-8A92BF225B31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7376AE4-5128-D64A-A3BD-ACB80A244B02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582EDC0B-E0DE-29EB-2429-854EAB8B144D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GRU (Gated Recurrent Unit)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AAE34-724F-7317-D33C-F7B2EF6FFAC5}"/>
              </a:ext>
            </a:extLst>
          </p:cNvPr>
          <p:cNvSpPr txBox="1"/>
          <p:nvPr/>
        </p:nvSpPr>
        <p:spPr>
          <a:xfrm>
            <a:off x="679707" y="1828800"/>
            <a:ext cx="9912093" cy="2776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Simplified version of LSTM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Combines forget + input gates into one </a:t>
            </a:r>
            <a:r>
              <a:rPr lang="en-IN" b="1" dirty="0">
                <a:latin typeface="Trebuchet MS" panose="020B0703020202090204" pitchFamily="34" charset="0"/>
              </a:rPr>
              <a:t>update gate</a:t>
            </a:r>
            <a:endParaRPr lang="en-IN" dirty="0">
              <a:latin typeface="Trebuchet MS" panose="020B070302020209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Trains faster, uses fewer parameters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rebuchet MS" panose="020B0703020202090204" pitchFamily="34" charset="0"/>
              </a:rPr>
              <a:t>Performs similarly to LSTM in many tasks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001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24AAD-C25F-BA53-2BE2-9CD0D807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278BCAC5-A76C-888F-82D2-3BDD9307EA82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C23F7FF-8406-593E-4011-1795CCD64635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E2FD890-3CC7-B025-592F-9F1909929C9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8A6E7DF5-6A8B-2D00-BC7F-BA7682776960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41753DD9-2284-E14E-9B10-F99031FD508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198448F7-4804-79F9-4DA6-DD8A04F00A3A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Key Differences: RNN vs LSTM vs GRU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3DF330-2172-0B36-1487-DD1759820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116205"/>
              </p:ext>
            </p:extLst>
          </p:nvPr>
        </p:nvGraphicFramePr>
        <p:xfrm>
          <a:off x="914400" y="2030342"/>
          <a:ext cx="7086600" cy="18558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1650">
                  <a:extLst>
                    <a:ext uri="{9D8B030D-6E8A-4147-A177-3AD203B41FA5}">
                      <a16:colId xmlns:a16="http://schemas.microsoft.com/office/drawing/2014/main" val="990816323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3904144222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1564467246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2713067163"/>
                    </a:ext>
                  </a:extLst>
                </a:gridCol>
              </a:tblGrid>
              <a:tr h="371171">
                <a:tc>
                  <a:txBody>
                    <a:bodyPr/>
                    <a:lstStyle/>
                    <a:p>
                      <a:r>
                        <a:rPr lang="en-IN" sz="1400"/>
                        <a:t>Feature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RNN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LSTM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GRU</a:t>
                      </a:r>
                    </a:p>
                  </a:txBody>
                  <a:tcPr marL="71755" marR="71755" marT="35877" marB="35877" anchor="ctr"/>
                </a:tc>
                <a:extLst>
                  <a:ext uri="{0D108BD9-81ED-4DB2-BD59-A6C34878D82A}">
                    <a16:rowId xmlns:a16="http://schemas.microsoft.com/office/drawing/2014/main" val="218331062"/>
                  </a:ext>
                </a:extLst>
              </a:tr>
              <a:tr h="371171">
                <a:tc>
                  <a:txBody>
                    <a:bodyPr/>
                    <a:lstStyle/>
                    <a:p>
                      <a:r>
                        <a:rPr lang="en-IN" sz="1400"/>
                        <a:t>Long-Term Memory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❌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✅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✅</a:t>
                      </a:r>
                    </a:p>
                  </a:txBody>
                  <a:tcPr marL="71755" marR="71755" marT="35877" marB="35877" anchor="ctr"/>
                </a:tc>
                <a:extLst>
                  <a:ext uri="{0D108BD9-81ED-4DB2-BD59-A6C34878D82A}">
                    <a16:rowId xmlns:a16="http://schemas.microsoft.com/office/drawing/2014/main" val="3573248231"/>
                  </a:ext>
                </a:extLst>
              </a:tr>
              <a:tr h="371171">
                <a:tc>
                  <a:txBody>
                    <a:bodyPr/>
                    <a:lstStyle/>
                    <a:p>
                      <a:r>
                        <a:rPr lang="en-IN" sz="1400"/>
                        <a:t>Gates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None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 (F,I,O)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 (Update, Reset)</a:t>
                      </a:r>
                    </a:p>
                  </a:txBody>
                  <a:tcPr marL="71755" marR="71755" marT="35877" marB="35877" anchor="ctr"/>
                </a:tc>
                <a:extLst>
                  <a:ext uri="{0D108BD9-81ED-4DB2-BD59-A6C34878D82A}">
                    <a16:rowId xmlns:a16="http://schemas.microsoft.com/office/drawing/2014/main" val="2252228659"/>
                  </a:ext>
                </a:extLst>
              </a:tr>
              <a:tr h="371171">
                <a:tc>
                  <a:txBody>
                    <a:bodyPr/>
                    <a:lstStyle/>
                    <a:p>
                      <a:r>
                        <a:rPr lang="en-IN" sz="1400"/>
                        <a:t>Speed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Fast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Slower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Faster than LSTM</a:t>
                      </a:r>
                    </a:p>
                  </a:txBody>
                  <a:tcPr marL="71755" marR="71755" marT="35877" marB="35877" anchor="ctr"/>
                </a:tc>
                <a:extLst>
                  <a:ext uri="{0D108BD9-81ED-4DB2-BD59-A6C34878D82A}">
                    <a16:rowId xmlns:a16="http://schemas.microsoft.com/office/drawing/2014/main" val="3096842750"/>
                  </a:ext>
                </a:extLst>
              </a:tr>
              <a:tr h="371171">
                <a:tc>
                  <a:txBody>
                    <a:bodyPr/>
                    <a:lstStyle/>
                    <a:p>
                      <a:r>
                        <a:rPr lang="en-IN" sz="1400"/>
                        <a:t>Use Case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Short sequences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Long context</a:t>
                      </a:r>
                    </a:p>
                  </a:txBody>
                  <a:tcPr marL="71755" marR="71755" marT="35877" marB="35877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Balanced solution</a:t>
                      </a:r>
                    </a:p>
                  </a:txBody>
                  <a:tcPr marL="71755" marR="71755" marT="35877" marB="35877" anchor="ctr"/>
                </a:tc>
                <a:extLst>
                  <a:ext uri="{0D108BD9-81ED-4DB2-BD59-A6C34878D82A}">
                    <a16:rowId xmlns:a16="http://schemas.microsoft.com/office/drawing/2014/main" val="876407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6287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DC541-0FAC-7015-81F2-2766FC409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CFABA731-5134-100A-8AE4-161D672EF21C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5759EB8-A76C-53BD-2B81-3A13547BE72B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2D23113C-D668-650D-8F86-E02C5E606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F6B14096-FC0E-EDF6-AFF7-58F31C0DF1F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99D568CB-3E94-2DE5-3AEF-F22E7F503230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F3EFC861-A386-EEFC-AF70-B70F650361FA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RNN Applications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B629242-E7A2-B05A-A88F-F44E99477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176500"/>
              </p:ext>
            </p:extLst>
          </p:nvPr>
        </p:nvGraphicFramePr>
        <p:xfrm>
          <a:off x="881530" y="2057400"/>
          <a:ext cx="5900270" cy="1752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0135">
                  <a:extLst>
                    <a:ext uri="{9D8B030D-6E8A-4147-A177-3AD203B41FA5}">
                      <a16:colId xmlns:a16="http://schemas.microsoft.com/office/drawing/2014/main" val="3057282629"/>
                    </a:ext>
                  </a:extLst>
                </a:gridCol>
                <a:gridCol w="2950135">
                  <a:extLst>
                    <a:ext uri="{9D8B030D-6E8A-4147-A177-3AD203B41FA5}">
                      <a16:colId xmlns:a16="http://schemas.microsoft.com/office/drawing/2014/main" val="1374842720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r>
                        <a:rPr lang="en-IN" sz="1200"/>
                        <a:t>Domain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Use Case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73925057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r>
                        <a:rPr lang="en-IN" sz="1200" b="1"/>
                        <a:t>NLP</a:t>
                      </a:r>
                      <a:endParaRPr lang="en-IN" sz="1200"/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Sentiment analysis, translation, chatbots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346933287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r>
                        <a:rPr lang="en-IN" sz="1200" b="1"/>
                        <a:t>Finance</a:t>
                      </a:r>
                      <a:endParaRPr lang="en-IN" sz="1200"/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Stock forecasting, fraud pattern tracking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1184859579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r>
                        <a:rPr lang="en-IN" sz="1200" b="1"/>
                        <a:t>Healthcare</a:t>
                      </a:r>
                      <a:endParaRPr lang="en-IN" sz="1200"/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Patient vitals prediction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382518387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r>
                        <a:rPr lang="en-IN" sz="1200" b="1"/>
                        <a:t>IoT</a:t>
                      </a:r>
                      <a:endParaRPr lang="en-IN" sz="1200"/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Sensor signal anomaly detection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317570935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r>
                        <a:rPr lang="en-IN" sz="1200" b="1"/>
                        <a:t>Speech Tech</a:t>
                      </a:r>
                      <a:endParaRPr lang="en-IN" sz="1200"/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Speech-to-text, voice commands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3110598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02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1878E-B641-A2A2-855C-3B02FBDF4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45E30E9C-42D2-AE4F-4C09-1943A48F5FEB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28D742D-ADEF-6002-06D2-2BF0D770101E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6F0F0AAF-6FF7-C1ED-9173-E1347FAD6D0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6A03DE3-5BA0-FB52-1AD5-350BF8AE94A8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C7D1A9F1-D6B1-7BFC-C31A-1446E6F7EE6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0F2D02F-E8A3-73BF-A40E-56A54C65A636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Advantages of RNNs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307A4A-2872-E2B4-0430-0A3DB7AC2CF5}"/>
              </a:ext>
            </a:extLst>
          </p:cNvPr>
          <p:cNvSpPr txBox="1"/>
          <p:nvPr/>
        </p:nvSpPr>
        <p:spPr>
          <a:xfrm>
            <a:off x="679707" y="1828800"/>
            <a:ext cx="9912093" cy="2776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Handles </a:t>
            </a:r>
            <a:r>
              <a:rPr lang="en-IN" b="1" dirty="0"/>
              <a:t>variable-length</a:t>
            </a:r>
            <a:r>
              <a:rPr lang="en-IN" dirty="0"/>
              <a:t> sequences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Remembers context from past inputs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Good for </a:t>
            </a:r>
            <a:r>
              <a:rPr lang="en-IN" b="1" dirty="0"/>
              <a:t>language and time-based data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Can generate new text, music, or signals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903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467DD-92EA-F077-DA75-CDCFB6AA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34D48BF9-03CF-B4A6-E1CA-DC575E8C454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FBAF3ED2-BE4E-445C-9B63-56E23820F5B8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B3E459F2-110A-1C1E-82CF-CC7E5989A8E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3EE7AE7E-57B2-6158-8FEA-288572F98FE8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6E4A2DF-0614-A5BF-7496-43D3428F489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84488A4F-0261-3E6F-27BB-91204B750B1A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Limitations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2D04B-1FF0-7F23-CF65-21E12D0A3337}"/>
              </a:ext>
            </a:extLst>
          </p:cNvPr>
          <p:cNvSpPr txBox="1"/>
          <p:nvPr/>
        </p:nvSpPr>
        <p:spPr>
          <a:xfrm>
            <a:off x="679707" y="1828800"/>
            <a:ext cx="9912093" cy="2776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Hard to train on long sequences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Sequential processing → slow training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Difficult parallelization compared to CNNs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Replaced in many NLP tasks by </a:t>
            </a:r>
            <a:r>
              <a:rPr lang="en-IN" b="1" dirty="0"/>
              <a:t>Transformers</a:t>
            </a: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9254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7A007-5B30-C29A-F57F-0028D873D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095CAD83-70E7-9BCC-2EF1-A25646658DE8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13751616-A4AC-C595-5516-DDEE08865AF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4B1F64B-893B-CBC6-6A15-EB169E60FD1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43DC7C3-BE60-CFC6-CFC8-DB04AFB574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535A3EE-079C-6F74-3798-75FFA6D4FFAC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07CEBBA5-0E1F-C8BA-25A9-413AE64A7631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RNN vs CNN Quick Comparison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CE4C3C-47B0-E9D2-0C44-C7031DDEF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667775"/>
              </p:ext>
            </p:extLst>
          </p:nvPr>
        </p:nvGraphicFramePr>
        <p:xfrm>
          <a:off x="1219200" y="1989508"/>
          <a:ext cx="6477000" cy="19728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4046682076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355134207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384469858"/>
                    </a:ext>
                  </a:extLst>
                </a:gridCol>
              </a:tblGrid>
              <a:tr h="328815">
                <a:tc>
                  <a:txBody>
                    <a:bodyPr/>
                    <a:lstStyle/>
                    <a:p>
                      <a:r>
                        <a:rPr lang="en-IN" sz="1200"/>
                        <a:t>Feature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RNN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CNN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3621701768"/>
                  </a:ext>
                </a:extLst>
              </a:tr>
              <a:tr h="328815">
                <a:tc>
                  <a:txBody>
                    <a:bodyPr/>
                    <a:lstStyle/>
                    <a:p>
                      <a:r>
                        <a:rPr lang="en-IN" sz="1200"/>
                        <a:t>Data Type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Sequential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Spatial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2789175063"/>
                  </a:ext>
                </a:extLst>
              </a:tr>
              <a:tr h="328815">
                <a:tc>
                  <a:txBody>
                    <a:bodyPr/>
                    <a:lstStyle/>
                    <a:p>
                      <a:r>
                        <a:rPr lang="en-IN" sz="1200"/>
                        <a:t>Memory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No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219572385"/>
                  </a:ext>
                </a:extLst>
              </a:tr>
              <a:tr h="328815">
                <a:tc>
                  <a:txBody>
                    <a:bodyPr/>
                    <a:lstStyle/>
                    <a:p>
                      <a:r>
                        <a:rPr lang="en-IN" sz="1200"/>
                        <a:t>Speed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Slower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Faster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427355596"/>
                  </a:ext>
                </a:extLst>
              </a:tr>
              <a:tr h="328815">
                <a:tc>
                  <a:txBody>
                    <a:bodyPr/>
                    <a:lstStyle/>
                    <a:p>
                      <a:r>
                        <a:rPr lang="en-IN" sz="1200"/>
                        <a:t>Key Use Case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Text, time series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Images, videos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720788904"/>
                  </a:ext>
                </a:extLst>
              </a:tr>
              <a:tr h="328815">
                <a:tc>
                  <a:txBody>
                    <a:bodyPr/>
                    <a:lstStyle/>
                    <a:p>
                      <a:r>
                        <a:rPr lang="en-IN" sz="1200"/>
                        <a:t>Example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Translation</a:t>
                      </a:r>
                    </a:p>
                  </a:txBody>
                  <a:tcPr marL="59796" marR="59796" marT="29898" marB="29898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Object detection</a:t>
                      </a:r>
                    </a:p>
                  </a:txBody>
                  <a:tcPr marL="59796" marR="59796" marT="29898" marB="29898" anchor="ctr"/>
                </a:tc>
                <a:extLst>
                  <a:ext uri="{0D108BD9-81ED-4DB2-BD59-A6C34878D82A}">
                    <a16:rowId xmlns:a16="http://schemas.microsoft.com/office/drawing/2014/main" val="1783893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140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BA559-97C6-1EB9-EF75-222892FD7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01B0B6F-958E-B7D8-9A7D-154406A0C91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25A0E609-662C-3AD4-5AB7-A03426E9F7EB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92837E4-3128-3E71-BFF7-B04EAD78AA1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5F67B6D2-8479-C30B-1E58-C87E87B538F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DB4347B-E57E-4A10-467E-F4C6867D4AAF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A4197D03-BFCD-90B1-C37D-5A5D50277E22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Modern CNN Architectures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4FFF734-0D97-5D84-2D52-065E154EC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563455"/>
              </p:ext>
            </p:extLst>
          </p:nvPr>
        </p:nvGraphicFramePr>
        <p:xfrm>
          <a:off x="990600" y="1993898"/>
          <a:ext cx="5562600" cy="25019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1300">
                  <a:extLst>
                    <a:ext uri="{9D8B030D-6E8A-4147-A177-3AD203B41FA5}">
                      <a16:colId xmlns:a16="http://schemas.microsoft.com/office/drawing/2014/main" val="169428995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876089134"/>
                    </a:ext>
                  </a:extLst>
                </a:gridCol>
              </a:tblGrid>
              <a:tr h="333587">
                <a:tc>
                  <a:txBody>
                    <a:bodyPr/>
                    <a:lstStyle/>
                    <a:p>
                      <a:r>
                        <a:rPr lang="en-IN" sz="1200"/>
                        <a:t>Model</a:t>
                      </a:r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Key Innovation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198486953"/>
                  </a:ext>
                </a:extLst>
              </a:tr>
              <a:tr h="333587">
                <a:tc>
                  <a:txBody>
                    <a:bodyPr/>
                    <a:lstStyle/>
                    <a:p>
                      <a:r>
                        <a:rPr lang="en-IN" sz="1200" b="1"/>
                        <a:t>LeNet-5 (1998)</a:t>
                      </a:r>
                      <a:endParaRPr lang="en-IN" sz="120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First classic CNN for digits (MNIST)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573316009"/>
                  </a:ext>
                </a:extLst>
              </a:tr>
              <a:tr h="583777">
                <a:tc>
                  <a:txBody>
                    <a:bodyPr/>
                    <a:lstStyle/>
                    <a:p>
                      <a:r>
                        <a:rPr lang="en-IN" sz="1200" b="1" dirty="0" err="1"/>
                        <a:t>AlexNet</a:t>
                      </a:r>
                      <a:r>
                        <a:rPr lang="en-IN" sz="1200" b="1" dirty="0"/>
                        <a:t> (2012)</a:t>
                      </a:r>
                      <a:endParaRPr lang="en-IN" sz="1200" dirty="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Introduced ReLU &amp; GPUs for large-scale vision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460134131"/>
                  </a:ext>
                </a:extLst>
              </a:tr>
              <a:tr h="333587">
                <a:tc>
                  <a:txBody>
                    <a:bodyPr/>
                    <a:lstStyle/>
                    <a:p>
                      <a:r>
                        <a:rPr lang="en-IN" sz="1200" b="1"/>
                        <a:t>VGGNet (2014)</a:t>
                      </a:r>
                      <a:endParaRPr lang="en-IN" sz="120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Deep but simple 3×3 filters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2014033745"/>
                  </a:ext>
                </a:extLst>
              </a:tr>
              <a:tr h="583777">
                <a:tc>
                  <a:txBody>
                    <a:bodyPr/>
                    <a:lstStyle/>
                    <a:p>
                      <a:r>
                        <a:rPr lang="en-IN" sz="1200" b="1" dirty="0" err="1"/>
                        <a:t>ResNet</a:t>
                      </a:r>
                      <a:r>
                        <a:rPr lang="en-IN" sz="1200" b="1" dirty="0"/>
                        <a:t> (2015)</a:t>
                      </a:r>
                      <a:endParaRPr lang="en-IN" sz="1200" dirty="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Skip connections to train very deep networks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26970901"/>
                  </a:ext>
                </a:extLst>
              </a:tr>
              <a:tr h="333587">
                <a:tc>
                  <a:txBody>
                    <a:bodyPr/>
                    <a:lstStyle/>
                    <a:p>
                      <a:r>
                        <a:rPr lang="en-IN" sz="1200" b="1"/>
                        <a:t>EfficientNet (2019)</a:t>
                      </a:r>
                      <a:endParaRPr lang="en-IN" sz="1200"/>
                    </a:p>
                  </a:txBody>
                  <a:tcPr marL="47837" marR="47837" marT="23918" marB="23918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Scales depth, width, resolution efficiently</a:t>
                      </a:r>
                    </a:p>
                  </a:txBody>
                  <a:tcPr marL="47837" marR="47837" marT="23918" marB="23918" anchor="ctr"/>
                </a:tc>
                <a:extLst>
                  <a:ext uri="{0D108BD9-81ED-4DB2-BD59-A6C34878D82A}">
                    <a16:rowId xmlns:a16="http://schemas.microsoft.com/office/drawing/2014/main" val="2388560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945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ABC34-4F29-D8D1-2206-9AB1C2E5E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22CA2E91-7B80-FC83-A8F7-3B0E1965365D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83A0A2EB-87BA-7C92-6B8E-5246EA4F9D22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D738319-48A0-B184-3416-11A6F9AD9AE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BE5E1AD-98F2-B84F-131E-05F9C39FEA1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CBFD43E7-E696-90C0-6A55-526FE98F90A3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067CA5B-CBC2-3CB5-D28B-607DCE794214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000" dirty="0"/>
              <a:t>Summary</a:t>
            </a:r>
            <a:endParaRPr sz="40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57CC1-04DA-06CA-D61A-16115EAFA99C}"/>
              </a:ext>
            </a:extLst>
          </p:cNvPr>
          <p:cNvSpPr txBox="1"/>
          <p:nvPr/>
        </p:nvSpPr>
        <p:spPr>
          <a:xfrm>
            <a:off x="855027" y="1770379"/>
            <a:ext cx="6097656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CNNs are powerful for </a:t>
            </a:r>
            <a:r>
              <a:rPr lang="en-IN" b="1" dirty="0"/>
              <a:t>image &amp; spatial data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Core idea: </a:t>
            </a:r>
            <a:r>
              <a:rPr lang="en-IN" b="1" dirty="0"/>
              <a:t>convolutions + pooling + dense layers</a:t>
            </a:r>
            <a:endParaRPr lang="en-I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Learn </a:t>
            </a:r>
            <a:r>
              <a:rPr lang="en-IN" b="1" dirty="0"/>
              <a:t>automatically</a:t>
            </a:r>
            <a:r>
              <a:rPr lang="en-IN" dirty="0"/>
              <a:t>, no need for manual feature extraction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/>
              <a:t>Foundation for modern </a:t>
            </a:r>
            <a:r>
              <a:rPr lang="en-IN" b="1" dirty="0"/>
              <a:t>AI vision systems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33272</TotalTime>
  <Words>1065</Words>
  <Application>Microsoft Macintosh PowerPoint</Application>
  <PresentationFormat>Widescreen</PresentationFormat>
  <Paragraphs>182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37</cp:revision>
  <dcterms:created xsi:type="dcterms:W3CDTF">2025-09-17T13:52:51Z</dcterms:created>
  <dcterms:modified xsi:type="dcterms:W3CDTF">2025-11-05T16:44:36Z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