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61" r:id="rId2"/>
    <p:sldId id="262" r:id="rId3"/>
    <p:sldId id="263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82" r:id="rId16"/>
    <p:sldId id="283" r:id="rId17"/>
    <p:sldId id="284" r:id="rId18"/>
    <p:sldId id="285" r:id="rId1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45"/>
  </p:normalViewPr>
  <p:slideViewPr>
    <p:cSldViewPr>
      <p:cViewPr varScale="1">
        <p:scale>
          <a:sx n="118" d="100"/>
          <a:sy n="118" d="100"/>
        </p:scale>
        <p:origin x="600" y="20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544D7F-A89F-BD45-A303-0BFEC5123660}" type="datetimeFigureOut">
              <a:rPr lang="en-US" smtClean="0"/>
              <a:t>11/5/25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57C749-F60A-8342-826B-5F481864A0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0408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Start by reminding the team that linear regression is limited to straight-line relationships. Polynomial regression extends it by adding squared and cubic terms, allowing curved fits.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polynomial regression is not a completely new algorithm—it’s just linear regression on transformed features. The coefficients are still learned linearly, but the features are higher powers of 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4F1DB-86E7-6C55-9B30-6063141FF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CD6C57-E660-BFA9-8A77-B963A94E37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3D5C41-8609-4503-2246-678645BA82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polynomial regression is not a completely new algorithm—it’s just linear regression on transformed features. The coefficients are still learned linearly, but the features are higher powers of x.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A7CDE9-C80A-5ED1-D972-6D6F716F06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0955578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34479-17E6-0EDA-57EF-F39595795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15E3D9-E346-D025-5DB2-6B6E46A271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4D203E-6526-CCF6-B18A-7D4E744763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Wrap up by summarizing the power and risk of polynomial regression. Encourage students to experiment with low-degree polynomials.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8848B3-F1C1-F930-0AA4-5135ACF29A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4621441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A8A54-1564-45D9-F7BF-F9792044E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3A0B9B-0F53-6490-51B8-59634DA6A8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EA86F6-330A-16D6-9FE9-E8BBDFB986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Wrap up by summarizing the power and risk of polynomial regression. Encourage students to experiment with low-degree polynomials.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1833C5-04B7-4917-5603-BDC8B68681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7205083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714D3-772D-D7FC-04CA-7FE803FDB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48ED2B-4A3A-52CC-C5BC-B751403B8F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55126E-1F48-5DF0-E3E1-BF9BFB1DD4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Wrap up by summarizing the power and risk of polynomial regression. Encourage students to experiment with low-degree polynomials.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FBBD9F-C614-0770-02CE-7150E0D4FB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4310085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89E42-51D1-9F07-3D1D-86598B03F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AA0182-3A87-C273-2781-74E5AE5096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434053-827B-4142-DE06-D74E56FE3A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Wrap up by summarizing the power and risk of polynomial regression. Encourage students to experiment with low-degree polynomials.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710660-3D64-2A72-2D22-715F9203E7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9012604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27574-F3E1-31FC-E753-BA8BF9082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B15645-438A-7B7E-0985-D1B6861A90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E2DEB5-1684-64D7-2D57-BA7A1D38BD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Wrap up by summarizing the power and risk of polynomial regression. Encourage students to experiment with low-degree polynomials.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288CFC-FF4E-9119-E3AE-2CE861D3DC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6921445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27090-3C2C-24EF-D945-5D645EEBA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601B46-8470-AF9A-9E54-AC0F6907C8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4BE41C-E1DF-1EC3-037B-66F7A6821E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Wrap up by summarizing the power and risk of polynomial regression. Encourage students to experiment with low-degree polynomials.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04614E-D23C-F53F-DD17-DF4F93D7E3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2804828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55F20-79FB-AEB5-FDBE-6C3C645E4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F3A7D6-0466-6A3C-3FD8-895F2210A7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95C2E5-0777-B546-AE5F-8115091790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Wrap up by summarizing the power and risk of polynomial regression. Encourage students to experiment with low-degree polynomials.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065B18-758A-8BAB-6C55-BDFA4A160A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5367057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3BF05-1D3F-BB06-47CB-785530879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861A56-8E28-D701-808E-B601B821A6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096ECC-C202-DC24-C241-510DBA4828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Wrap up by summarizing the power and risk of polynomial regression. Encourage students to experiment with low-degree polynomials.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A2A674-FCDB-901B-1D9B-82A495D432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6248685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B1509-7CCA-7750-0ED7-43D32C973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329AB6-96AF-F8BB-F11E-749CF9F594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A941FC-B071-63BC-FE9A-4BC141D9E9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Wrap up by summarizing the power and risk of polynomial regression. Encourage students to experiment with low-degree polynomials.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684E44-CEE5-0BB7-8765-41F4751BEE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9825325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A32EE-1FBF-0B55-ABAF-2FC482B2C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4A08E9-C2B0-8402-1141-501D4016B3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1A065D-67DD-7CEB-C54D-339221BC65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Wrap up by summarizing the power and risk of polynomial regression. Encourage students to experiment with low-degree polynomials.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7B8C66-B7CF-005B-482C-5B222D1894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3002667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5162F-9C6E-24A2-30A6-25CC6446F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B928F8-61FA-86B0-2FAE-4CB68D1352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1B237E-49D3-1101-9A2F-542C137BA8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Wrap up by summarizing the power and risk of polynomial regression. Encourage students to experiment with low-degree polynomials.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903D2C-3646-2C57-9AEE-B822E9D311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0082354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52D26-6E88-59F6-B0D8-F984A74F9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D6B647-2422-752E-12F3-9A2E6744AB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BC625D-9373-1D77-6A2D-E317A6E69E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Wrap up by summarizing the power and risk of polynomial regression. Encourage students to experiment with low-degree polynomials.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903714-3CC1-7147-53C0-315960BDB0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1208182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4E53A-41CB-7DAD-A390-23A84EC89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CE7990-511B-9B1F-4EC4-1B5EA660E5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C9583D-8516-8828-2D69-A867D4DE4F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Wrap up by summarizing the power and risk of polynomial regression. Encourage students to experiment with low-degree polynomials.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D487C3-6113-C38E-C73C-B87CE1A4B3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5074832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73B33-6C8D-B7B1-A18B-7EFD1408A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5BF602-6E86-A2FD-28B7-5E1DECFEBA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2781F5-F8FE-AEBF-7DB3-6896208322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Wrap up by summarizing the power and risk of polynomial regression. Encourage students to experiment with low-degree polynomials.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4DB879-4BC7-0D91-216C-BBC48E9CFC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334277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11/5/25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11/5/25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11/5/25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11/5/25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02780" y="247713"/>
            <a:ext cx="368935" cy="372110"/>
          </a:xfrm>
          <a:custGeom>
            <a:avLst/>
            <a:gdLst/>
            <a:ahLst/>
            <a:cxnLst/>
            <a:rect l="l" t="t" r="r" b="b"/>
            <a:pathLst>
              <a:path w="368934" h="372109">
                <a:moveTo>
                  <a:pt x="232422" y="38227"/>
                </a:moveTo>
                <a:lnTo>
                  <a:pt x="194475" y="0"/>
                </a:lnTo>
                <a:lnTo>
                  <a:pt x="0" y="195897"/>
                </a:lnTo>
                <a:lnTo>
                  <a:pt x="0" y="202234"/>
                </a:lnTo>
                <a:lnTo>
                  <a:pt x="54457" y="257086"/>
                </a:lnTo>
                <a:lnTo>
                  <a:pt x="92405" y="218859"/>
                </a:lnTo>
                <a:lnTo>
                  <a:pt x="74295" y="200609"/>
                </a:lnTo>
                <a:lnTo>
                  <a:pt x="74295" y="197446"/>
                </a:lnTo>
                <a:lnTo>
                  <a:pt x="76238" y="195491"/>
                </a:lnTo>
                <a:lnTo>
                  <a:pt x="232422" y="38227"/>
                </a:lnTo>
                <a:close/>
              </a:path>
              <a:path w="368934" h="372109">
                <a:moveTo>
                  <a:pt x="368655" y="175463"/>
                </a:moveTo>
                <a:lnTo>
                  <a:pt x="330720" y="137261"/>
                </a:lnTo>
                <a:lnTo>
                  <a:pt x="172427" y="296735"/>
                </a:lnTo>
                <a:lnTo>
                  <a:pt x="169291" y="296735"/>
                </a:lnTo>
                <a:lnTo>
                  <a:pt x="151180" y="278485"/>
                </a:lnTo>
                <a:lnTo>
                  <a:pt x="113233" y="316712"/>
                </a:lnTo>
                <a:lnTo>
                  <a:pt x="167690" y="371563"/>
                </a:lnTo>
                <a:lnTo>
                  <a:pt x="173977" y="371563"/>
                </a:lnTo>
                <a:lnTo>
                  <a:pt x="248272" y="296735"/>
                </a:lnTo>
                <a:lnTo>
                  <a:pt x="368655" y="1754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757" y="250446"/>
            <a:ext cx="252302" cy="231140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403264" y="364205"/>
            <a:ext cx="230504" cy="255270"/>
          </a:xfrm>
          <a:custGeom>
            <a:avLst/>
            <a:gdLst/>
            <a:ahLst/>
            <a:cxnLst/>
            <a:rect l="l" t="t" r="r" b="b"/>
            <a:pathLst>
              <a:path w="230504" h="255270">
                <a:moveTo>
                  <a:pt x="175748" y="0"/>
                </a:moveTo>
                <a:lnTo>
                  <a:pt x="137798" y="38227"/>
                </a:lnTo>
                <a:lnTo>
                  <a:pt x="153963" y="54509"/>
                </a:lnTo>
                <a:lnTo>
                  <a:pt x="155908" y="56470"/>
                </a:lnTo>
                <a:lnTo>
                  <a:pt x="155908" y="59630"/>
                </a:lnTo>
                <a:lnTo>
                  <a:pt x="0" y="216678"/>
                </a:lnTo>
                <a:lnTo>
                  <a:pt x="37950" y="254905"/>
                </a:lnTo>
                <a:lnTo>
                  <a:pt x="230219" y="61230"/>
                </a:lnTo>
                <a:lnTo>
                  <a:pt x="230219" y="54890"/>
                </a:lnTo>
                <a:lnTo>
                  <a:pt x="226347" y="50990"/>
                </a:lnTo>
                <a:lnTo>
                  <a:pt x="1757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11/5/25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2769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2769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77940"/>
            <a:ext cx="2804160" cy="27699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45280" y="6377940"/>
            <a:ext cx="3901440" cy="276999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78240" y="6377940"/>
            <a:ext cx="2804160" cy="27699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402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55027" y="211612"/>
            <a:ext cx="9801225" cy="10972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7575" y="2098992"/>
            <a:ext cx="8703310" cy="1435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11/5/25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6">
            <a:extLst>
              <a:ext uri="{FF2B5EF4-FFF2-40B4-BE49-F238E27FC236}">
                <a16:creationId xmlns:a16="http://schemas.microsoft.com/office/drawing/2014/main" id="{9ED7B8BF-4802-9411-B9EB-1D61C7544BB3}"/>
              </a:ext>
            </a:extLst>
          </p:cNvPr>
          <p:cNvGrpSpPr/>
          <p:nvPr/>
        </p:nvGrpSpPr>
        <p:grpSpPr>
          <a:xfrm>
            <a:off x="10106025" y="76200"/>
            <a:ext cx="2085975" cy="1666875"/>
            <a:chOff x="10115550" y="-9525"/>
            <a:chExt cx="2085975" cy="1666875"/>
          </a:xfrm>
        </p:grpSpPr>
        <p:sp>
          <p:nvSpPr>
            <p:cNvPr id="5" name="object 7">
              <a:extLst>
                <a:ext uri="{FF2B5EF4-FFF2-40B4-BE49-F238E27FC236}">
                  <a16:creationId xmlns:a16="http://schemas.microsoft.com/office/drawing/2014/main" id="{93C2435D-86AB-21E0-9A25-19A985E164D3}"/>
                </a:ext>
              </a:extLst>
            </p:cNvPr>
            <p:cNvSpPr/>
            <p:nvPr/>
          </p:nvSpPr>
          <p:spPr>
            <a:xfrm>
              <a:off x="10125075" y="0"/>
              <a:ext cx="2066925" cy="1647825"/>
            </a:xfrm>
            <a:custGeom>
              <a:avLst/>
              <a:gdLst/>
              <a:ahLst/>
              <a:cxnLst/>
              <a:rect l="l" t="t" r="r" b="b"/>
              <a:pathLst>
                <a:path w="2066925" h="1647825">
                  <a:moveTo>
                    <a:pt x="2066925" y="0"/>
                  </a:moveTo>
                  <a:lnTo>
                    <a:pt x="5140" y="0"/>
                  </a:lnTo>
                  <a:lnTo>
                    <a:pt x="2998" y="27450"/>
                  </a:lnTo>
                  <a:lnTo>
                    <a:pt x="753" y="75449"/>
                  </a:lnTo>
                  <a:lnTo>
                    <a:pt x="0" y="123825"/>
                  </a:lnTo>
                  <a:lnTo>
                    <a:pt x="753" y="172200"/>
                  </a:lnTo>
                  <a:lnTo>
                    <a:pt x="2998" y="220199"/>
                  </a:lnTo>
                  <a:lnTo>
                    <a:pt x="6713" y="267800"/>
                  </a:lnTo>
                  <a:lnTo>
                    <a:pt x="11874" y="314981"/>
                  </a:lnTo>
                  <a:lnTo>
                    <a:pt x="18461" y="361720"/>
                  </a:lnTo>
                  <a:lnTo>
                    <a:pt x="26450" y="407993"/>
                  </a:lnTo>
                  <a:lnTo>
                    <a:pt x="35820" y="453779"/>
                  </a:lnTo>
                  <a:lnTo>
                    <a:pt x="46547" y="499056"/>
                  </a:lnTo>
                  <a:lnTo>
                    <a:pt x="58610" y="543800"/>
                  </a:lnTo>
                  <a:lnTo>
                    <a:pt x="71986" y="587990"/>
                  </a:lnTo>
                  <a:lnTo>
                    <a:pt x="86653" y="631604"/>
                  </a:lnTo>
                  <a:lnTo>
                    <a:pt x="102589" y="674618"/>
                  </a:lnTo>
                  <a:lnTo>
                    <a:pt x="119770" y="717012"/>
                  </a:lnTo>
                  <a:lnTo>
                    <a:pt x="138176" y="758762"/>
                  </a:lnTo>
                  <a:lnTo>
                    <a:pt x="157784" y="799845"/>
                  </a:lnTo>
                  <a:lnTo>
                    <a:pt x="178570" y="840241"/>
                  </a:lnTo>
                  <a:lnTo>
                    <a:pt x="200514" y="879926"/>
                  </a:lnTo>
                  <a:lnTo>
                    <a:pt x="223593" y="918879"/>
                  </a:lnTo>
                  <a:lnTo>
                    <a:pt x="247783" y="957076"/>
                  </a:lnTo>
                  <a:lnTo>
                    <a:pt x="273064" y="994495"/>
                  </a:lnTo>
                  <a:lnTo>
                    <a:pt x="299412" y="1031115"/>
                  </a:lnTo>
                  <a:lnTo>
                    <a:pt x="326806" y="1066913"/>
                  </a:lnTo>
                  <a:lnTo>
                    <a:pt x="355223" y="1101866"/>
                  </a:lnTo>
                  <a:lnTo>
                    <a:pt x="384641" y="1135952"/>
                  </a:lnTo>
                  <a:lnTo>
                    <a:pt x="415037" y="1169150"/>
                  </a:lnTo>
                  <a:lnTo>
                    <a:pt x="446389" y="1201435"/>
                  </a:lnTo>
                  <a:lnTo>
                    <a:pt x="478674" y="1232787"/>
                  </a:lnTo>
                  <a:lnTo>
                    <a:pt x="511872" y="1263183"/>
                  </a:lnTo>
                  <a:lnTo>
                    <a:pt x="545958" y="1292601"/>
                  </a:lnTo>
                  <a:lnTo>
                    <a:pt x="580911" y="1321018"/>
                  </a:lnTo>
                  <a:lnTo>
                    <a:pt x="616709" y="1348412"/>
                  </a:lnTo>
                  <a:lnTo>
                    <a:pt x="653329" y="1374760"/>
                  </a:lnTo>
                  <a:lnTo>
                    <a:pt x="690748" y="1400041"/>
                  </a:lnTo>
                  <a:lnTo>
                    <a:pt x="728945" y="1424231"/>
                  </a:lnTo>
                  <a:lnTo>
                    <a:pt x="767898" y="1447310"/>
                  </a:lnTo>
                  <a:lnTo>
                    <a:pt x="807583" y="1469254"/>
                  </a:lnTo>
                  <a:lnTo>
                    <a:pt x="847979" y="1490040"/>
                  </a:lnTo>
                  <a:lnTo>
                    <a:pt x="889062" y="1509648"/>
                  </a:lnTo>
                  <a:lnTo>
                    <a:pt x="930812" y="1528054"/>
                  </a:lnTo>
                  <a:lnTo>
                    <a:pt x="973206" y="1545235"/>
                  </a:lnTo>
                  <a:lnTo>
                    <a:pt x="1016220" y="1561171"/>
                  </a:lnTo>
                  <a:lnTo>
                    <a:pt x="1059834" y="1575838"/>
                  </a:lnTo>
                  <a:lnTo>
                    <a:pt x="1104024" y="1589214"/>
                  </a:lnTo>
                  <a:lnTo>
                    <a:pt x="1148768" y="1601277"/>
                  </a:lnTo>
                  <a:lnTo>
                    <a:pt x="1194045" y="1612004"/>
                  </a:lnTo>
                  <a:lnTo>
                    <a:pt x="1239831" y="1621374"/>
                  </a:lnTo>
                  <a:lnTo>
                    <a:pt x="1286104" y="1629363"/>
                  </a:lnTo>
                  <a:lnTo>
                    <a:pt x="1332843" y="1635950"/>
                  </a:lnTo>
                  <a:lnTo>
                    <a:pt x="1380024" y="1641111"/>
                  </a:lnTo>
                  <a:lnTo>
                    <a:pt x="1427625" y="1644826"/>
                  </a:lnTo>
                  <a:lnTo>
                    <a:pt x="1475624" y="1647071"/>
                  </a:lnTo>
                  <a:lnTo>
                    <a:pt x="1524000" y="1647825"/>
                  </a:lnTo>
                  <a:lnTo>
                    <a:pt x="1572375" y="1647071"/>
                  </a:lnTo>
                  <a:lnTo>
                    <a:pt x="1620374" y="1644826"/>
                  </a:lnTo>
                  <a:lnTo>
                    <a:pt x="1667975" y="1641111"/>
                  </a:lnTo>
                  <a:lnTo>
                    <a:pt x="1715156" y="1635950"/>
                  </a:lnTo>
                  <a:lnTo>
                    <a:pt x="1761895" y="1629363"/>
                  </a:lnTo>
                  <a:lnTo>
                    <a:pt x="1808168" y="1621374"/>
                  </a:lnTo>
                  <a:lnTo>
                    <a:pt x="1853954" y="1612004"/>
                  </a:lnTo>
                  <a:lnTo>
                    <a:pt x="1899231" y="1601277"/>
                  </a:lnTo>
                  <a:lnTo>
                    <a:pt x="1943975" y="1589214"/>
                  </a:lnTo>
                  <a:lnTo>
                    <a:pt x="1988165" y="1575838"/>
                  </a:lnTo>
                  <a:lnTo>
                    <a:pt x="2031779" y="1561171"/>
                  </a:lnTo>
                  <a:lnTo>
                    <a:pt x="2066925" y="1548151"/>
                  </a:lnTo>
                  <a:lnTo>
                    <a:pt x="20669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8">
              <a:extLst>
                <a:ext uri="{FF2B5EF4-FFF2-40B4-BE49-F238E27FC236}">
                  <a16:creationId xmlns:a16="http://schemas.microsoft.com/office/drawing/2014/main" id="{2812E270-21E9-B66F-47B2-E8AFED974E04}"/>
                </a:ext>
              </a:extLst>
            </p:cNvPr>
            <p:cNvSpPr/>
            <p:nvPr/>
          </p:nvSpPr>
          <p:spPr>
            <a:xfrm>
              <a:off x="10125075" y="0"/>
              <a:ext cx="2066925" cy="1647825"/>
            </a:xfrm>
            <a:custGeom>
              <a:avLst/>
              <a:gdLst/>
              <a:ahLst/>
              <a:cxnLst/>
              <a:rect l="l" t="t" r="r" b="b"/>
              <a:pathLst>
                <a:path w="2066925" h="1647825">
                  <a:moveTo>
                    <a:pt x="2066925" y="1548151"/>
                  </a:moveTo>
                  <a:lnTo>
                    <a:pt x="1988165" y="1575838"/>
                  </a:lnTo>
                  <a:lnTo>
                    <a:pt x="1943975" y="1589214"/>
                  </a:lnTo>
                  <a:lnTo>
                    <a:pt x="1899231" y="1601277"/>
                  </a:lnTo>
                  <a:lnTo>
                    <a:pt x="1853954" y="1612004"/>
                  </a:lnTo>
                  <a:lnTo>
                    <a:pt x="1808168" y="1621374"/>
                  </a:lnTo>
                  <a:lnTo>
                    <a:pt x="1761895" y="1629363"/>
                  </a:lnTo>
                  <a:lnTo>
                    <a:pt x="1715156" y="1635950"/>
                  </a:lnTo>
                  <a:lnTo>
                    <a:pt x="1667975" y="1641111"/>
                  </a:lnTo>
                  <a:lnTo>
                    <a:pt x="1620374" y="1644826"/>
                  </a:lnTo>
                  <a:lnTo>
                    <a:pt x="1572375" y="1647071"/>
                  </a:lnTo>
                  <a:lnTo>
                    <a:pt x="1524000" y="1647825"/>
                  </a:lnTo>
                  <a:lnTo>
                    <a:pt x="1475624" y="1647071"/>
                  </a:lnTo>
                  <a:lnTo>
                    <a:pt x="1427625" y="1644826"/>
                  </a:lnTo>
                  <a:lnTo>
                    <a:pt x="1380024" y="1641111"/>
                  </a:lnTo>
                  <a:lnTo>
                    <a:pt x="1332843" y="1635950"/>
                  </a:lnTo>
                  <a:lnTo>
                    <a:pt x="1286104" y="1629363"/>
                  </a:lnTo>
                  <a:lnTo>
                    <a:pt x="1239831" y="1621374"/>
                  </a:lnTo>
                  <a:lnTo>
                    <a:pt x="1194045" y="1612004"/>
                  </a:lnTo>
                  <a:lnTo>
                    <a:pt x="1148768" y="1601277"/>
                  </a:lnTo>
                  <a:lnTo>
                    <a:pt x="1104024" y="1589214"/>
                  </a:lnTo>
                  <a:lnTo>
                    <a:pt x="1059834" y="1575838"/>
                  </a:lnTo>
                  <a:lnTo>
                    <a:pt x="1016220" y="1561171"/>
                  </a:lnTo>
                  <a:lnTo>
                    <a:pt x="973206" y="1545235"/>
                  </a:lnTo>
                  <a:lnTo>
                    <a:pt x="930812" y="1528054"/>
                  </a:lnTo>
                  <a:lnTo>
                    <a:pt x="889062" y="1509648"/>
                  </a:lnTo>
                  <a:lnTo>
                    <a:pt x="847979" y="1490040"/>
                  </a:lnTo>
                  <a:lnTo>
                    <a:pt x="807583" y="1469254"/>
                  </a:lnTo>
                  <a:lnTo>
                    <a:pt x="767898" y="1447310"/>
                  </a:lnTo>
                  <a:lnTo>
                    <a:pt x="728945" y="1424231"/>
                  </a:lnTo>
                  <a:lnTo>
                    <a:pt x="690748" y="1400041"/>
                  </a:lnTo>
                  <a:lnTo>
                    <a:pt x="653329" y="1374760"/>
                  </a:lnTo>
                  <a:lnTo>
                    <a:pt x="616709" y="1348412"/>
                  </a:lnTo>
                  <a:lnTo>
                    <a:pt x="580911" y="1321018"/>
                  </a:lnTo>
                  <a:lnTo>
                    <a:pt x="545958" y="1292601"/>
                  </a:lnTo>
                  <a:lnTo>
                    <a:pt x="511872" y="1263183"/>
                  </a:lnTo>
                  <a:lnTo>
                    <a:pt x="478674" y="1232787"/>
                  </a:lnTo>
                  <a:lnTo>
                    <a:pt x="446389" y="1201435"/>
                  </a:lnTo>
                  <a:lnTo>
                    <a:pt x="415037" y="1169150"/>
                  </a:lnTo>
                  <a:lnTo>
                    <a:pt x="384641" y="1135952"/>
                  </a:lnTo>
                  <a:lnTo>
                    <a:pt x="355223" y="1101866"/>
                  </a:lnTo>
                  <a:lnTo>
                    <a:pt x="326806" y="1066913"/>
                  </a:lnTo>
                  <a:lnTo>
                    <a:pt x="299412" y="1031115"/>
                  </a:lnTo>
                  <a:lnTo>
                    <a:pt x="273064" y="994495"/>
                  </a:lnTo>
                  <a:lnTo>
                    <a:pt x="247783" y="957076"/>
                  </a:lnTo>
                  <a:lnTo>
                    <a:pt x="223593" y="918879"/>
                  </a:lnTo>
                  <a:lnTo>
                    <a:pt x="200514" y="879926"/>
                  </a:lnTo>
                  <a:lnTo>
                    <a:pt x="178570" y="840241"/>
                  </a:lnTo>
                  <a:lnTo>
                    <a:pt x="157784" y="799845"/>
                  </a:lnTo>
                  <a:lnTo>
                    <a:pt x="138176" y="758762"/>
                  </a:lnTo>
                  <a:lnTo>
                    <a:pt x="119770" y="717012"/>
                  </a:lnTo>
                  <a:lnTo>
                    <a:pt x="102589" y="674618"/>
                  </a:lnTo>
                  <a:lnTo>
                    <a:pt x="86653" y="631604"/>
                  </a:lnTo>
                  <a:lnTo>
                    <a:pt x="71986" y="587990"/>
                  </a:lnTo>
                  <a:lnTo>
                    <a:pt x="58610" y="543800"/>
                  </a:lnTo>
                  <a:lnTo>
                    <a:pt x="46547" y="499056"/>
                  </a:lnTo>
                  <a:lnTo>
                    <a:pt x="35820" y="453779"/>
                  </a:lnTo>
                  <a:lnTo>
                    <a:pt x="26450" y="407993"/>
                  </a:lnTo>
                  <a:lnTo>
                    <a:pt x="18461" y="361720"/>
                  </a:lnTo>
                  <a:lnTo>
                    <a:pt x="11874" y="314981"/>
                  </a:lnTo>
                  <a:lnTo>
                    <a:pt x="6713" y="267800"/>
                  </a:lnTo>
                  <a:lnTo>
                    <a:pt x="2998" y="220199"/>
                  </a:lnTo>
                  <a:lnTo>
                    <a:pt x="753" y="172200"/>
                  </a:lnTo>
                  <a:lnTo>
                    <a:pt x="0" y="123825"/>
                  </a:lnTo>
                  <a:lnTo>
                    <a:pt x="753" y="75449"/>
                  </a:lnTo>
                  <a:lnTo>
                    <a:pt x="2998" y="27450"/>
                  </a:lnTo>
                  <a:lnTo>
                    <a:pt x="5140" y="0"/>
                  </a:lnTo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3">
            <a:extLst>
              <a:ext uri="{FF2B5EF4-FFF2-40B4-BE49-F238E27FC236}">
                <a16:creationId xmlns:a16="http://schemas.microsoft.com/office/drawing/2014/main" id="{97A54B44-C534-0EBF-354F-D45B7ED608BF}"/>
              </a:ext>
            </a:extLst>
          </p:cNvPr>
          <p:cNvSpPr txBox="1"/>
          <p:nvPr/>
        </p:nvSpPr>
        <p:spPr>
          <a:xfrm>
            <a:off x="4509267" y="1460183"/>
            <a:ext cx="16160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50" dirty="0">
                <a:latin typeface="Trebuchet MS"/>
                <a:cs typeface="Trebuchet MS"/>
              </a:rPr>
              <a:t>Session</a:t>
            </a:r>
            <a:r>
              <a:rPr sz="2400" spc="-155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#</a:t>
            </a:r>
            <a:r>
              <a:rPr lang="en-US" sz="2400" spc="-25" dirty="0">
                <a:latin typeface="Trebuchet MS"/>
                <a:cs typeface="Trebuchet MS"/>
              </a:rPr>
              <a:t>14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85D8B188-3BEF-3708-BE9A-3283023B826F}"/>
              </a:ext>
            </a:extLst>
          </p:cNvPr>
          <p:cNvSpPr txBox="1"/>
          <p:nvPr/>
        </p:nvSpPr>
        <p:spPr>
          <a:xfrm>
            <a:off x="3429000" y="2362200"/>
            <a:ext cx="8648700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4400" dirty="0">
                <a:latin typeface="Trebuchet MS"/>
                <a:cs typeface="Trebuchet MS"/>
              </a:rPr>
              <a:t>CNNs &amp; RNNs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944146-D6B3-E6C7-C2D8-ABDDD4DD4EE5}"/>
              </a:ext>
            </a:extLst>
          </p:cNvPr>
          <p:cNvSpPr txBox="1"/>
          <p:nvPr/>
        </p:nvSpPr>
        <p:spPr>
          <a:xfrm>
            <a:off x="487017" y="44726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pSp>
        <p:nvGrpSpPr>
          <p:cNvPr id="15" name="object 4">
            <a:extLst>
              <a:ext uri="{FF2B5EF4-FFF2-40B4-BE49-F238E27FC236}">
                <a16:creationId xmlns:a16="http://schemas.microsoft.com/office/drawing/2014/main" id="{0F5EE9FC-78FF-A658-896F-05C767618F04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16" name="object 5">
              <a:extLst>
                <a:ext uri="{FF2B5EF4-FFF2-40B4-BE49-F238E27FC236}">
                  <a16:creationId xmlns:a16="http://schemas.microsoft.com/office/drawing/2014/main" id="{CB7838B8-B9C2-A189-8C2C-C531B953421C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6">
              <a:extLst>
                <a:ext uri="{FF2B5EF4-FFF2-40B4-BE49-F238E27FC236}">
                  <a16:creationId xmlns:a16="http://schemas.microsoft.com/office/drawing/2014/main" id="{BF0F943D-80FA-0E62-4541-D616E35A8B2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18" name="object 7">
              <a:extLst>
                <a:ext uri="{FF2B5EF4-FFF2-40B4-BE49-F238E27FC236}">
                  <a16:creationId xmlns:a16="http://schemas.microsoft.com/office/drawing/2014/main" id="{0995AAF2-0078-58B1-535F-AA3E76E14534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8">
            <a:extLst>
              <a:ext uri="{FF2B5EF4-FFF2-40B4-BE49-F238E27FC236}">
                <a16:creationId xmlns:a16="http://schemas.microsoft.com/office/drawing/2014/main" id="{67FDF485-D219-B80B-87B9-094D20FD4139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26" name="object 9">
            <a:extLst>
              <a:ext uri="{FF2B5EF4-FFF2-40B4-BE49-F238E27FC236}">
                <a16:creationId xmlns:a16="http://schemas.microsoft.com/office/drawing/2014/main" id="{D1F75B9D-D0FC-7691-F4C5-094D3D34BC02}"/>
              </a:ext>
            </a:extLst>
          </p:cNvPr>
          <p:cNvSpPr txBox="1"/>
          <p:nvPr/>
        </p:nvSpPr>
        <p:spPr>
          <a:xfrm>
            <a:off x="10886440" y="509206"/>
            <a:ext cx="924560" cy="18530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1100" spc="-50" dirty="0">
                <a:solidFill>
                  <a:srgbClr val="FFFFFF"/>
                </a:solidFill>
                <a:latin typeface="Trebuchet MS"/>
                <a:cs typeface="Trebuchet MS"/>
              </a:rPr>
              <a:t> 31 Oct </a:t>
            </a:r>
            <a:r>
              <a:rPr sz="1100" spc="-20" dirty="0">
                <a:solidFill>
                  <a:srgbClr val="FFFFFF"/>
                </a:solidFill>
                <a:latin typeface="Trebuchet MS"/>
                <a:cs typeface="Trebuchet MS"/>
              </a:rPr>
              <a:t>2025</a:t>
            </a:r>
            <a:endParaRPr sz="11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>
            <a:extLst>
              <a:ext uri="{FF2B5EF4-FFF2-40B4-BE49-F238E27FC236}">
                <a16:creationId xmlns:a16="http://schemas.microsoft.com/office/drawing/2014/main" id="{E5B60FB2-A803-AB58-C6F3-DFDF9014DFA1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386B3B0-8577-1EDD-B966-7F9B32403E70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DE2244AC-D025-ACC6-1BF3-EBF0AF1C984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4081909A-0522-2FD2-C6F7-79492AB23779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416C7B6B-50B0-50AF-FF4B-503F903A97C5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EEE1B15C-21E3-7992-FFAE-B0C92A99FB67}"/>
              </a:ext>
            </a:extLst>
          </p:cNvPr>
          <p:cNvSpPr txBox="1"/>
          <p:nvPr/>
        </p:nvSpPr>
        <p:spPr>
          <a:xfrm>
            <a:off x="771715" y="888333"/>
            <a:ext cx="12306300" cy="38600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2400" b="1" dirty="0"/>
              <a:t>Convolutional Neural Networks (CNNs) – The Brains Behind Computer Vision</a:t>
            </a:r>
            <a:endParaRPr sz="2400" b="1" dirty="0">
              <a:latin typeface="Trebuchet MS"/>
              <a:cs typeface="Trebuchet MS"/>
            </a:endParaRPr>
          </a:p>
        </p:txBody>
      </p:sp>
      <p:grpSp>
        <p:nvGrpSpPr>
          <p:cNvPr id="12" name="object 9">
            <a:extLst>
              <a:ext uri="{FF2B5EF4-FFF2-40B4-BE49-F238E27FC236}">
                <a16:creationId xmlns:a16="http://schemas.microsoft.com/office/drawing/2014/main" id="{76A9C592-722E-0ED6-727D-0ADDB35F1145}"/>
              </a:ext>
            </a:extLst>
          </p:cNvPr>
          <p:cNvGrpSpPr/>
          <p:nvPr/>
        </p:nvGrpSpPr>
        <p:grpSpPr>
          <a:xfrm>
            <a:off x="6799806" y="4505325"/>
            <a:ext cx="5298440" cy="2362200"/>
            <a:chOff x="6799806" y="4505325"/>
            <a:chExt cx="5298440" cy="2362200"/>
          </a:xfrm>
        </p:grpSpPr>
        <p:sp>
          <p:nvSpPr>
            <p:cNvPr id="13" name="object 10">
              <a:extLst>
                <a:ext uri="{FF2B5EF4-FFF2-40B4-BE49-F238E27FC236}">
                  <a16:creationId xmlns:a16="http://schemas.microsoft.com/office/drawing/2014/main" id="{F6548E6A-8BB2-506A-3236-16DEF4214469}"/>
                </a:ext>
              </a:extLst>
            </p:cNvPr>
            <p:cNvSpPr/>
            <p:nvPr/>
          </p:nvSpPr>
          <p:spPr>
            <a:xfrm>
              <a:off x="6809331" y="4514850"/>
              <a:ext cx="5279390" cy="2343150"/>
            </a:xfrm>
            <a:custGeom>
              <a:avLst/>
              <a:gdLst/>
              <a:ahLst/>
              <a:cxnLst/>
              <a:rect l="l" t="t" r="r" b="b"/>
              <a:pathLst>
                <a:path w="5279390" h="2343150">
                  <a:moveTo>
                    <a:pt x="2639468" y="0"/>
                  </a:moveTo>
                  <a:lnTo>
                    <a:pt x="2591183" y="429"/>
                  </a:lnTo>
                  <a:lnTo>
                    <a:pt x="2543106" y="1711"/>
                  </a:lnTo>
                  <a:lnTo>
                    <a:pt x="2495246" y="3839"/>
                  </a:lnTo>
                  <a:lnTo>
                    <a:pt x="2447608" y="6806"/>
                  </a:lnTo>
                  <a:lnTo>
                    <a:pt x="2400202" y="10605"/>
                  </a:lnTo>
                  <a:lnTo>
                    <a:pt x="2353033" y="15228"/>
                  </a:lnTo>
                  <a:lnTo>
                    <a:pt x="2306109" y="20668"/>
                  </a:lnTo>
                  <a:lnTo>
                    <a:pt x="2259437" y="26918"/>
                  </a:lnTo>
                  <a:lnTo>
                    <a:pt x="2213024" y="33970"/>
                  </a:lnTo>
                  <a:lnTo>
                    <a:pt x="2166879" y="41818"/>
                  </a:lnTo>
                  <a:lnTo>
                    <a:pt x="2121007" y="50453"/>
                  </a:lnTo>
                  <a:lnTo>
                    <a:pt x="2075417" y="59870"/>
                  </a:lnTo>
                  <a:lnTo>
                    <a:pt x="2030115" y="70060"/>
                  </a:lnTo>
                  <a:lnTo>
                    <a:pt x="1985109" y="81016"/>
                  </a:lnTo>
                  <a:lnTo>
                    <a:pt x="1940407" y="92732"/>
                  </a:lnTo>
                  <a:lnTo>
                    <a:pt x="1896014" y="105199"/>
                  </a:lnTo>
                  <a:lnTo>
                    <a:pt x="1851939" y="118410"/>
                  </a:lnTo>
                  <a:lnTo>
                    <a:pt x="1808189" y="132359"/>
                  </a:lnTo>
                  <a:lnTo>
                    <a:pt x="1764771" y="147039"/>
                  </a:lnTo>
                  <a:lnTo>
                    <a:pt x="1721692" y="162441"/>
                  </a:lnTo>
                  <a:lnTo>
                    <a:pt x="1678960" y="178558"/>
                  </a:lnTo>
                  <a:lnTo>
                    <a:pt x="1636582" y="195384"/>
                  </a:lnTo>
                  <a:lnTo>
                    <a:pt x="1594565" y="212911"/>
                  </a:lnTo>
                  <a:lnTo>
                    <a:pt x="1552916" y="231131"/>
                  </a:lnTo>
                  <a:lnTo>
                    <a:pt x="1511643" y="250039"/>
                  </a:lnTo>
                  <a:lnTo>
                    <a:pt x="1470753" y="269625"/>
                  </a:lnTo>
                  <a:lnTo>
                    <a:pt x="1430253" y="289884"/>
                  </a:lnTo>
                  <a:lnTo>
                    <a:pt x="1390150" y="310808"/>
                  </a:lnTo>
                  <a:lnTo>
                    <a:pt x="1350453" y="332389"/>
                  </a:lnTo>
                  <a:lnTo>
                    <a:pt x="1311167" y="354620"/>
                  </a:lnTo>
                  <a:lnTo>
                    <a:pt x="1272300" y="377495"/>
                  </a:lnTo>
                  <a:lnTo>
                    <a:pt x="1233860" y="401005"/>
                  </a:lnTo>
                  <a:lnTo>
                    <a:pt x="1195853" y="425144"/>
                  </a:lnTo>
                  <a:lnTo>
                    <a:pt x="1158288" y="449904"/>
                  </a:lnTo>
                  <a:lnTo>
                    <a:pt x="1121170" y="475279"/>
                  </a:lnTo>
                  <a:lnTo>
                    <a:pt x="1084509" y="501260"/>
                  </a:lnTo>
                  <a:lnTo>
                    <a:pt x="1048310" y="527841"/>
                  </a:lnTo>
                  <a:lnTo>
                    <a:pt x="1012581" y="555014"/>
                  </a:lnTo>
                  <a:lnTo>
                    <a:pt x="977329" y="582773"/>
                  </a:lnTo>
                  <a:lnTo>
                    <a:pt x="942562" y="611109"/>
                  </a:lnTo>
                  <a:lnTo>
                    <a:pt x="908287" y="640016"/>
                  </a:lnTo>
                  <a:lnTo>
                    <a:pt x="874510" y="669486"/>
                  </a:lnTo>
                  <a:lnTo>
                    <a:pt x="841240" y="699512"/>
                  </a:lnTo>
                  <a:lnTo>
                    <a:pt x="808484" y="730087"/>
                  </a:lnTo>
                  <a:lnTo>
                    <a:pt x="776248" y="761204"/>
                  </a:lnTo>
                  <a:lnTo>
                    <a:pt x="744541" y="792855"/>
                  </a:lnTo>
                  <a:lnTo>
                    <a:pt x="713369" y="825033"/>
                  </a:lnTo>
                  <a:lnTo>
                    <a:pt x="682739" y="857732"/>
                  </a:lnTo>
                  <a:lnTo>
                    <a:pt x="652659" y="890942"/>
                  </a:lnTo>
                  <a:lnTo>
                    <a:pt x="623137" y="924659"/>
                  </a:lnTo>
                  <a:lnTo>
                    <a:pt x="594179" y="958873"/>
                  </a:lnTo>
                  <a:lnTo>
                    <a:pt x="565792" y="993578"/>
                  </a:lnTo>
                  <a:lnTo>
                    <a:pt x="537985" y="1028767"/>
                  </a:lnTo>
                  <a:lnTo>
                    <a:pt x="510763" y="1064432"/>
                  </a:lnTo>
                  <a:lnTo>
                    <a:pt x="484135" y="1100567"/>
                  </a:lnTo>
                  <a:lnTo>
                    <a:pt x="458108" y="1137163"/>
                  </a:lnTo>
                  <a:lnTo>
                    <a:pt x="432689" y="1174214"/>
                  </a:lnTo>
                  <a:lnTo>
                    <a:pt x="407885" y="1211712"/>
                  </a:lnTo>
                  <a:lnTo>
                    <a:pt x="383703" y="1249651"/>
                  </a:lnTo>
                  <a:lnTo>
                    <a:pt x="360151" y="1288022"/>
                  </a:lnTo>
                  <a:lnTo>
                    <a:pt x="337236" y="1326819"/>
                  </a:lnTo>
                  <a:lnTo>
                    <a:pt x="314966" y="1366035"/>
                  </a:lnTo>
                  <a:lnTo>
                    <a:pt x="293346" y="1405661"/>
                  </a:lnTo>
                  <a:lnTo>
                    <a:pt x="272386" y="1445692"/>
                  </a:lnTo>
                  <a:lnTo>
                    <a:pt x="252092" y="1486119"/>
                  </a:lnTo>
                  <a:lnTo>
                    <a:pt x="232471" y="1526935"/>
                  </a:lnTo>
                  <a:lnTo>
                    <a:pt x="213530" y="1568134"/>
                  </a:lnTo>
                  <a:lnTo>
                    <a:pt x="195277" y="1609708"/>
                  </a:lnTo>
                  <a:lnTo>
                    <a:pt x="177719" y="1651649"/>
                  </a:lnTo>
                  <a:lnTo>
                    <a:pt x="160864" y="1693951"/>
                  </a:lnTo>
                  <a:lnTo>
                    <a:pt x="144718" y="1736606"/>
                  </a:lnTo>
                  <a:lnTo>
                    <a:pt x="129289" y="1779607"/>
                  </a:lnTo>
                  <a:lnTo>
                    <a:pt x="114584" y="1822947"/>
                  </a:lnTo>
                  <a:lnTo>
                    <a:pt x="100611" y="1866618"/>
                  </a:lnTo>
                  <a:lnTo>
                    <a:pt x="87376" y="1910613"/>
                  </a:lnTo>
                  <a:lnTo>
                    <a:pt x="74887" y="1954925"/>
                  </a:lnTo>
                  <a:lnTo>
                    <a:pt x="63151" y="1999547"/>
                  </a:lnTo>
                  <a:lnTo>
                    <a:pt x="52176" y="2044471"/>
                  </a:lnTo>
                  <a:lnTo>
                    <a:pt x="41968" y="2089691"/>
                  </a:lnTo>
                  <a:lnTo>
                    <a:pt x="32535" y="2135198"/>
                  </a:lnTo>
                  <a:lnTo>
                    <a:pt x="23884" y="2180986"/>
                  </a:lnTo>
                  <a:lnTo>
                    <a:pt x="16023" y="2227048"/>
                  </a:lnTo>
                  <a:lnTo>
                    <a:pt x="8958" y="2273376"/>
                  </a:lnTo>
                  <a:lnTo>
                    <a:pt x="2697" y="2319963"/>
                  </a:lnTo>
                  <a:lnTo>
                    <a:pt x="0" y="2343150"/>
                  </a:lnTo>
                  <a:lnTo>
                    <a:pt x="5278936" y="2343150"/>
                  </a:lnTo>
                  <a:lnTo>
                    <a:pt x="5269977" y="2273376"/>
                  </a:lnTo>
                  <a:lnTo>
                    <a:pt x="5262913" y="2227048"/>
                  </a:lnTo>
                  <a:lnTo>
                    <a:pt x="5255051" y="2180986"/>
                  </a:lnTo>
                  <a:lnTo>
                    <a:pt x="5246401" y="2135198"/>
                  </a:lnTo>
                  <a:lnTo>
                    <a:pt x="5236968" y="2089691"/>
                  </a:lnTo>
                  <a:lnTo>
                    <a:pt x="5226760" y="2044471"/>
                  </a:lnTo>
                  <a:lnTo>
                    <a:pt x="5215784" y="1999547"/>
                  </a:lnTo>
                  <a:lnTo>
                    <a:pt x="5204048" y="1954925"/>
                  </a:lnTo>
                  <a:lnTo>
                    <a:pt x="5191559" y="1910613"/>
                  </a:lnTo>
                  <a:lnTo>
                    <a:pt x="5178324" y="1866618"/>
                  </a:lnTo>
                  <a:lnTo>
                    <a:pt x="5164351" y="1822947"/>
                  </a:lnTo>
                  <a:lnTo>
                    <a:pt x="5149646" y="1779607"/>
                  </a:lnTo>
                  <a:lnTo>
                    <a:pt x="5134217" y="1736606"/>
                  </a:lnTo>
                  <a:lnTo>
                    <a:pt x="5118071" y="1693951"/>
                  </a:lnTo>
                  <a:lnTo>
                    <a:pt x="5101216" y="1651649"/>
                  </a:lnTo>
                  <a:lnTo>
                    <a:pt x="5083658" y="1609708"/>
                  </a:lnTo>
                  <a:lnTo>
                    <a:pt x="5065405" y="1568134"/>
                  </a:lnTo>
                  <a:lnTo>
                    <a:pt x="5046465" y="1526935"/>
                  </a:lnTo>
                  <a:lnTo>
                    <a:pt x="5026844" y="1486119"/>
                  </a:lnTo>
                  <a:lnTo>
                    <a:pt x="5006549" y="1445692"/>
                  </a:lnTo>
                  <a:lnTo>
                    <a:pt x="4985589" y="1405661"/>
                  </a:lnTo>
                  <a:lnTo>
                    <a:pt x="4963970" y="1366035"/>
                  </a:lnTo>
                  <a:lnTo>
                    <a:pt x="4941699" y="1326819"/>
                  </a:lnTo>
                  <a:lnTo>
                    <a:pt x="4918784" y="1288022"/>
                  </a:lnTo>
                  <a:lnTo>
                    <a:pt x="4895232" y="1249651"/>
                  </a:lnTo>
                  <a:lnTo>
                    <a:pt x="4871050" y="1211712"/>
                  </a:lnTo>
                  <a:lnTo>
                    <a:pt x="4846246" y="1174214"/>
                  </a:lnTo>
                  <a:lnTo>
                    <a:pt x="4820827" y="1137163"/>
                  </a:lnTo>
                  <a:lnTo>
                    <a:pt x="4794800" y="1100567"/>
                  </a:lnTo>
                  <a:lnTo>
                    <a:pt x="4768172" y="1064432"/>
                  </a:lnTo>
                  <a:lnTo>
                    <a:pt x="4740950" y="1028767"/>
                  </a:lnTo>
                  <a:lnTo>
                    <a:pt x="4713143" y="993578"/>
                  </a:lnTo>
                  <a:lnTo>
                    <a:pt x="4684756" y="958873"/>
                  </a:lnTo>
                  <a:lnTo>
                    <a:pt x="4655798" y="924659"/>
                  </a:lnTo>
                  <a:lnTo>
                    <a:pt x="4626276" y="890942"/>
                  </a:lnTo>
                  <a:lnTo>
                    <a:pt x="4596196" y="857732"/>
                  </a:lnTo>
                  <a:lnTo>
                    <a:pt x="4565567" y="825033"/>
                  </a:lnTo>
                  <a:lnTo>
                    <a:pt x="4534395" y="792855"/>
                  </a:lnTo>
                  <a:lnTo>
                    <a:pt x="4502687" y="761204"/>
                  </a:lnTo>
                  <a:lnTo>
                    <a:pt x="4470451" y="730087"/>
                  </a:lnTo>
                  <a:lnTo>
                    <a:pt x="4437695" y="699512"/>
                  </a:lnTo>
                  <a:lnTo>
                    <a:pt x="4404425" y="669486"/>
                  </a:lnTo>
                  <a:lnTo>
                    <a:pt x="4370649" y="640016"/>
                  </a:lnTo>
                  <a:lnTo>
                    <a:pt x="4336373" y="611109"/>
                  </a:lnTo>
                  <a:lnTo>
                    <a:pt x="4301606" y="582773"/>
                  </a:lnTo>
                  <a:lnTo>
                    <a:pt x="4266355" y="555014"/>
                  </a:lnTo>
                  <a:lnTo>
                    <a:pt x="4230626" y="527841"/>
                  </a:lnTo>
                  <a:lnTo>
                    <a:pt x="4194427" y="501260"/>
                  </a:lnTo>
                  <a:lnTo>
                    <a:pt x="4157765" y="475279"/>
                  </a:lnTo>
                  <a:lnTo>
                    <a:pt x="4120648" y="449904"/>
                  </a:lnTo>
                  <a:lnTo>
                    <a:pt x="4083082" y="425144"/>
                  </a:lnTo>
                  <a:lnTo>
                    <a:pt x="4045075" y="401005"/>
                  </a:lnTo>
                  <a:lnTo>
                    <a:pt x="4006635" y="377495"/>
                  </a:lnTo>
                  <a:lnTo>
                    <a:pt x="3967769" y="354620"/>
                  </a:lnTo>
                  <a:lnTo>
                    <a:pt x="3928483" y="332389"/>
                  </a:lnTo>
                  <a:lnTo>
                    <a:pt x="3888785" y="310808"/>
                  </a:lnTo>
                  <a:lnTo>
                    <a:pt x="3848682" y="289884"/>
                  </a:lnTo>
                  <a:lnTo>
                    <a:pt x="3808182" y="269625"/>
                  </a:lnTo>
                  <a:lnTo>
                    <a:pt x="3767292" y="250039"/>
                  </a:lnTo>
                  <a:lnTo>
                    <a:pt x="3726019" y="231131"/>
                  </a:lnTo>
                  <a:lnTo>
                    <a:pt x="3684371" y="212911"/>
                  </a:lnTo>
                  <a:lnTo>
                    <a:pt x="3642353" y="195384"/>
                  </a:lnTo>
                  <a:lnTo>
                    <a:pt x="3599975" y="178558"/>
                  </a:lnTo>
                  <a:lnTo>
                    <a:pt x="3557243" y="162441"/>
                  </a:lnTo>
                  <a:lnTo>
                    <a:pt x="3514164" y="147039"/>
                  </a:lnTo>
                  <a:lnTo>
                    <a:pt x="3470746" y="132359"/>
                  </a:lnTo>
                  <a:lnTo>
                    <a:pt x="3426996" y="118410"/>
                  </a:lnTo>
                  <a:lnTo>
                    <a:pt x="3382921" y="105199"/>
                  </a:lnTo>
                  <a:lnTo>
                    <a:pt x="3338529" y="92732"/>
                  </a:lnTo>
                  <a:lnTo>
                    <a:pt x="3293826" y="81016"/>
                  </a:lnTo>
                  <a:lnTo>
                    <a:pt x="3248820" y="70060"/>
                  </a:lnTo>
                  <a:lnTo>
                    <a:pt x="3203518" y="59870"/>
                  </a:lnTo>
                  <a:lnTo>
                    <a:pt x="3157928" y="50453"/>
                  </a:lnTo>
                  <a:lnTo>
                    <a:pt x="3112056" y="41818"/>
                  </a:lnTo>
                  <a:lnTo>
                    <a:pt x="3065911" y="33970"/>
                  </a:lnTo>
                  <a:lnTo>
                    <a:pt x="3019499" y="26918"/>
                  </a:lnTo>
                  <a:lnTo>
                    <a:pt x="2972827" y="20668"/>
                  </a:lnTo>
                  <a:lnTo>
                    <a:pt x="2925903" y="15228"/>
                  </a:lnTo>
                  <a:lnTo>
                    <a:pt x="2878734" y="10605"/>
                  </a:lnTo>
                  <a:lnTo>
                    <a:pt x="2831327" y="6806"/>
                  </a:lnTo>
                  <a:lnTo>
                    <a:pt x="2783690" y="3839"/>
                  </a:lnTo>
                  <a:lnTo>
                    <a:pt x="2735829" y="1711"/>
                  </a:lnTo>
                  <a:lnTo>
                    <a:pt x="2687753" y="429"/>
                  </a:lnTo>
                  <a:lnTo>
                    <a:pt x="26394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1">
              <a:extLst>
                <a:ext uri="{FF2B5EF4-FFF2-40B4-BE49-F238E27FC236}">
                  <a16:creationId xmlns:a16="http://schemas.microsoft.com/office/drawing/2014/main" id="{AABC0778-EA43-1AAD-0425-8BA082F5276E}"/>
                </a:ext>
              </a:extLst>
            </p:cNvPr>
            <p:cNvSpPr/>
            <p:nvPr/>
          </p:nvSpPr>
          <p:spPr>
            <a:xfrm>
              <a:off x="6809331" y="4514850"/>
              <a:ext cx="5279390" cy="2343150"/>
            </a:xfrm>
            <a:custGeom>
              <a:avLst/>
              <a:gdLst/>
              <a:ahLst/>
              <a:cxnLst/>
              <a:rect l="l" t="t" r="r" b="b"/>
              <a:pathLst>
                <a:path w="5279390" h="2343150">
                  <a:moveTo>
                    <a:pt x="0" y="2343150"/>
                  </a:moveTo>
                  <a:lnTo>
                    <a:pt x="8958" y="2273376"/>
                  </a:lnTo>
                  <a:lnTo>
                    <a:pt x="16023" y="2227048"/>
                  </a:lnTo>
                  <a:lnTo>
                    <a:pt x="23884" y="2180986"/>
                  </a:lnTo>
                  <a:lnTo>
                    <a:pt x="32535" y="2135198"/>
                  </a:lnTo>
                  <a:lnTo>
                    <a:pt x="41968" y="2089691"/>
                  </a:lnTo>
                  <a:lnTo>
                    <a:pt x="52176" y="2044471"/>
                  </a:lnTo>
                  <a:lnTo>
                    <a:pt x="63151" y="1999547"/>
                  </a:lnTo>
                  <a:lnTo>
                    <a:pt x="74887" y="1954925"/>
                  </a:lnTo>
                  <a:lnTo>
                    <a:pt x="87376" y="1910613"/>
                  </a:lnTo>
                  <a:lnTo>
                    <a:pt x="100611" y="1866618"/>
                  </a:lnTo>
                  <a:lnTo>
                    <a:pt x="114584" y="1822947"/>
                  </a:lnTo>
                  <a:lnTo>
                    <a:pt x="129289" y="1779607"/>
                  </a:lnTo>
                  <a:lnTo>
                    <a:pt x="144718" y="1736606"/>
                  </a:lnTo>
                  <a:lnTo>
                    <a:pt x="160864" y="1693951"/>
                  </a:lnTo>
                  <a:lnTo>
                    <a:pt x="177719" y="1651649"/>
                  </a:lnTo>
                  <a:lnTo>
                    <a:pt x="195277" y="1609708"/>
                  </a:lnTo>
                  <a:lnTo>
                    <a:pt x="213530" y="1568134"/>
                  </a:lnTo>
                  <a:lnTo>
                    <a:pt x="232471" y="1526935"/>
                  </a:lnTo>
                  <a:lnTo>
                    <a:pt x="252092" y="1486119"/>
                  </a:lnTo>
                  <a:lnTo>
                    <a:pt x="272386" y="1445692"/>
                  </a:lnTo>
                  <a:lnTo>
                    <a:pt x="293346" y="1405661"/>
                  </a:lnTo>
                  <a:lnTo>
                    <a:pt x="314966" y="1366035"/>
                  </a:lnTo>
                  <a:lnTo>
                    <a:pt x="337236" y="1326819"/>
                  </a:lnTo>
                  <a:lnTo>
                    <a:pt x="360151" y="1288022"/>
                  </a:lnTo>
                  <a:lnTo>
                    <a:pt x="383703" y="1249651"/>
                  </a:lnTo>
                  <a:lnTo>
                    <a:pt x="407885" y="1211712"/>
                  </a:lnTo>
                  <a:lnTo>
                    <a:pt x="432689" y="1174214"/>
                  </a:lnTo>
                  <a:lnTo>
                    <a:pt x="458108" y="1137163"/>
                  </a:lnTo>
                  <a:lnTo>
                    <a:pt x="484135" y="1100567"/>
                  </a:lnTo>
                  <a:lnTo>
                    <a:pt x="510763" y="1064432"/>
                  </a:lnTo>
                  <a:lnTo>
                    <a:pt x="537985" y="1028767"/>
                  </a:lnTo>
                  <a:lnTo>
                    <a:pt x="565792" y="993578"/>
                  </a:lnTo>
                  <a:lnTo>
                    <a:pt x="594179" y="958873"/>
                  </a:lnTo>
                  <a:lnTo>
                    <a:pt x="623137" y="924659"/>
                  </a:lnTo>
                  <a:lnTo>
                    <a:pt x="652659" y="890942"/>
                  </a:lnTo>
                  <a:lnTo>
                    <a:pt x="682739" y="857732"/>
                  </a:lnTo>
                  <a:lnTo>
                    <a:pt x="713369" y="825033"/>
                  </a:lnTo>
                  <a:lnTo>
                    <a:pt x="744541" y="792855"/>
                  </a:lnTo>
                  <a:lnTo>
                    <a:pt x="776248" y="761204"/>
                  </a:lnTo>
                  <a:lnTo>
                    <a:pt x="808484" y="730087"/>
                  </a:lnTo>
                  <a:lnTo>
                    <a:pt x="841240" y="699512"/>
                  </a:lnTo>
                  <a:lnTo>
                    <a:pt x="874510" y="669486"/>
                  </a:lnTo>
                  <a:lnTo>
                    <a:pt x="908287" y="640016"/>
                  </a:lnTo>
                  <a:lnTo>
                    <a:pt x="942562" y="611109"/>
                  </a:lnTo>
                  <a:lnTo>
                    <a:pt x="977329" y="582773"/>
                  </a:lnTo>
                  <a:lnTo>
                    <a:pt x="1012581" y="555014"/>
                  </a:lnTo>
                  <a:lnTo>
                    <a:pt x="1048310" y="527841"/>
                  </a:lnTo>
                  <a:lnTo>
                    <a:pt x="1084509" y="501260"/>
                  </a:lnTo>
                  <a:lnTo>
                    <a:pt x="1121170" y="475279"/>
                  </a:lnTo>
                  <a:lnTo>
                    <a:pt x="1158288" y="449904"/>
                  </a:lnTo>
                  <a:lnTo>
                    <a:pt x="1195853" y="425144"/>
                  </a:lnTo>
                  <a:lnTo>
                    <a:pt x="1233860" y="401005"/>
                  </a:lnTo>
                  <a:lnTo>
                    <a:pt x="1272300" y="377495"/>
                  </a:lnTo>
                  <a:lnTo>
                    <a:pt x="1311167" y="354620"/>
                  </a:lnTo>
                  <a:lnTo>
                    <a:pt x="1350453" y="332389"/>
                  </a:lnTo>
                  <a:lnTo>
                    <a:pt x="1390150" y="310808"/>
                  </a:lnTo>
                  <a:lnTo>
                    <a:pt x="1430253" y="289884"/>
                  </a:lnTo>
                  <a:lnTo>
                    <a:pt x="1470753" y="269625"/>
                  </a:lnTo>
                  <a:lnTo>
                    <a:pt x="1511643" y="250039"/>
                  </a:lnTo>
                  <a:lnTo>
                    <a:pt x="1552916" y="231131"/>
                  </a:lnTo>
                  <a:lnTo>
                    <a:pt x="1594565" y="212911"/>
                  </a:lnTo>
                  <a:lnTo>
                    <a:pt x="1636582" y="195384"/>
                  </a:lnTo>
                  <a:lnTo>
                    <a:pt x="1678960" y="178558"/>
                  </a:lnTo>
                  <a:lnTo>
                    <a:pt x="1721692" y="162441"/>
                  </a:lnTo>
                  <a:lnTo>
                    <a:pt x="1764771" y="147039"/>
                  </a:lnTo>
                  <a:lnTo>
                    <a:pt x="1808189" y="132359"/>
                  </a:lnTo>
                  <a:lnTo>
                    <a:pt x="1851939" y="118410"/>
                  </a:lnTo>
                  <a:lnTo>
                    <a:pt x="1896014" y="105199"/>
                  </a:lnTo>
                  <a:lnTo>
                    <a:pt x="1940407" y="92732"/>
                  </a:lnTo>
                  <a:lnTo>
                    <a:pt x="1985109" y="81016"/>
                  </a:lnTo>
                  <a:lnTo>
                    <a:pt x="2030115" y="70060"/>
                  </a:lnTo>
                  <a:lnTo>
                    <a:pt x="2075417" y="59870"/>
                  </a:lnTo>
                  <a:lnTo>
                    <a:pt x="2121007" y="50453"/>
                  </a:lnTo>
                  <a:lnTo>
                    <a:pt x="2166879" y="41818"/>
                  </a:lnTo>
                  <a:lnTo>
                    <a:pt x="2213024" y="33970"/>
                  </a:lnTo>
                  <a:lnTo>
                    <a:pt x="2259437" y="26918"/>
                  </a:lnTo>
                  <a:lnTo>
                    <a:pt x="2306109" y="20668"/>
                  </a:lnTo>
                  <a:lnTo>
                    <a:pt x="2353033" y="15228"/>
                  </a:lnTo>
                  <a:lnTo>
                    <a:pt x="2400202" y="10605"/>
                  </a:lnTo>
                  <a:lnTo>
                    <a:pt x="2447608" y="6806"/>
                  </a:lnTo>
                  <a:lnTo>
                    <a:pt x="2495246" y="3839"/>
                  </a:lnTo>
                  <a:lnTo>
                    <a:pt x="2543106" y="1711"/>
                  </a:lnTo>
                  <a:lnTo>
                    <a:pt x="2591183" y="429"/>
                  </a:lnTo>
                  <a:lnTo>
                    <a:pt x="2639468" y="0"/>
                  </a:lnTo>
                  <a:lnTo>
                    <a:pt x="2687753" y="429"/>
                  </a:lnTo>
                  <a:lnTo>
                    <a:pt x="2735829" y="1711"/>
                  </a:lnTo>
                  <a:lnTo>
                    <a:pt x="2783690" y="3839"/>
                  </a:lnTo>
                  <a:lnTo>
                    <a:pt x="2831327" y="6806"/>
                  </a:lnTo>
                  <a:lnTo>
                    <a:pt x="2878734" y="10605"/>
                  </a:lnTo>
                  <a:lnTo>
                    <a:pt x="2925903" y="15228"/>
                  </a:lnTo>
                  <a:lnTo>
                    <a:pt x="2972827" y="20668"/>
                  </a:lnTo>
                  <a:lnTo>
                    <a:pt x="3019499" y="26918"/>
                  </a:lnTo>
                  <a:lnTo>
                    <a:pt x="3065911" y="33970"/>
                  </a:lnTo>
                  <a:lnTo>
                    <a:pt x="3112056" y="41818"/>
                  </a:lnTo>
                  <a:lnTo>
                    <a:pt x="3157928" y="50453"/>
                  </a:lnTo>
                  <a:lnTo>
                    <a:pt x="3203518" y="59870"/>
                  </a:lnTo>
                  <a:lnTo>
                    <a:pt x="3248820" y="70060"/>
                  </a:lnTo>
                  <a:lnTo>
                    <a:pt x="3293826" y="81016"/>
                  </a:lnTo>
                  <a:lnTo>
                    <a:pt x="3338529" y="92732"/>
                  </a:lnTo>
                  <a:lnTo>
                    <a:pt x="3382921" y="105199"/>
                  </a:lnTo>
                  <a:lnTo>
                    <a:pt x="3426996" y="118410"/>
                  </a:lnTo>
                  <a:lnTo>
                    <a:pt x="3470746" y="132359"/>
                  </a:lnTo>
                  <a:lnTo>
                    <a:pt x="3514164" y="147039"/>
                  </a:lnTo>
                  <a:lnTo>
                    <a:pt x="3557243" y="162441"/>
                  </a:lnTo>
                  <a:lnTo>
                    <a:pt x="3599975" y="178558"/>
                  </a:lnTo>
                  <a:lnTo>
                    <a:pt x="3642353" y="195384"/>
                  </a:lnTo>
                  <a:lnTo>
                    <a:pt x="3684371" y="212911"/>
                  </a:lnTo>
                  <a:lnTo>
                    <a:pt x="3726019" y="231131"/>
                  </a:lnTo>
                  <a:lnTo>
                    <a:pt x="3767292" y="250039"/>
                  </a:lnTo>
                  <a:lnTo>
                    <a:pt x="3808182" y="269625"/>
                  </a:lnTo>
                  <a:lnTo>
                    <a:pt x="3848682" y="289884"/>
                  </a:lnTo>
                  <a:lnTo>
                    <a:pt x="3888785" y="310808"/>
                  </a:lnTo>
                  <a:lnTo>
                    <a:pt x="3928483" y="332389"/>
                  </a:lnTo>
                  <a:lnTo>
                    <a:pt x="3967769" y="354620"/>
                  </a:lnTo>
                  <a:lnTo>
                    <a:pt x="4006635" y="377495"/>
                  </a:lnTo>
                  <a:lnTo>
                    <a:pt x="4045075" y="401005"/>
                  </a:lnTo>
                  <a:lnTo>
                    <a:pt x="4083082" y="425144"/>
                  </a:lnTo>
                  <a:lnTo>
                    <a:pt x="4120648" y="449904"/>
                  </a:lnTo>
                  <a:lnTo>
                    <a:pt x="4157765" y="475279"/>
                  </a:lnTo>
                  <a:lnTo>
                    <a:pt x="4194427" y="501260"/>
                  </a:lnTo>
                  <a:lnTo>
                    <a:pt x="4230626" y="527841"/>
                  </a:lnTo>
                  <a:lnTo>
                    <a:pt x="4266355" y="555014"/>
                  </a:lnTo>
                  <a:lnTo>
                    <a:pt x="4301606" y="582773"/>
                  </a:lnTo>
                  <a:lnTo>
                    <a:pt x="4336373" y="611109"/>
                  </a:lnTo>
                  <a:lnTo>
                    <a:pt x="4370649" y="640016"/>
                  </a:lnTo>
                  <a:lnTo>
                    <a:pt x="4404425" y="669486"/>
                  </a:lnTo>
                  <a:lnTo>
                    <a:pt x="4437695" y="699512"/>
                  </a:lnTo>
                  <a:lnTo>
                    <a:pt x="4470451" y="730087"/>
                  </a:lnTo>
                  <a:lnTo>
                    <a:pt x="4502687" y="761204"/>
                  </a:lnTo>
                  <a:lnTo>
                    <a:pt x="4534395" y="792855"/>
                  </a:lnTo>
                  <a:lnTo>
                    <a:pt x="4565567" y="825033"/>
                  </a:lnTo>
                  <a:lnTo>
                    <a:pt x="4596196" y="857732"/>
                  </a:lnTo>
                  <a:lnTo>
                    <a:pt x="4626276" y="890942"/>
                  </a:lnTo>
                  <a:lnTo>
                    <a:pt x="4655798" y="924659"/>
                  </a:lnTo>
                  <a:lnTo>
                    <a:pt x="4684756" y="958873"/>
                  </a:lnTo>
                  <a:lnTo>
                    <a:pt x="4713143" y="993578"/>
                  </a:lnTo>
                  <a:lnTo>
                    <a:pt x="4740950" y="1028767"/>
                  </a:lnTo>
                  <a:lnTo>
                    <a:pt x="4768172" y="1064432"/>
                  </a:lnTo>
                  <a:lnTo>
                    <a:pt x="4794800" y="1100567"/>
                  </a:lnTo>
                  <a:lnTo>
                    <a:pt x="4820827" y="1137163"/>
                  </a:lnTo>
                  <a:lnTo>
                    <a:pt x="4846246" y="1174214"/>
                  </a:lnTo>
                  <a:lnTo>
                    <a:pt x="4871050" y="1211712"/>
                  </a:lnTo>
                  <a:lnTo>
                    <a:pt x="4895232" y="1249651"/>
                  </a:lnTo>
                  <a:lnTo>
                    <a:pt x="4918784" y="1288022"/>
                  </a:lnTo>
                  <a:lnTo>
                    <a:pt x="4941699" y="1326819"/>
                  </a:lnTo>
                  <a:lnTo>
                    <a:pt x="4963970" y="1366035"/>
                  </a:lnTo>
                  <a:lnTo>
                    <a:pt x="4985589" y="1405661"/>
                  </a:lnTo>
                  <a:lnTo>
                    <a:pt x="5006549" y="1445692"/>
                  </a:lnTo>
                  <a:lnTo>
                    <a:pt x="5026844" y="1486119"/>
                  </a:lnTo>
                  <a:lnTo>
                    <a:pt x="5046465" y="1526935"/>
                  </a:lnTo>
                  <a:lnTo>
                    <a:pt x="5065405" y="1568134"/>
                  </a:lnTo>
                  <a:lnTo>
                    <a:pt x="5083658" y="1609708"/>
                  </a:lnTo>
                  <a:lnTo>
                    <a:pt x="5101216" y="1651649"/>
                  </a:lnTo>
                  <a:lnTo>
                    <a:pt x="5118071" y="1693951"/>
                  </a:lnTo>
                  <a:lnTo>
                    <a:pt x="5134217" y="1736606"/>
                  </a:lnTo>
                  <a:lnTo>
                    <a:pt x="5149646" y="1779607"/>
                  </a:lnTo>
                  <a:lnTo>
                    <a:pt x="5164351" y="1822947"/>
                  </a:lnTo>
                  <a:lnTo>
                    <a:pt x="5178324" y="1866618"/>
                  </a:lnTo>
                  <a:lnTo>
                    <a:pt x="5191559" y="1910613"/>
                  </a:lnTo>
                  <a:lnTo>
                    <a:pt x="5204048" y="1954925"/>
                  </a:lnTo>
                  <a:lnTo>
                    <a:pt x="5215784" y="1999547"/>
                  </a:lnTo>
                  <a:lnTo>
                    <a:pt x="5226760" y="2044471"/>
                  </a:lnTo>
                  <a:lnTo>
                    <a:pt x="5236968" y="2089691"/>
                  </a:lnTo>
                  <a:lnTo>
                    <a:pt x="5246401" y="2135198"/>
                  </a:lnTo>
                  <a:lnTo>
                    <a:pt x="5255051" y="2180986"/>
                  </a:lnTo>
                  <a:lnTo>
                    <a:pt x="5262913" y="2227048"/>
                  </a:lnTo>
                  <a:lnTo>
                    <a:pt x="5269977" y="2273376"/>
                  </a:lnTo>
                  <a:lnTo>
                    <a:pt x="5276238" y="2319963"/>
                  </a:lnTo>
                  <a:lnTo>
                    <a:pt x="5278936" y="2343150"/>
                  </a:lnTo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A866C127-79FD-C4B4-A069-B1308E5DA337}"/>
              </a:ext>
            </a:extLst>
          </p:cNvPr>
          <p:cNvSpPr txBox="1"/>
          <p:nvPr/>
        </p:nvSpPr>
        <p:spPr>
          <a:xfrm>
            <a:off x="771715" y="1486609"/>
            <a:ext cx="6539948" cy="3884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rebuchet MS" panose="020B0703020202090204" pitchFamily="34" charset="0"/>
              </a:rPr>
              <a:t>A type of </a:t>
            </a:r>
            <a:r>
              <a:rPr lang="en-IN" b="1" dirty="0">
                <a:latin typeface="Trebuchet MS" panose="020B0703020202090204" pitchFamily="34" charset="0"/>
              </a:rPr>
              <a:t>Deep Learning model</a:t>
            </a:r>
            <a:r>
              <a:rPr lang="en-IN" dirty="0">
                <a:latin typeface="Trebuchet MS" panose="020B0703020202090204" pitchFamily="34" charset="0"/>
              </a:rPr>
              <a:t> mainly used for </a:t>
            </a:r>
            <a:r>
              <a:rPr lang="en-IN" b="1" dirty="0">
                <a:latin typeface="Trebuchet MS" panose="020B0703020202090204" pitchFamily="34" charset="0"/>
              </a:rPr>
              <a:t>image and spatial data</a:t>
            </a:r>
            <a:endParaRPr lang="en-IN" dirty="0">
              <a:latin typeface="Trebuchet MS" panose="020B0703020202090204" pitchFamily="3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rebuchet MS" panose="020B0703020202090204" pitchFamily="34" charset="0"/>
              </a:rPr>
              <a:t>Inspired by how the </a:t>
            </a:r>
            <a:r>
              <a:rPr lang="en-IN" b="1" dirty="0">
                <a:latin typeface="Trebuchet MS" panose="020B0703020202090204" pitchFamily="34" charset="0"/>
              </a:rPr>
              <a:t>human visual system</a:t>
            </a:r>
            <a:r>
              <a:rPr lang="en-IN" dirty="0">
                <a:latin typeface="Trebuchet MS" panose="020B0703020202090204" pitchFamily="34" charset="0"/>
              </a:rPr>
              <a:t> processes patterns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rebuchet MS" panose="020B0703020202090204" pitchFamily="34" charset="0"/>
              </a:rPr>
              <a:t>Learns to </a:t>
            </a:r>
            <a:r>
              <a:rPr lang="en-IN" b="1" dirty="0">
                <a:latin typeface="Trebuchet MS" panose="020B0703020202090204" pitchFamily="34" charset="0"/>
              </a:rPr>
              <a:t>see, recognize, and classify</a:t>
            </a:r>
            <a:r>
              <a:rPr lang="en-IN" dirty="0">
                <a:latin typeface="Trebuchet MS" panose="020B0703020202090204" pitchFamily="34" charset="0"/>
              </a:rPr>
              <a:t> visual features automatically</a:t>
            </a:r>
          </a:p>
          <a:p>
            <a:pPr>
              <a:lnSpc>
                <a:spcPct val="200000"/>
              </a:lnSpc>
            </a:pPr>
            <a:endParaRPr lang="en-IN" dirty="0">
              <a:latin typeface="Trebuchet MS" panose="020B070302020209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>
            <a:extLst>
              <a:ext uri="{FF2B5EF4-FFF2-40B4-BE49-F238E27FC236}">
                <a16:creationId xmlns:a16="http://schemas.microsoft.com/office/drawing/2014/main" id="{ACD24633-FF0E-01C2-AA29-686F220ECA37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371F059-4B75-7224-18CB-45737C49ADDA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8EDDE91F-49AD-02EC-433A-1281103EF3D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1E14FCAA-D399-C79C-838C-010645E7D1E6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274C721A-B595-A908-6AC0-7049936E3FDB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68358A9A-8DE4-7D9A-445F-390D434B9B6C}"/>
              </a:ext>
            </a:extLst>
          </p:cNvPr>
          <p:cNvSpPr txBox="1"/>
          <p:nvPr/>
        </p:nvSpPr>
        <p:spPr>
          <a:xfrm>
            <a:off x="1162878" y="1037698"/>
            <a:ext cx="8590722" cy="63222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4000" dirty="0"/>
              <a:t>What Are CNNs?</a:t>
            </a:r>
            <a:endParaRPr sz="4000" dirty="0">
              <a:latin typeface="Trebuchet MS"/>
              <a:cs typeface="Trebuchet M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FC0E77-FFBE-8AF9-0551-6D3E8050B52F}"/>
              </a:ext>
            </a:extLst>
          </p:cNvPr>
          <p:cNvSpPr txBox="1"/>
          <p:nvPr/>
        </p:nvSpPr>
        <p:spPr>
          <a:xfrm>
            <a:off x="1066800" y="2040575"/>
            <a:ext cx="8590722" cy="22228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rebuchet MS" panose="020B0703020202090204" pitchFamily="34" charset="0"/>
              </a:rPr>
              <a:t>Specialized for processing </a:t>
            </a:r>
            <a:r>
              <a:rPr lang="en-IN" b="1" dirty="0">
                <a:latin typeface="Trebuchet MS" panose="020B0703020202090204" pitchFamily="34" charset="0"/>
              </a:rPr>
              <a:t>grid-like data</a:t>
            </a:r>
            <a:r>
              <a:rPr lang="en-IN" dirty="0">
                <a:latin typeface="Trebuchet MS" panose="020B0703020202090204" pitchFamily="34" charset="0"/>
              </a:rPr>
              <a:t> (e.g., 2D images, 3D videos)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rebuchet MS" panose="020B0703020202090204" pitchFamily="34" charset="0"/>
              </a:rPr>
              <a:t>Works by applying </a:t>
            </a:r>
            <a:r>
              <a:rPr lang="en-IN" b="1" dirty="0">
                <a:latin typeface="Trebuchet MS" panose="020B0703020202090204" pitchFamily="34" charset="0"/>
              </a:rPr>
              <a:t>filters</a:t>
            </a:r>
            <a:r>
              <a:rPr lang="en-IN" dirty="0">
                <a:latin typeface="Trebuchet MS" panose="020B0703020202090204" pitchFamily="34" charset="0"/>
              </a:rPr>
              <a:t> that detect patterns (edges, textures, shapes)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rebuchet MS" panose="020B0703020202090204" pitchFamily="34" charset="0"/>
              </a:rPr>
              <a:t>Automatically learns what features are important for a task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rebuchet MS" panose="020B0703020202090204" pitchFamily="34" charset="0"/>
              </a:rPr>
              <a:t>Used in </a:t>
            </a:r>
            <a:r>
              <a:rPr lang="en-IN" b="1" dirty="0">
                <a:latin typeface="Trebuchet MS" panose="020B0703020202090204" pitchFamily="34" charset="0"/>
              </a:rPr>
              <a:t>image classification</a:t>
            </a:r>
            <a:r>
              <a:rPr lang="en-IN" dirty="0">
                <a:latin typeface="Trebuchet MS" panose="020B0703020202090204" pitchFamily="34" charset="0"/>
              </a:rPr>
              <a:t>, </a:t>
            </a:r>
            <a:r>
              <a:rPr lang="en-IN" b="1" dirty="0">
                <a:latin typeface="Trebuchet MS" panose="020B0703020202090204" pitchFamily="34" charset="0"/>
              </a:rPr>
              <a:t>object detection</a:t>
            </a:r>
            <a:r>
              <a:rPr lang="en-IN" dirty="0">
                <a:latin typeface="Trebuchet MS" panose="020B0703020202090204" pitchFamily="34" charset="0"/>
              </a:rPr>
              <a:t>, and </a:t>
            </a:r>
            <a:r>
              <a:rPr lang="en-IN" b="1" dirty="0">
                <a:latin typeface="Trebuchet MS" panose="020B0703020202090204" pitchFamily="34" charset="0"/>
              </a:rPr>
              <a:t>facial recognition</a:t>
            </a:r>
            <a:endParaRPr lang="en-IN" dirty="0">
              <a:latin typeface="Trebuchet MS" panose="020B070302020209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973C2-99B6-9BE3-4DD2-B81EB4513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>
            <a:extLst>
              <a:ext uri="{FF2B5EF4-FFF2-40B4-BE49-F238E27FC236}">
                <a16:creationId xmlns:a16="http://schemas.microsoft.com/office/drawing/2014/main" id="{9C72D21F-3759-FE05-716C-33ABE442F0B3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5A4B176A-3B73-9020-EC0E-C69A4837860D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6E1B9433-70E8-6192-E29E-D6FD06DFF29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20F0EDA0-30A8-9C89-C600-075E34781B59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63E48640-6682-CDCC-BBB5-F07188CDB1E6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C2338105-3A1B-64C9-D98D-3FC831B7EFCC}"/>
              </a:ext>
            </a:extLst>
          </p:cNvPr>
          <p:cNvSpPr txBox="1"/>
          <p:nvPr/>
        </p:nvSpPr>
        <p:spPr>
          <a:xfrm>
            <a:off x="1066800" y="762000"/>
            <a:ext cx="9296400" cy="132215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lang="en-IN" sz="4000" b="1" dirty="0"/>
              <a:t>Why Do We Need CNNs?</a:t>
            </a: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endParaRPr lang="en-IN" sz="4400" dirty="0">
              <a:latin typeface="Trebuchet MS"/>
              <a:cs typeface="Trebuchet M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F16A9-7B6A-21B7-C901-D13174A5DFFC}"/>
              </a:ext>
            </a:extLst>
          </p:cNvPr>
          <p:cNvSpPr txBox="1">
            <a:spLocks/>
          </p:cNvSpPr>
          <p:nvPr/>
        </p:nvSpPr>
        <p:spPr>
          <a:xfrm>
            <a:off x="1143000" y="1663786"/>
            <a:ext cx="8229600" cy="4900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800" b="0" i="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Traditional Neural Networks treat each pixel </a:t>
            </a:r>
            <a:r>
              <a:rPr lang="en-IN" b="1" dirty="0"/>
              <a:t>independently</a:t>
            </a:r>
            <a:r>
              <a:rPr lang="en-IN" dirty="0"/>
              <a:t> (too many parameters!)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CNNs exploit the </a:t>
            </a:r>
            <a:r>
              <a:rPr lang="en-IN" b="1" dirty="0"/>
              <a:t>spatial structure</a:t>
            </a:r>
            <a:r>
              <a:rPr lang="en-IN" dirty="0"/>
              <a:t> of images</a:t>
            </a:r>
            <a:br>
              <a:rPr lang="en-IN" dirty="0"/>
            </a:br>
            <a:r>
              <a:rPr lang="en-IN" dirty="0"/>
              <a:t>→ nearby pixels are related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They use </a:t>
            </a:r>
            <a:r>
              <a:rPr lang="en-IN" b="1" dirty="0"/>
              <a:t>fewer parameters</a:t>
            </a:r>
            <a:r>
              <a:rPr lang="en-IN" dirty="0"/>
              <a:t> and learn </a:t>
            </a:r>
            <a:r>
              <a:rPr lang="en-IN" b="1" dirty="0"/>
              <a:t>local features</a:t>
            </a:r>
            <a:endParaRPr lang="en-IN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Better at capturing </a:t>
            </a:r>
            <a:r>
              <a:rPr lang="en-IN" b="1" dirty="0"/>
              <a:t>visual hierarchies</a:t>
            </a:r>
            <a:r>
              <a:rPr lang="en-IN" dirty="0"/>
              <a:t> — edges → shapes → objects</a:t>
            </a:r>
          </a:p>
          <a:p>
            <a:pPr>
              <a:lnSpc>
                <a:spcPct val="200000"/>
              </a:lnSpc>
            </a:pPr>
            <a:endParaRPr lang="en-IN" dirty="0"/>
          </a:p>
          <a:p>
            <a:pPr>
              <a:lnSpc>
                <a:spcPct val="200000"/>
              </a:lnSpc>
            </a:pPr>
            <a:endParaRPr lang="en-IN" dirty="0"/>
          </a:p>
          <a:p>
            <a:pPr>
              <a:lnSpc>
                <a:spcPct val="20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3731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35791-C55C-19AC-6E03-9E3BA8075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729F0FBA-75B4-4148-C8B5-16A032372AC4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36771B4B-A891-07BF-7A76-D2A598F22B13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98BB2E41-D1F7-3FC9-2CB4-73CF3F6F01F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6FFBD3EC-886E-4482-3A7E-DAD8E163362E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8">
            <a:extLst>
              <a:ext uri="{FF2B5EF4-FFF2-40B4-BE49-F238E27FC236}">
                <a16:creationId xmlns:a16="http://schemas.microsoft.com/office/drawing/2014/main" id="{ADB07CBD-4187-DD45-9AE0-86CEE766DBA5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C14CCE-7BE7-B526-90D4-1A1971299875}"/>
              </a:ext>
            </a:extLst>
          </p:cNvPr>
          <p:cNvSpPr txBox="1"/>
          <p:nvPr/>
        </p:nvSpPr>
        <p:spPr>
          <a:xfrm>
            <a:off x="825210" y="762000"/>
            <a:ext cx="869979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/>
              <a:t>Key Building Blocks of CNNs</a:t>
            </a:r>
            <a:endParaRPr lang="en-US" sz="4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9C40C8-10C6-1F66-366B-D9AA10E34067}"/>
              </a:ext>
            </a:extLst>
          </p:cNvPr>
          <p:cNvSpPr txBox="1"/>
          <p:nvPr/>
        </p:nvSpPr>
        <p:spPr>
          <a:xfrm>
            <a:off x="881530" y="1691239"/>
            <a:ext cx="8338669" cy="2776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rebuchet MS" panose="020B0703020202090204" pitchFamily="34" charset="0"/>
              </a:rPr>
              <a:t>Convolutional Layer</a:t>
            </a:r>
            <a:r>
              <a:rPr lang="en-IN" dirty="0">
                <a:latin typeface="Trebuchet MS" panose="020B0703020202090204" pitchFamily="34" charset="0"/>
              </a:rPr>
              <a:t> – extracts local features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rebuchet MS" panose="020B0703020202090204" pitchFamily="34" charset="0"/>
              </a:rPr>
              <a:t>Activation Function (ReLU)</a:t>
            </a:r>
            <a:r>
              <a:rPr lang="en-IN" dirty="0">
                <a:latin typeface="Trebuchet MS" panose="020B0703020202090204" pitchFamily="34" charset="0"/>
              </a:rPr>
              <a:t> – introduces non-linearity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rebuchet MS" panose="020B0703020202090204" pitchFamily="34" charset="0"/>
              </a:rPr>
              <a:t>Pooling Layer</a:t>
            </a:r>
            <a:r>
              <a:rPr lang="en-IN" dirty="0">
                <a:latin typeface="Trebuchet MS" panose="020B0703020202090204" pitchFamily="34" charset="0"/>
              </a:rPr>
              <a:t> – reduces spatial size and computation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rebuchet MS" panose="020B0703020202090204" pitchFamily="34" charset="0"/>
              </a:rPr>
              <a:t>Fully Connected Layer</a:t>
            </a:r>
            <a:r>
              <a:rPr lang="en-IN" dirty="0">
                <a:latin typeface="Trebuchet MS" panose="020B0703020202090204" pitchFamily="34" charset="0"/>
              </a:rPr>
              <a:t> – combines features for prediction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rebuchet MS" panose="020B0703020202090204" pitchFamily="34" charset="0"/>
              </a:rPr>
              <a:t>Output Layer</a:t>
            </a:r>
            <a:r>
              <a:rPr lang="en-IN" dirty="0">
                <a:latin typeface="Trebuchet MS" panose="020B0703020202090204" pitchFamily="34" charset="0"/>
              </a:rPr>
              <a:t> – gives class probabilities (e.g., cat/dog)</a:t>
            </a:r>
          </a:p>
        </p:txBody>
      </p:sp>
    </p:spTree>
    <p:extLst>
      <p:ext uri="{BB962C8B-B14F-4D97-AF65-F5344CB8AC3E}">
        <p14:creationId xmlns:p14="http://schemas.microsoft.com/office/powerpoint/2010/main" val="2966901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14B9E-4D5B-D6EB-1EB7-082384050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F24865CF-1C2D-17BC-5C52-FF1E319B56E4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C0D58C1B-86AF-A14C-F1A9-46D84AA0EFBC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E7B4A303-0EFF-BFA4-145F-118A9E1CE386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D7A0CCB2-0B2C-880B-859A-952B9A896D6D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8">
            <a:extLst>
              <a:ext uri="{FF2B5EF4-FFF2-40B4-BE49-F238E27FC236}">
                <a16:creationId xmlns:a16="http://schemas.microsoft.com/office/drawing/2014/main" id="{5FDD6DE5-9B4E-C843-33BA-E7D23230C5B9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91F7F903-3FB8-CE79-F1C3-EC5BD405EBA5}"/>
              </a:ext>
            </a:extLst>
          </p:cNvPr>
          <p:cNvSpPr txBox="1"/>
          <p:nvPr/>
        </p:nvSpPr>
        <p:spPr>
          <a:xfrm>
            <a:off x="772890" y="848211"/>
            <a:ext cx="10646220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sz="4400" dirty="0">
                <a:latin typeface="Trebuchet MS" panose="020B0703020202090204" pitchFamily="34" charset="0"/>
                <a:cs typeface="Trebuchet MS"/>
              </a:rPr>
              <a:t> </a:t>
            </a:r>
            <a:r>
              <a:rPr lang="en-IN" sz="4000" dirty="0">
                <a:latin typeface="Trebuchet MS" panose="020B0703020202090204" pitchFamily="34" charset="0"/>
              </a:rPr>
              <a:t>Convolutional Layer</a:t>
            </a:r>
            <a:endParaRPr sz="4000" dirty="0">
              <a:latin typeface="Trebuchet MS" panose="020B0703020202090204" pitchFamily="34" charset="0"/>
              <a:cs typeface="Trebuchet M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8D366F-D719-5C2A-DB31-DB3E4D0EECAA}"/>
              </a:ext>
            </a:extLst>
          </p:cNvPr>
          <p:cNvSpPr txBox="1"/>
          <p:nvPr/>
        </p:nvSpPr>
        <p:spPr>
          <a:xfrm>
            <a:off x="914400" y="1828799"/>
            <a:ext cx="7930893" cy="4992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rebuchet MS" panose="020B0703020202090204" pitchFamily="34" charset="0"/>
              </a:rPr>
              <a:t>Applies </a:t>
            </a:r>
            <a:r>
              <a:rPr lang="en-IN" b="1" dirty="0">
                <a:latin typeface="Trebuchet MS" panose="020B0703020202090204" pitchFamily="34" charset="0"/>
              </a:rPr>
              <a:t>filters (kernels)</a:t>
            </a:r>
            <a:r>
              <a:rPr lang="en-IN" dirty="0">
                <a:latin typeface="Trebuchet MS" panose="020B0703020202090204" pitchFamily="34" charset="0"/>
              </a:rPr>
              <a:t> that slide over the image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rebuchet MS" panose="020B0703020202090204" pitchFamily="34" charset="0"/>
              </a:rPr>
              <a:t>Each filter detects specific features (e.g., vertical edge, corner)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rebuchet MS" panose="020B0703020202090204" pitchFamily="34" charset="0"/>
              </a:rPr>
              <a:t>Output = </a:t>
            </a:r>
            <a:r>
              <a:rPr lang="en-IN" b="1" dirty="0">
                <a:latin typeface="Trebuchet MS" panose="020B0703020202090204" pitchFamily="34" charset="0"/>
              </a:rPr>
              <a:t>Feature Map</a:t>
            </a:r>
            <a:endParaRPr lang="en-IN" dirty="0">
              <a:latin typeface="Trebuchet MS" panose="020B0703020202090204" pitchFamily="34" charset="0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rebuchet MS" panose="020B0703020202090204" pitchFamily="34" charset="0"/>
              </a:rPr>
              <a:t>Example: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rebuchet MS" panose="020B0703020202090204" pitchFamily="34" charset="0"/>
              </a:rPr>
              <a:t>Input: 28×28 image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rebuchet MS" panose="020B0703020202090204" pitchFamily="34" charset="0"/>
              </a:rPr>
              <a:t>Filter: 3×3 matrix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rebuchet MS" panose="020B0703020202090204" pitchFamily="34" charset="0"/>
              </a:rPr>
              <a:t>Output: 26×26 feature map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rebuchet MS" panose="020B0703020202090204" pitchFamily="34" charset="0"/>
              </a:rPr>
              <a:t>Helps model </a:t>
            </a:r>
            <a:r>
              <a:rPr lang="en-IN" b="1" dirty="0">
                <a:latin typeface="Trebuchet MS" panose="020B0703020202090204" pitchFamily="34" charset="0"/>
              </a:rPr>
              <a:t>focus on important spatial features</a:t>
            </a:r>
            <a:endParaRPr lang="en-IN" dirty="0">
              <a:latin typeface="Trebuchet MS" panose="020B0703020202090204" pitchFamily="34" charset="0"/>
            </a:endParaRPr>
          </a:p>
          <a:p>
            <a:pPr>
              <a:lnSpc>
                <a:spcPct val="20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7872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43C27-E0BD-9B6D-3696-0C20C863B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DC55C0BC-7157-C394-7A88-AC7BE35F44AB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CB3BD1EF-2E81-2A12-1ADF-A13E4B28EBD0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E36879B5-2E77-17BF-41FA-F3D67A984806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7FF16B5D-E2F2-15DE-9D19-7DF5872711B3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8">
            <a:extLst>
              <a:ext uri="{FF2B5EF4-FFF2-40B4-BE49-F238E27FC236}">
                <a16:creationId xmlns:a16="http://schemas.microsoft.com/office/drawing/2014/main" id="{1B271025-20A3-A79E-6692-07506A0E16A9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C78BAA03-D87A-953D-8C14-C050ABC1B1B9}"/>
              </a:ext>
            </a:extLst>
          </p:cNvPr>
          <p:cNvSpPr txBox="1"/>
          <p:nvPr/>
        </p:nvSpPr>
        <p:spPr>
          <a:xfrm>
            <a:off x="772890" y="848211"/>
            <a:ext cx="10646220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lang="en-US" sz="4400" dirty="0">
                <a:latin typeface="Trebuchet MS" panose="020B0703020202090204" pitchFamily="34" charset="0"/>
                <a:cs typeface="Trebuchet MS"/>
              </a:rPr>
              <a:t> </a:t>
            </a:r>
            <a:r>
              <a:rPr lang="en-IN" sz="4400" dirty="0"/>
              <a:t>Activation Function (ReLU)</a:t>
            </a:r>
            <a:endParaRPr sz="4400" dirty="0">
              <a:latin typeface="Trebuchet MS" panose="020B0703020202090204" pitchFamily="34" charset="0"/>
              <a:cs typeface="Trebuchet M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394C86-CC23-7940-6C10-1962A7D820E4}"/>
              </a:ext>
            </a:extLst>
          </p:cNvPr>
          <p:cNvSpPr txBox="1"/>
          <p:nvPr/>
        </p:nvSpPr>
        <p:spPr>
          <a:xfrm>
            <a:off x="679707" y="1828800"/>
            <a:ext cx="8388093" cy="27763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rebuchet MS" panose="020B0703020202090204" pitchFamily="34" charset="0"/>
              </a:rPr>
              <a:t>Adds </a:t>
            </a:r>
            <a:r>
              <a:rPr lang="en-IN" b="1" dirty="0">
                <a:latin typeface="Trebuchet MS" panose="020B0703020202090204" pitchFamily="34" charset="0"/>
              </a:rPr>
              <a:t>non-linearity</a:t>
            </a:r>
            <a:r>
              <a:rPr lang="en-IN" dirty="0">
                <a:latin typeface="Trebuchet MS" panose="020B0703020202090204" pitchFamily="34" charset="0"/>
              </a:rPr>
              <a:t> so model can learn complex relationships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rebuchet MS" panose="020B0703020202090204" pitchFamily="34" charset="0"/>
              </a:rPr>
              <a:t>Formula: ReLU(x) = max(0, x)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rebuchet MS" panose="020B0703020202090204" pitchFamily="34" charset="0"/>
              </a:rPr>
              <a:t>Converts negative values to zero, keeping only positive activations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rebuchet MS" panose="020B0703020202090204" pitchFamily="34" charset="0"/>
              </a:rPr>
              <a:t>Makes training </a:t>
            </a:r>
            <a:r>
              <a:rPr lang="en-IN" b="1" dirty="0">
                <a:latin typeface="Trebuchet MS" panose="020B0703020202090204" pitchFamily="34" charset="0"/>
              </a:rPr>
              <a:t>faster and more stable</a:t>
            </a:r>
            <a:endParaRPr lang="en-IN" dirty="0">
              <a:latin typeface="Trebuchet MS" panose="020B0703020202090204" pitchFamily="34" charset="0"/>
            </a:endParaRPr>
          </a:p>
          <a:p>
            <a:pPr>
              <a:lnSpc>
                <a:spcPct val="20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9002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0AC08-C208-188F-3306-C7A15711D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85B0EB7A-21C4-8DB2-9E7F-FA4E208BF112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1BC4D63D-4277-4C5C-91AF-0DAC8ECF3E56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7579730B-2F26-6A34-41DD-5C8D8073B4E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2A137D88-FD53-C948-B524-5F5086B61994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8">
            <a:extLst>
              <a:ext uri="{FF2B5EF4-FFF2-40B4-BE49-F238E27FC236}">
                <a16:creationId xmlns:a16="http://schemas.microsoft.com/office/drawing/2014/main" id="{852E1A4F-FF90-5BA7-BAEF-17749EBBB9E3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649C725A-C076-C817-F500-3DC8D7C197F5}"/>
              </a:ext>
            </a:extLst>
          </p:cNvPr>
          <p:cNvSpPr txBox="1"/>
          <p:nvPr/>
        </p:nvSpPr>
        <p:spPr>
          <a:xfrm>
            <a:off x="772890" y="848211"/>
            <a:ext cx="10646220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lang="en-US" sz="4400" dirty="0">
                <a:latin typeface="Trebuchet MS" panose="020B0703020202090204" pitchFamily="34" charset="0"/>
                <a:cs typeface="Trebuchet MS"/>
              </a:rPr>
              <a:t> </a:t>
            </a:r>
            <a:r>
              <a:rPr lang="en-IN" sz="4400" dirty="0"/>
              <a:t>Pooling Layer</a:t>
            </a:r>
            <a:endParaRPr sz="4400" dirty="0">
              <a:latin typeface="Trebuchet MS" panose="020B0703020202090204" pitchFamily="34" charset="0"/>
              <a:cs typeface="Trebuchet M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13D353-410F-ECC3-CCCF-DD4983386C47}"/>
              </a:ext>
            </a:extLst>
          </p:cNvPr>
          <p:cNvSpPr txBox="1"/>
          <p:nvPr/>
        </p:nvSpPr>
        <p:spPr>
          <a:xfrm>
            <a:off x="679707" y="1828800"/>
            <a:ext cx="9912093" cy="4438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rebuchet MS" panose="020B0703020202090204" pitchFamily="34" charset="0"/>
              </a:rPr>
              <a:t>Reduces the size of feature maps → speeds up learning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rebuchet MS" panose="020B0703020202090204" pitchFamily="34" charset="0"/>
              </a:rPr>
              <a:t>Max Pooling:</a:t>
            </a:r>
            <a:r>
              <a:rPr lang="en-IN" dirty="0">
                <a:latin typeface="Trebuchet MS" panose="020B0703020202090204" pitchFamily="34" charset="0"/>
              </a:rPr>
              <a:t> picks the max value in each region (keeps strongest signal)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rebuchet MS" panose="020B0703020202090204" pitchFamily="34" charset="0"/>
              </a:rPr>
              <a:t>Average Pooling:</a:t>
            </a:r>
            <a:r>
              <a:rPr lang="en-IN" dirty="0">
                <a:latin typeface="Trebuchet MS" panose="020B0703020202090204" pitchFamily="34" charset="0"/>
              </a:rPr>
              <a:t> takes average value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rebuchet MS" panose="020B0703020202090204" pitchFamily="34" charset="0"/>
              </a:rPr>
              <a:t>Example: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rebuchet MS" panose="020B0703020202090204" pitchFamily="34" charset="0"/>
              </a:rPr>
              <a:t>Input: 4×4 feature map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rebuchet MS" panose="020B0703020202090204" pitchFamily="34" charset="0"/>
              </a:rPr>
              <a:t>2×2 max pool → output becomes 2×2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rebuchet MS" panose="020B0703020202090204" pitchFamily="34" charset="0"/>
              </a:rPr>
              <a:t>Provides </a:t>
            </a:r>
            <a:r>
              <a:rPr lang="en-IN" b="1" dirty="0">
                <a:latin typeface="Trebuchet MS" panose="020B0703020202090204" pitchFamily="34" charset="0"/>
              </a:rPr>
              <a:t>translation invariance</a:t>
            </a:r>
            <a:r>
              <a:rPr lang="en-IN" dirty="0">
                <a:latin typeface="Trebuchet MS" panose="020B0703020202090204" pitchFamily="34" charset="0"/>
              </a:rPr>
              <a:t> — position doesn’t matter much</a:t>
            </a:r>
          </a:p>
          <a:p>
            <a:pPr>
              <a:lnSpc>
                <a:spcPct val="20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51794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30A98-E292-9CBC-A94B-4F6E5E426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7364EF79-0F46-CDFD-EF0C-3EA65E1AEC0A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B58B147E-7445-BD67-0F1B-F4ECD480D609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F5DDFF74-D9AC-7E22-DDC5-1502BC41CBA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B09FE9D1-D377-0F04-CB00-560C3E46ABB7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8">
            <a:extLst>
              <a:ext uri="{FF2B5EF4-FFF2-40B4-BE49-F238E27FC236}">
                <a16:creationId xmlns:a16="http://schemas.microsoft.com/office/drawing/2014/main" id="{EACB43F3-BFFF-2E0D-6A43-2801C9B41720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C2E16A6C-6FC1-798B-E377-FF4D4CC08A19}"/>
              </a:ext>
            </a:extLst>
          </p:cNvPr>
          <p:cNvSpPr txBox="1"/>
          <p:nvPr/>
        </p:nvSpPr>
        <p:spPr>
          <a:xfrm>
            <a:off x="772890" y="848211"/>
            <a:ext cx="10646220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lang="en-US" sz="4400" dirty="0">
                <a:latin typeface="Trebuchet MS" panose="020B0703020202090204" pitchFamily="34" charset="0"/>
                <a:cs typeface="Trebuchet MS"/>
              </a:rPr>
              <a:t> </a:t>
            </a:r>
            <a:r>
              <a:rPr lang="en-US" sz="4000" dirty="0">
                <a:latin typeface="Trebuchet MS" panose="020B0703020202090204" pitchFamily="34" charset="0"/>
                <a:cs typeface="Trebuchet MS"/>
              </a:rPr>
              <a:t>F</a:t>
            </a:r>
            <a:r>
              <a:rPr lang="en-IN" sz="4000" dirty="0" err="1"/>
              <a:t>ully</a:t>
            </a:r>
            <a:r>
              <a:rPr lang="en-IN" sz="4000" dirty="0"/>
              <a:t> Connected Layer</a:t>
            </a:r>
            <a:endParaRPr sz="4000" dirty="0">
              <a:latin typeface="Trebuchet MS" panose="020B0703020202090204" pitchFamily="34" charset="0"/>
              <a:cs typeface="Trebuchet M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A08585-B729-A5B5-35C9-EC7FF5C46E35}"/>
              </a:ext>
            </a:extLst>
          </p:cNvPr>
          <p:cNvSpPr txBox="1"/>
          <p:nvPr/>
        </p:nvSpPr>
        <p:spPr>
          <a:xfrm>
            <a:off x="679707" y="1828800"/>
            <a:ext cx="9912093" cy="2222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Flattens all feature maps into one long vector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Each neuron connects to all features → combines information globally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Learns </a:t>
            </a:r>
            <a:r>
              <a:rPr lang="en-IN" b="1" dirty="0"/>
              <a:t>high-level patterns</a:t>
            </a:r>
            <a:r>
              <a:rPr lang="en-IN" dirty="0"/>
              <a:t> like object identity or category</a:t>
            </a:r>
          </a:p>
          <a:p>
            <a:pPr>
              <a:lnSpc>
                <a:spcPct val="20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28367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96586-0C3E-8D99-1EAF-C719F6E8C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44C50111-3299-7CD1-0ED6-83A5CA6EEE8F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AB79B1B2-5785-3B57-D28F-E3E039804748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26D57EDE-73D7-6BE0-D8FD-1C8F87561F3B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0AAD0E7D-A74C-1559-4932-8CFB8CDF825D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8">
            <a:extLst>
              <a:ext uri="{FF2B5EF4-FFF2-40B4-BE49-F238E27FC236}">
                <a16:creationId xmlns:a16="http://schemas.microsoft.com/office/drawing/2014/main" id="{4DF7A7A1-D024-6934-86A7-B1D51B507FA8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93BAF23D-78AC-9D75-F954-A03A7C23D782}"/>
              </a:ext>
            </a:extLst>
          </p:cNvPr>
          <p:cNvSpPr txBox="1"/>
          <p:nvPr/>
        </p:nvSpPr>
        <p:spPr>
          <a:xfrm>
            <a:off x="772890" y="848211"/>
            <a:ext cx="10646220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lang="en-US" sz="4400" dirty="0">
                <a:latin typeface="Trebuchet MS" panose="020B0703020202090204" pitchFamily="34" charset="0"/>
                <a:cs typeface="Trebuchet MS"/>
              </a:rPr>
              <a:t> </a:t>
            </a:r>
            <a:r>
              <a:rPr lang="en-IN" sz="4000" dirty="0"/>
              <a:t>Output Layer</a:t>
            </a:r>
            <a:endParaRPr sz="4000" dirty="0">
              <a:latin typeface="Trebuchet MS" panose="020B0703020202090204" pitchFamily="34" charset="0"/>
              <a:cs typeface="Trebuchet M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E24A68-9827-E89C-3F89-E6571D7FFF0C}"/>
              </a:ext>
            </a:extLst>
          </p:cNvPr>
          <p:cNvSpPr txBox="1"/>
          <p:nvPr/>
        </p:nvSpPr>
        <p:spPr>
          <a:xfrm>
            <a:off x="679707" y="1828800"/>
            <a:ext cx="9912093" cy="3330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Typically uses </a:t>
            </a:r>
            <a:r>
              <a:rPr lang="en-IN" b="1" dirty="0"/>
              <a:t>Softmax</a:t>
            </a:r>
            <a:r>
              <a:rPr lang="en-IN" dirty="0"/>
              <a:t> activation for classification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Softmax converts final scores into probabilities:</a:t>
            </a:r>
          </a:p>
          <a:p>
            <a:pPr lvl="2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   Example: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Cat: 0.7, Dog: 0.2, Bird: 0.1 → predicts “Cat”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Works best for </a:t>
            </a:r>
            <a:r>
              <a:rPr lang="en-IN" b="1" dirty="0"/>
              <a:t>multi-class problems</a:t>
            </a:r>
            <a:endParaRPr lang="en-IN" dirty="0"/>
          </a:p>
          <a:p>
            <a:pPr>
              <a:lnSpc>
                <a:spcPct val="20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81782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B362C-0BDF-1C8B-77D8-9258955E8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6FFD9D4C-1C88-1995-7C7B-D95C969ADA0F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F0B9FAAD-C6FF-0998-8C9A-7D5994282B8A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927B606-5F7A-9366-B93B-A2039B16639B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02EADC05-8859-BAF9-4680-8A92BF225B31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8">
            <a:extLst>
              <a:ext uri="{FF2B5EF4-FFF2-40B4-BE49-F238E27FC236}">
                <a16:creationId xmlns:a16="http://schemas.microsoft.com/office/drawing/2014/main" id="{67376AE4-5128-D64A-A3BD-ACB80A244B02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582EDC0B-E0DE-29EB-2429-854EAB8B144D}"/>
              </a:ext>
            </a:extLst>
          </p:cNvPr>
          <p:cNvSpPr txBox="1"/>
          <p:nvPr/>
        </p:nvSpPr>
        <p:spPr>
          <a:xfrm>
            <a:off x="772890" y="848211"/>
            <a:ext cx="10646220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lang="en-US" sz="4400" dirty="0">
                <a:latin typeface="Trebuchet MS" panose="020B0703020202090204" pitchFamily="34" charset="0"/>
                <a:cs typeface="Trebuchet MS"/>
              </a:rPr>
              <a:t> </a:t>
            </a:r>
            <a:r>
              <a:rPr lang="en-IN" sz="4000" dirty="0"/>
              <a:t>How CNN Learns</a:t>
            </a:r>
            <a:endParaRPr sz="4000" dirty="0">
              <a:latin typeface="Trebuchet MS" panose="020B0703020202090204" pitchFamily="34" charset="0"/>
              <a:cs typeface="Trebuchet M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EAAE34-724F-7317-D33C-F7B2EF6FFAC5}"/>
              </a:ext>
            </a:extLst>
          </p:cNvPr>
          <p:cNvSpPr txBox="1"/>
          <p:nvPr/>
        </p:nvSpPr>
        <p:spPr>
          <a:xfrm>
            <a:off x="679707" y="1828800"/>
            <a:ext cx="9912093" cy="3515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CNN learns through </a:t>
            </a:r>
            <a:r>
              <a:rPr lang="en-IN" b="1" dirty="0"/>
              <a:t>backpropagation</a:t>
            </a:r>
            <a:endParaRPr lang="en-IN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Adjusts filter weights to minimize prediction errors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Each layer builds on the previous one:</a:t>
            </a:r>
          </a:p>
          <a:p>
            <a:pPr marL="285750" lvl="8" indent="-285750">
              <a:lnSpc>
                <a:spcPct val="200000"/>
              </a:lnSpc>
              <a:buFont typeface="Wingdings" pitchFamily="2" charset="2"/>
              <a:buChar char="v"/>
            </a:pPr>
            <a:r>
              <a:rPr lang="en-IN" sz="1400" b="1" dirty="0"/>
              <a:t>Low-level:</a:t>
            </a:r>
            <a:r>
              <a:rPr lang="en-IN" sz="1400" dirty="0"/>
              <a:t> edges, lines</a:t>
            </a:r>
          </a:p>
          <a:p>
            <a:pPr marL="285750" lvl="2" indent="-285750">
              <a:lnSpc>
                <a:spcPct val="200000"/>
              </a:lnSpc>
              <a:buFont typeface="Wingdings" pitchFamily="2" charset="2"/>
              <a:buChar char="v"/>
            </a:pPr>
            <a:r>
              <a:rPr lang="en-IN" sz="1400" b="1" dirty="0"/>
              <a:t>Mid-level:</a:t>
            </a:r>
            <a:r>
              <a:rPr lang="en-IN" sz="1400" dirty="0"/>
              <a:t> shapes, textures</a:t>
            </a:r>
          </a:p>
          <a:p>
            <a:pPr marL="285750" lvl="2" indent="-285750">
              <a:lnSpc>
                <a:spcPct val="200000"/>
              </a:lnSpc>
              <a:buFont typeface="Wingdings" pitchFamily="2" charset="2"/>
              <a:buChar char="v"/>
            </a:pPr>
            <a:r>
              <a:rPr lang="en-IN" sz="1400" b="1" dirty="0"/>
              <a:t>High-level:</a:t>
            </a:r>
            <a:r>
              <a:rPr lang="en-IN" sz="1400" dirty="0"/>
              <a:t> faces, objects</a:t>
            </a:r>
          </a:p>
          <a:p>
            <a:pPr>
              <a:lnSpc>
                <a:spcPct val="20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00015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B24AAD-C25F-BA53-2BE2-9CD0D807B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278BCAC5-A76C-888F-82D2-3BDD9307EA82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FC23F7FF-8406-593E-4011-1795CCD64635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E2FD890-3CC7-B025-592F-9F1909929C9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8A6E7DF5-6A8B-2D00-BC7F-BA7682776960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8">
            <a:extLst>
              <a:ext uri="{FF2B5EF4-FFF2-40B4-BE49-F238E27FC236}">
                <a16:creationId xmlns:a16="http://schemas.microsoft.com/office/drawing/2014/main" id="{41753DD9-2284-E14E-9B10-F99031FD508B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198448F7-4804-79F9-4DA6-DD8A04F00A3A}"/>
              </a:ext>
            </a:extLst>
          </p:cNvPr>
          <p:cNvSpPr txBox="1"/>
          <p:nvPr/>
        </p:nvSpPr>
        <p:spPr>
          <a:xfrm>
            <a:off x="772890" y="848211"/>
            <a:ext cx="10646220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lang="en-US" sz="4400" dirty="0">
                <a:latin typeface="Trebuchet MS" panose="020B0703020202090204" pitchFamily="34" charset="0"/>
                <a:cs typeface="Trebuchet MS"/>
              </a:rPr>
              <a:t> </a:t>
            </a:r>
            <a:r>
              <a:rPr lang="en-IN" sz="4000" dirty="0"/>
              <a:t>Typical CNN Architecture</a:t>
            </a:r>
            <a:endParaRPr sz="4000" dirty="0">
              <a:latin typeface="Trebuchet MS" panose="020B0703020202090204" pitchFamily="34" charset="0"/>
              <a:cs typeface="Trebuchet M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029E48-07F3-69B2-7CEB-298D612B8545}"/>
              </a:ext>
            </a:extLst>
          </p:cNvPr>
          <p:cNvSpPr txBox="1"/>
          <p:nvPr/>
        </p:nvSpPr>
        <p:spPr>
          <a:xfrm>
            <a:off x="679707" y="1828800"/>
            <a:ext cx="9912093" cy="3884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rebuchet MS" panose="020B0703020202090204" pitchFamily="34" charset="0"/>
              </a:rPr>
              <a:t>Input: 28×28 grayscale image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rebuchet MS" panose="020B0703020202090204" pitchFamily="34" charset="0"/>
              </a:rPr>
              <a:t>Conv Layer (32 filters, 3×3) → ReLU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rebuchet MS" panose="020B0703020202090204" pitchFamily="34" charset="0"/>
              </a:rPr>
              <a:t>Max Pool (2×2)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rebuchet MS" panose="020B0703020202090204" pitchFamily="34" charset="0"/>
              </a:rPr>
              <a:t>Conv Layer (64 filters, 3×3) → ReLU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rebuchet MS" panose="020B0703020202090204" pitchFamily="34" charset="0"/>
              </a:rPr>
              <a:t>Max Pool (2×2)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rebuchet MS" panose="020B0703020202090204" pitchFamily="34" charset="0"/>
              </a:rPr>
              <a:t>Flatten → Dense(64, ReLU) → Dense(10, Softmax)</a:t>
            </a:r>
          </a:p>
          <a:p>
            <a:pPr>
              <a:lnSpc>
                <a:spcPct val="20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62874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DC541-0FAC-7015-81F2-2766FC409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CFABA731-5134-100A-8AE4-161D672EF21C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75759EB8-A76C-53BD-2B81-3A13547BE72B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2D23113C-D668-650D-8F86-E02C5E606A4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F6B14096-FC0E-EDF6-AFF7-58F31C0DF1F6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8">
            <a:extLst>
              <a:ext uri="{FF2B5EF4-FFF2-40B4-BE49-F238E27FC236}">
                <a16:creationId xmlns:a16="http://schemas.microsoft.com/office/drawing/2014/main" id="{99D568CB-3E94-2DE5-3AEF-F22E7F503230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F3EFC861-A386-EEFC-AF70-B70F650361FA}"/>
              </a:ext>
            </a:extLst>
          </p:cNvPr>
          <p:cNvSpPr txBox="1"/>
          <p:nvPr/>
        </p:nvSpPr>
        <p:spPr>
          <a:xfrm>
            <a:off x="772890" y="848211"/>
            <a:ext cx="10646220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lang="en-US" sz="4400" dirty="0">
                <a:latin typeface="Trebuchet MS" panose="020B0703020202090204" pitchFamily="34" charset="0"/>
                <a:cs typeface="Trebuchet MS"/>
              </a:rPr>
              <a:t> </a:t>
            </a:r>
            <a:r>
              <a:rPr lang="en-IN" sz="4000" dirty="0"/>
              <a:t>CNN Hyperparameters</a:t>
            </a:r>
            <a:endParaRPr sz="4000" dirty="0">
              <a:latin typeface="Trebuchet MS" panose="020B0703020202090204" pitchFamily="34" charset="0"/>
              <a:cs typeface="Trebuchet M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81F879-F200-FC49-1DC8-50D0661E8868}"/>
              </a:ext>
            </a:extLst>
          </p:cNvPr>
          <p:cNvSpPr txBox="1"/>
          <p:nvPr/>
        </p:nvSpPr>
        <p:spPr>
          <a:xfrm>
            <a:off x="679707" y="1828800"/>
            <a:ext cx="9912093" cy="3330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Filter Size</a:t>
            </a:r>
            <a:r>
              <a:rPr lang="en-IN" dirty="0"/>
              <a:t> (e.g., 3×3, 5×5) → controls receptive field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Stride</a:t>
            </a:r>
            <a:r>
              <a:rPr lang="en-IN" dirty="0"/>
              <a:t> → how far filter moves each step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Padding</a:t>
            </a:r>
            <a:r>
              <a:rPr lang="en-IN" dirty="0"/>
              <a:t> → keeps original size by adding borders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Number of Filters</a:t>
            </a:r>
            <a:r>
              <a:rPr lang="en-IN" dirty="0"/>
              <a:t> → controls how many features learned per layer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Learning Rate</a:t>
            </a:r>
            <a:r>
              <a:rPr lang="en-IN" dirty="0"/>
              <a:t> → affects speed &amp; stability of training</a:t>
            </a:r>
          </a:p>
          <a:p>
            <a:pPr>
              <a:lnSpc>
                <a:spcPct val="20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7027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1878E-B641-A2A2-855C-3B02FBDF4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45E30E9C-42D2-AE4F-4C09-1943A48F5FEB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C28D742D-ADEF-6002-06D2-2BF0D770101E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6F0F0AAF-6FF7-C1ED-9173-E1347FAD6D0B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66A03DE3-5BA0-FB52-1AD5-350BF8AE94A8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8">
            <a:extLst>
              <a:ext uri="{FF2B5EF4-FFF2-40B4-BE49-F238E27FC236}">
                <a16:creationId xmlns:a16="http://schemas.microsoft.com/office/drawing/2014/main" id="{C7D1A9F1-D6B1-7BFC-C31A-1446E6F7EE69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90F2D02F-E8A3-73BF-A40E-56A54C65A636}"/>
              </a:ext>
            </a:extLst>
          </p:cNvPr>
          <p:cNvSpPr txBox="1"/>
          <p:nvPr/>
        </p:nvSpPr>
        <p:spPr>
          <a:xfrm>
            <a:off x="772890" y="848211"/>
            <a:ext cx="10646220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lang="en-US" sz="4400" dirty="0">
                <a:latin typeface="Trebuchet MS" panose="020B0703020202090204" pitchFamily="34" charset="0"/>
                <a:cs typeface="Trebuchet MS"/>
              </a:rPr>
              <a:t> </a:t>
            </a:r>
            <a:r>
              <a:rPr lang="en-IN" sz="4000" dirty="0"/>
              <a:t>Intuition</a:t>
            </a:r>
            <a:endParaRPr sz="4000" dirty="0">
              <a:latin typeface="Trebuchet MS" panose="020B0703020202090204" pitchFamily="34" charset="0"/>
              <a:cs typeface="Trebuchet M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307A4A-2872-E2B4-0430-0A3DB7AC2CF5}"/>
              </a:ext>
            </a:extLst>
          </p:cNvPr>
          <p:cNvSpPr txBox="1"/>
          <p:nvPr/>
        </p:nvSpPr>
        <p:spPr>
          <a:xfrm>
            <a:off x="679707" y="1828800"/>
            <a:ext cx="9912093" cy="2961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CNN sees the world </a:t>
            </a:r>
            <a:r>
              <a:rPr lang="en-IN" b="1" dirty="0"/>
              <a:t>layer by layer</a:t>
            </a:r>
            <a:r>
              <a:rPr lang="en-IN" dirty="0"/>
              <a:t>:</a:t>
            </a:r>
          </a:p>
          <a:p>
            <a:pPr marL="285750" lvl="4" indent="-285750">
              <a:lnSpc>
                <a:spcPct val="200000"/>
              </a:lnSpc>
              <a:buFont typeface="Wingdings" pitchFamily="2" charset="2"/>
              <a:buChar char="v"/>
            </a:pPr>
            <a:r>
              <a:rPr lang="en-IN" sz="1400" dirty="0"/>
              <a:t>Early layers → detect edges</a:t>
            </a:r>
          </a:p>
          <a:p>
            <a:pPr marL="285750" lvl="1" indent="-285750">
              <a:lnSpc>
                <a:spcPct val="200000"/>
              </a:lnSpc>
              <a:buFont typeface="Wingdings" pitchFamily="2" charset="2"/>
              <a:buChar char="v"/>
            </a:pPr>
            <a:r>
              <a:rPr lang="en-IN" sz="1400" dirty="0"/>
              <a:t>Middle layers → detect shapes &amp; textures</a:t>
            </a:r>
          </a:p>
          <a:p>
            <a:pPr marL="285750" lvl="1" indent="-285750">
              <a:lnSpc>
                <a:spcPct val="200000"/>
              </a:lnSpc>
              <a:buFont typeface="Wingdings" pitchFamily="2" charset="2"/>
              <a:buChar char="v"/>
            </a:pPr>
            <a:r>
              <a:rPr lang="en-IN" sz="1400" dirty="0"/>
              <a:t>Final layers → detect complex objects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Similar to </a:t>
            </a:r>
            <a:r>
              <a:rPr lang="en-IN" b="1" dirty="0"/>
              <a:t>human vision hierarchy</a:t>
            </a:r>
            <a:endParaRPr lang="en-IN" dirty="0"/>
          </a:p>
          <a:p>
            <a:pPr>
              <a:lnSpc>
                <a:spcPct val="20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59030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467DD-92EA-F077-DA75-CDCFB6AAD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34D48BF9-03CF-B4A6-E1CA-DC575E8C4541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FBAF3ED2-BE4E-445C-9B63-56E23820F5B8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B3E459F2-110A-1C1E-82CF-CC7E5989A8E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3EE7AE7E-57B2-6158-8FEA-288572F98FE8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8">
            <a:extLst>
              <a:ext uri="{FF2B5EF4-FFF2-40B4-BE49-F238E27FC236}">
                <a16:creationId xmlns:a16="http://schemas.microsoft.com/office/drawing/2014/main" id="{A6E4A2DF-0614-A5BF-7496-43D3428F4896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84488A4F-0261-3E6F-27BB-91204B750B1A}"/>
              </a:ext>
            </a:extLst>
          </p:cNvPr>
          <p:cNvSpPr txBox="1"/>
          <p:nvPr/>
        </p:nvSpPr>
        <p:spPr>
          <a:xfrm>
            <a:off x="772890" y="848211"/>
            <a:ext cx="10646220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lang="en-US" sz="4400" dirty="0">
                <a:latin typeface="Trebuchet MS" panose="020B0703020202090204" pitchFamily="34" charset="0"/>
                <a:cs typeface="Trebuchet MS"/>
              </a:rPr>
              <a:t> </a:t>
            </a:r>
            <a:r>
              <a:rPr lang="en-IN" sz="4000" dirty="0"/>
              <a:t>Advantages of CNNs</a:t>
            </a:r>
            <a:endParaRPr sz="4000" dirty="0">
              <a:latin typeface="Trebuchet MS" panose="020B0703020202090204" pitchFamily="34" charset="0"/>
              <a:cs typeface="Trebuchet M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92D04B-1FF0-7F23-CF65-21E12D0A3337}"/>
              </a:ext>
            </a:extLst>
          </p:cNvPr>
          <p:cNvSpPr txBox="1"/>
          <p:nvPr/>
        </p:nvSpPr>
        <p:spPr>
          <a:xfrm>
            <a:off x="679707" y="1828800"/>
            <a:ext cx="9912093" cy="3330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Reduces number of parameters drastically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Captures </a:t>
            </a:r>
            <a:r>
              <a:rPr lang="en-IN" b="1" dirty="0"/>
              <a:t>spatial relationships</a:t>
            </a:r>
            <a:r>
              <a:rPr lang="en-IN" dirty="0"/>
              <a:t> automatically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Translation invariant</a:t>
            </a:r>
            <a:r>
              <a:rPr lang="en-IN" dirty="0"/>
              <a:t> (object can appear anywhere)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Performs better than MLPs on image tasks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Works well even with partial occlusion or noise</a:t>
            </a:r>
          </a:p>
          <a:p>
            <a:pPr>
              <a:lnSpc>
                <a:spcPct val="20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92543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7A007-5B30-C29A-F57F-0028D873D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095CAD83-70E7-9BCC-2EF1-A25646658DE8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13751616-A4AC-C595-5516-DDEE08865AF0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F4B1F64B-893B-CBC6-6A15-EB169E60FD14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543DC7C3-BE60-CFC6-CFC8-DB04AFB574E6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8">
            <a:extLst>
              <a:ext uri="{FF2B5EF4-FFF2-40B4-BE49-F238E27FC236}">
                <a16:creationId xmlns:a16="http://schemas.microsoft.com/office/drawing/2014/main" id="{6535A3EE-079C-6F74-3798-75FFA6D4FFAC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07CEBBA5-0E1F-C8BA-25A9-413AE64A7631}"/>
              </a:ext>
            </a:extLst>
          </p:cNvPr>
          <p:cNvSpPr txBox="1"/>
          <p:nvPr/>
        </p:nvSpPr>
        <p:spPr>
          <a:xfrm>
            <a:off x="772890" y="848211"/>
            <a:ext cx="10646220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lang="en-US" sz="4400" dirty="0">
                <a:latin typeface="Trebuchet MS" panose="020B0703020202090204" pitchFamily="34" charset="0"/>
                <a:cs typeface="Trebuchet MS"/>
              </a:rPr>
              <a:t> </a:t>
            </a:r>
            <a:r>
              <a:rPr lang="en-IN" sz="4000" dirty="0"/>
              <a:t>Real World Applications</a:t>
            </a:r>
            <a:endParaRPr sz="4000" dirty="0">
              <a:latin typeface="Trebuchet MS" panose="020B0703020202090204" pitchFamily="34" charset="0"/>
              <a:cs typeface="Trebuchet MS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65C3DA3-23FE-0E40-C4CA-DC53282DD4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472836"/>
              </p:ext>
            </p:extLst>
          </p:nvPr>
        </p:nvGraphicFramePr>
        <p:xfrm>
          <a:off x="990600" y="2089094"/>
          <a:ext cx="6248400" cy="25591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24200">
                  <a:extLst>
                    <a:ext uri="{9D8B030D-6E8A-4147-A177-3AD203B41FA5}">
                      <a16:colId xmlns:a16="http://schemas.microsoft.com/office/drawing/2014/main" val="128795306"/>
                    </a:ext>
                  </a:extLst>
                </a:gridCol>
                <a:gridCol w="3124200">
                  <a:extLst>
                    <a:ext uri="{9D8B030D-6E8A-4147-A177-3AD203B41FA5}">
                      <a16:colId xmlns:a16="http://schemas.microsoft.com/office/drawing/2014/main" val="1209054509"/>
                    </a:ext>
                  </a:extLst>
                </a:gridCol>
              </a:tblGrid>
              <a:tr h="426518">
                <a:tc>
                  <a:txBody>
                    <a:bodyPr/>
                    <a:lstStyle/>
                    <a:p>
                      <a:r>
                        <a:rPr lang="en-IN" sz="1200" b="1" dirty="0"/>
                        <a:t>Domain</a:t>
                      </a:r>
                    </a:p>
                  </a:txBody>
                  <a:tcPr marL="59796" marR="59796" marT="29898" marB="29898" anchor="ctr"/>
                </a:tc>
                <a:tc>
                  <a:txBody>
                    <a:bodyPr/>
                    <a:lstStyle/>
                    <a:p>
                      <a:r>
                        <a:rPr lang="en-IN" sz="1200" b="1" dirty="0"/>
                        <a:t>Example Use</a:t>
                      </a:r>
                    </a:p>
                  </a:txBody>
                  <a:tcPr marL="59796" marR="59796" marT="29898" marB="29898" anchor="ctr"/>
                </a:tc>
                <a:extLst>
                  <a:ext uri="{0D108BD9-81ED-4DB2-BD59-A6C34878D82A}">
                    <a16:rowId xmlns:a16="http://schemas.microsoft.com/office/drawing/2014/main" val="2827216286"/>
                  </a:ext>
                </a:extLst>
              </a:tr>
              <a:tr h="426518">
                <a:tc>
                  <a:txBody>
                    <a:bodyPr/>
                    <a:lstStyle/>
                    <a:p>
                      <a:r>
                        <a:rPr lang="en-IN" sz="1200"/>
                        <a:t>Healthcare</a:t>
                      </a:r>
                    </a:p>
                  </a:txBody>
                  <a:tcPr marL="59796" marR="59796" marT="29898" marB="29898" anchor="ctr"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Tumor detection from scans</a:t>
                      </a:r>
                    </a:p>
                  </a:txBody>
                  <a:tcPr marL="59796" marR="59796" marT="29898" marB="29898" anchor="ctr"/>
                </a:tc>
                <a:extLst>
                  <a:ext uri="{0D108BD9-81ED-4DB2-BD59-A6C34878D82A}">
                    <a16:rowId xmlns:a16="http://schemas.microsoft.com/office/drawing/2014/main" val="2319220950"/>
                  </a:ext>
                </a:extLst>
              </a:tr>
              <a:tr h="426518">
                <a:tc>
                  <a:txBody>
                    <a:bodyPr/>
                    <a:lstStyle/>
                    <a:p>
                      <a:r>
                        <a:rPr lang="en-IN" sz="1200" dirty="0"/>
                        <a:t>Finance</a:t>
                      </a:r>
                    </a:p>
                  </a:txBody>
                  <a:tcPr marL="59796" marR="59796" marT="29898" marB="29898" anchor="ctr"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Cheque forgery detection</a:t>
                      </a:r>
                    </a:p>
                  </a:txBody>
                  <a:tcPr marL="59796" marR="59796" marT="29898" marB="29898" anchor="ctr"/>
                </a:tc>
                <a:extLst>
                  <a:ext uri="{0D108BD9-81ED-4DB2-BD59-A6C34878D82A}">
                    <a16:rowId xmlns:a16="http://schemas.microsoft.com/office/drawing/2014/main" val="1823698156"/>
                  </a:ext>
                </a:extLst>
              </a:tr>
              <a:tr h="426518">
                <a:tc>
                  <a:txBody>
                    <a:bodyPr/>
                    <a:lstStyle/>
                    <a:p>
                      <a:r>
                        <a:rPr lang="en-IN" sz="1200"/>
                        <a:t>Automotive</a:t>
                      </a:r>
                    </a:p>
                  </a:txBody>
                  <a:tcPr marL="59796" marR="59796" marT="29898" marB="29898"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Self-driving car vision</a:t>
                      </a:r>
                    </a:p>
                  </a:txBody>
                  <a:tcPr marL="59796" marR="59796" marT="29898" marB="29898" anchor="ctr"/>
                </a:tc>
                <a:extLst>
                  <a:ext uri="{0D108BD9-81ED-4DB2-BD59-A6C34878D82A}">
                    <a16:rowId xmlns:a16="http://schemas.microsoft.com/office/drawing/2014/main" val="1807811342"/>
                  </a:ext>
                </a:extLst>
              </a:tr>
              <a:tr h="426518">
                <a:tc>
                  <a:txBody>
                    <a:bodyPr/>
                    <a:lstStyle/>
                    <a:p>
                      <a:r>
                        <a:rPr lang="en-IN" sz="1200"/>
                        <a:t>Retail</a:t>
                      </a:r>
                    </a:p>
                  </a:txBody>
                  <a:tcPr marL="59796" marR="59796" marT="29898" marB="29898"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Product recognition in shelves</a:t>
                      </a:r>
                    </a:p>
                  </a:txBody>
                  <a:tcPr marL="59796" marR="59796" marT="29898" marB="29898" anchor="ctr"/>
                </a:tc>
                <a:extLst>
                  <a:ext uri="{0D108BD9-81ED-4DB2-BD59-A6C34878D82A}">
                    <a16:rowId xmlns:a16="http://schemas.microsoft.com/office/drawing/2014/main" val="3352406338"/>
                  </a:ext>
                </a:extLst>
              </a:tr>
              <a:tr h="426518">
                <a:tc>
                  <a:txBody>
                    <a:bodyPr/>
                    <a:lstStyle/>
                    <a:p>
                      <a:r>
                        <a:rPr lang="en-IN" sz="1200"/>
                        <a:t>Security</a:t>
                      </a:r>
                    </a:p>
                  </a:txBody>
                  <a:tcPr marL="59796" marR="59796" marT="29898" marB="29898" anchor="ctr"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Face recognition, surveillance</a:t>
                      </a:r>
                    </a:p>
                  </a:txBody>
                  <a:tcPr marL="59796" marR="59796" marT="29898" marB="29898" anchor="ctr"/>
                </a:tc>
                <a:extLst>
                  <a:ext uri="{0D108BD9-81ED-4DB2-BD59-A6C34878D82A}">
                    <a16:rowId xmlns:a16="http://schemas.microsoft.com/office/drawing/2014/main" val="11832494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11402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BA559-97C6-1EB9-EF75-222892FD7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701B0B6F-958E-B7D8-9A7D-154406A0C917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25A0E609-662C-3AD4-5AB7-A03426E9F7EB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F92837E4-3128-3E71-BFF7-B04EAD78AA1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5F67B6D2-8479-C30B-1E58-C87E87B538F9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8">
            <a:extLst>
              <a:ext uri="{FF2B5EF4-FFF2-40B4-BE49-F238E27FC236}">
                <a16:creationId xmlns:a16="http://schemas.microsoft.com/office/drawing/2014/main" id="{ADB4347B-E57E-4A10-467E-F4C6867D4AAF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A4197D03-BFCD-90B1-C37D-5A5D50277E22}"/>
              </a:ext>
            </a:extLst>
          </p:cNvPr>
          <p:cNvSpPr txBox="1"/>
          <p:nvPr/>
        </p:nvSpPr>
        <p:spPr>
          <a:xfrm>
            <a:off x="772890" y="848211"/>
            <a:ext cx="10646220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lang="en-US" sz="4400" dirty="0">
                <a:latin typeface="Trebuchet MS" panose="020B0703020202090204" pitchFamily="34" charset="0"/>
                <a:cs typeface="Trebuchet MS"/>
              </a:rPr>
              <a:t> </a:t>
            </a:r>
            <a:r>
              <a:rPr lang="en-IN" sz="4000" dirty="0"/>
              <a:t>Modern CNN Architectures</a:t>
            </a:r>
            <a:endParaRPr sz="4000" dirty="0">
              <a:latin typeface="Trebuchet MS" panose="020B0703020202090204" pitchFamily="34" charset="0"/>
              <a:cs typeface="Trebuchet MS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4FFF734-0D97-5D84-2D52-065E154EC8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0563455"/>
              </p:ext>
            </p:extLst>
          </p:nvPr>
        </p:nvGraphicFramePr>
        <p:xfrm>
          <a:off x="990600" y="1993898"/>
          <a:ext cx="5562600" cy="250190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81300">
                  <a:extLst>
                    <a:ext uri="{9D8B030D-6E8A-4147-A177-3AD203B41FA5}">
                      <a16:colId xmlns:a16="http://schemas.microsoft.com/office/drawing/2014/main" val="1694289950"/>
                    </a:ext>
                  </a:extLst>
                </a:gridCol>
                <a:gridCol w="2781300">
                  <a:extLst>
                    <a:ext uri="{9D8B030D-6E8A-4147-A177-3AD203B41FA5}">
                      <a16:colId xmlns:a16="http://schemas.microsoft.com/office/drawing/2014/main" val="876089134"/>
                    </a:ext>
                  </a:extLst>
                </a:gridCol>
              </a:tblGrid>
              <a:tr h="333587">
                <a:tc>
                  <a:txBody>
                    <a:bodyPr/>
                    <a:lstStyle/>
                    <a:p>
                      <a:r>
                        <a:rPr lang="en-IN" sz="1200"/>
                        <a:t>Model</a:t>
                      </a:r>
                    </a:p>
                  </a:txBody>
                  <a:tcPr marL="47837" marR="47837" marT="23918" marB="23918"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Key Innovation</a:t>
                      </a:r>
                    </a:p>
                  </a:txBody>
                  <a:tcPr marL="47837" marR="47837" marT="23918" marB="23918" anchor="ctr"/>
                </a:tc>
                <a:extLst>
                  <a:ext uri="{0D108BD9-81ED-4DB2-BD59-A6C34878D82A}">
                    <a16:rowId xmlns:a16="http://schemas.microsoft.com/office/drawing/2014/main" val="198486953"/>
                  </a:ext>
                </a:extLst>
              </a:tr>
              <a:tr h="333587">
                <a:tc>
                  <a:txBody>
                    <a:bodyPr/>
                    <a:lstStyle/>
                    <a:p>
                      <a:r>
                        <a:rPr lang="en-IN" sz="1200" b="1"/>
                        <a:t>LeNet-5 (1998)</a:t>
                      </a:r>
                      <a:endParaRPr lang="en-IN" sz="1200"/>
                    </a:p>
                  </a:txBody>
                  <a:tcPr marL="47837" marR="47837" marT="23918" marB="23918" anchor="ctr"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First classic CNN for digits (MNIST)</a:t>
                      </a:r>
                    </a:p>
                  </a:txBody>
                  <a:tcPr marL="47837" marR="47837" marT="23918" marB="23918" anchor="ctr"/>
                </a:tc>
                <a:extLst>
                  <a:ext uri="{0D108BD9-81ED-4DB2-BD59-A6C34878D82A}">
                    <a16:rowId xmlns:a16="http://schemas.microsoft.com/office/drawing/2014/main" val="573316009"/>
                  </a:ext>
                </a:extLst>
              </a:tr>
              <a:tr h="583777">
                <a:tc>
                  <a:txBody>
                    <a:bodyPr/>
                    <a:lstStyle/>
                    <a:p>
                      <a:r>
                        <a:rPr lang="en-IN" sz="1200" b="1" dirty="0" err="1"/>
                        <a:t>AlexNet</a:t>
                      </a:r>
                      <a:r>
                        <a:rPr lang="en-IN" sz="1200" b="1" dirty="0"/>
                        <a:t> (2012)</a:t>
                      </a:r>
                      <a:endParaRPr lang="en-IN" sz="1200" dirty="0"/>
                    </a:p>
                  </a:txBody>
                  <a:tcPr marL="47837" marR="47837" marT="23918" marB="23918" anchor="ctr"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Introduced ReLU &amp; GPUs for large-scale vision</a:t>
                      </a:r>
                    </a:p>
                  </a:txBody>
                  <a:tcPr marL="47837" marR="47837" marT="23918" marB="23918" anchor="ctr"/>
                </a:tc>
                <a:extLst>
                  <a:ext uri="{0D108BD9-81ED-4DB2-BD59-A6C34878D82A}">
                    <a16:rowId xmlns:a16="http://schemas.microsoft.com/office/drawing/2014/main" val="460134131"/>
                  </a:ext>
                </a:extLst>
              </a:tr>
              <a:tr h="333587">
                <a:tc>
                  <a:txBody>
                    <a:bodyPr/>
                    <a:lstStyle/>
                    <a:p>
                      <a:r>
                        <a:rPr lang="en-IN" sz="1200" b="1"/>
                        <a:t>VGGNet (2014)</a:t>
                      </a:r>
                      <a:endParaRPr lang="en-IN" sz="1200"/>
                    </a:p>
                  </a:txBody>
                  <a:tcPr marL="47837" marR="47837" marT="23918" marB="23918"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Deep but simple 3×3 filters</a:t>
                      </a:r>
                    </a:p>
                  </a:txBody>
                  <a:tcPr marL="47837" marR="47837" marT="23918" marB="23918" anchor="ctr"/>
                </a:tc>
                <a:extLst>
                  <a:ext uri="{0D108BD9-81ED-4DB2-BD59-A6C34878D82A}">
                    <a16:rowId xmlns:a16="http://schemas.microsoft.com/office/drawing/2014/main" val="2014033745"/>
                  </a:ext>
                </a:extLst>
              </a:tr>
              <a:tr h="583777">
                <a:tc>
                  <a:txBody>
                    <a:bodyPr/>
                    <a:lstStyle/>
                    <a:p>
                      <a:r>
                        <a:rPr lang="en-IN" sz="1200" b="1" dirty="0" err="1"/>
                        <a:t>ResNet</a:t>
                      </a:r>
                      <a:r>
                        <a:rPr lang="en-IN" sz="1200" b="1" dirty="0"/>
                        <a:t> (2015)</a:t>
                      </a:r>
                      <a:endParaRPr lang="en-IN" sz="1200" dirty="0"/>
                    </a:p>
                  </a:txBody>
                  <a:tcPr marL="47837" marR="47837" marT="23918" marB="23918"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Skip connections to train very deep networks</a:t>
                      </a:r>
                    </a:p>
                  </a:txBody>
                  <a:tcPr marL="47837" marR="47837" marT="23918" marB="23918" anchor="ctr"/>
                </a:tc>
                <a:extLst>
                  <a:ext uri="{0D108BD9-81ED-4DB2-BD59-A6C34878D82A}">
                    <a16:rowId xmlns:a16="http://schemas.microsoft.com/office/drawing/2014/main" val="26970901"/>
                  </a:ext>
                </a:extLst>
              </a:tr>
              <a:tr h="333587">
                <a:tc>
                  <a:txBody>
                    <a:bodyPr/>
                    <a:lstStyle/>
                    <a:p>
                      <a:r>
                        <a:rPr lang="en-IN" sz="1200" b="1"/>
                        <a:t>EfficientNet (2019)</a:t>
                      </a:r>
                      <a:endParaRPr lang="en-IN" sz="1200"/>
                    </a:p>
                  </a:txBody>
                  <a:tcPr marL="47837" marR="47837" marT="23918" marB="23918" anchor="ctr"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Scales depth, width, resolution efficiently</a:t>
                      </a:r>
                    </a:p>
                  </a:txBody>
                  <a:tcPr marL="47837" marR="47837" marT="23918" marB="23918" anchor="ctr"/>
                </a:tc>
                <a:extLst>
                  <a:ext uri="{0D108BD9-81ED-4DB2-BD59-A6C34878D82A}">
                    <a16:rowId xmlns:a16="http://schemas.microsoft.com/office/drawing/2014/main" val="23885605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69453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ABC34-4F29-D8D1-2206-9AB1C2E5E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22CA2E91-7B80-FC83-A8F7-3B0E1965365D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83A0A2EB-87BA-7C92-6B8E-5246EA4F9D22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FD738319-48A0-B184-3416-11A6F9AD9AE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BE5E1AD-98F2-B84F-131E-05F9C39FEA1D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8">
            <a:extLst>
              <a:ext uri="{FF2B5EF4-FFF2-40B4-BE49-F238E27FC236}">
                <a16:creationId xmlns:a16="http://schemas.microsoft.com/office/drawing/2014/main" id="{CBFD43E7-E696-90C0-6A55-526FE98F90A3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4067CA5B-CBC2-3CB5-D28B-607DCE794214}"/>
              </a:ext>
            </a:extLst>
          </p:cNvPr>
          <p:cNvSpPr txBox="1"/>
          <p:nvPr/>
        </p:nvSpPr>
        <p:spPr>
          <a:xfrm>
            <a:off x="772890" y="848211"/>
            <a:ext cx="10646220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lang="en-US" sz="4400" dirty="0">
                <a:latin typeface="Trebuchet MS" panose="020B0703020202090204" pitchFamily="34" charset="0"/>
                <a:cs typeface="Trebuchet MS"/>
              </a:rPr>
              <a:t> </a:t>
            </a:r>
            <a:r>
              <a:rPr lang="en-IN" sz="4000" dirty="0"/>
              <a:t>Summary</a:t>
            </a:r>
            <a:endParaRPr sz="4000" dirty="0">
              <a:latin typeface="Trebuchet MS" panose="020B0703020202090204" pitchFamily="34" charset="0"/>
              <a:cs typeface="Trebuchet M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957CC1-04DA-06CA-D61A-16115EAFA99C}"/>
              </a:ext>
            </a:extLst>
          </p:cNvPr>
          <p:cNvSpPr txBox="1"/>
          <p:nvPr/>
        </p:nvSpPr>
        <p:spPr>
          <a:xfrm>
            <a:off x="855027" y="1770379"/>
            <a:ext cx="6097656" cy="2776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CNNs are powerful for </a:t>
            </a:r>
            <a:r>
              <a:rPr lang="en-IN" b="1" dirty="0"/>
              <a:t>image &amp; spatial data</a:t>
            </a:r>
            <a:endParaRPr lang="en-IN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Core idea: </a:t>
            </a:r>
            <a:r>
              <a:rPr lang="en-IN" b="1" dirty="0"/>
              <a:t>convolutions + pooling + dense layers</a:t>
            </a:r>
            <a:endParaRPr lang="en-IN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Learn </a:t>
            </a:r>
            <a:r>
              <a:rPr lang="en-IN" b="1" dirty="0"/>
              <a:t>automatically</a:t>
            </a:r>
            <a:r>
              <a:rPr lang="en-IN" dirty="0"/>
              <a:t>, no need for manual feature extraction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Foundation for modern </a:t>
            </a:r>
            <a:r>
              <a:rPr lang="en-IN" b="1" dirty="0"/>
              <a:t>AI vision systems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474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32819</TotalTime>
  <Words>1170</Words>
  <Application>Microsoft Macintosh PowerPoint</Application>
  <PresentationFormat>Widescreen</PresentationFormat>
  <Paragraphs>154</Paragraphs>
  <Slides>18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Arial</vt:lpstr>
      <vt:lpstr>Trebuchet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sbaskaran878@gmail.com</cp:lastModifiedBy>
  <cp:revision>34</cp:revision>
  <dcterms:created xsi:type="dcterms:W3CDTF">2025-09-17T13:52:51Z</dcterms:created>
  <dcterms:modified xsi:type="dcterms:W3CDTF">2025-11-05T16:44:18Z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2025-09-16T00:00:00Z</vt:filetime>
  </property>
  <property fmtid="{D5CDD505-2E9C-101B-9397-08002B2CF9AE}" pid="3" name="LastSaved">
    <vt:filetime>2025-09-17T00:00:00Z</vt:filetime>
  </property>
</Properties>
</file>