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1" r:id="rId2"/>
    <p:sldId id="262" r:id="rId3"/>
    <p:sldId id="263" r:id="rId4"/>
    <p:sldId id="271" r:id="rId5"/>
    <p:sldId id="272" r:id="rId6"/>
    <p:sldId id="273" r:id="rId7"/>
    <p:sldId id="274" r:id="rId8"/>
    <p:sldId id="275" r:id="rId9"/>
    <p:sldId id="276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2"/>
    <p:restoredTop sz="94645"/>
  </p:normalViewPr>
  <p:slideViewPr>
    <p:cSldViewPr>
      <p:cViewPr varScale="1">
        <p:scale>
          <a:sx n="118" d="100"/>
          <a:sy n="118" d="100"/>
        </p:scale>
        <p:origin x="368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F1DB-86E7-6C55-9B30-6063141F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D6C57-E660-BFA9-8A77-B963A94E3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D5C41-8609-4503-2246-678645BA8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7CDE9-C80A-5ED1-D972-6D6F716F0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555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34479-17E6-0EDA-57EF-F3959579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5E3D9-E346-D025-5DB2-6B6E46A27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D203E-6526-CCF6-B18A-7D4E74476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848B3-F1C1-F930-0AA4-5135ACF29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2144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8A54-1564-45D9-F7BF-F9792044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A0B9B-0F53-6490-51B8-59634DA6A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A86F6-330A-16D6-9FE9-E8BBDFB98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833C5-04B7-4917-5603-BDC8B6868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0508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714D3-772D-D7FC-04CA-7FE803FD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8ED2B-4A3A-52CC-C5BC-B751403B8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5126E-1F48-5DF0-E3E1-BF9BFB1DD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BBD9F-C614-0770-02CE-7150E0D4F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31008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CCB51-211D-EE71-E629-CAABA353A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A312E-896B-78AC-E534-30F48F930C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494D5E-2A25-248B-37E1-54719193C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DCC97-5AC3-1A49-CE53-11556522E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89996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97648-0D6D-80E6-68E4-A4D6B90F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021C2-4809-4490-F87B-5CE269F78A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84778-D7BC-9D6C-C2E5-CE7C0FD74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70CE7-B245-416E-DDFC-33BE6642A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83299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5292090" y="1206182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>
                <a:latin typeface="Trebuchet MS"/>
                <a:cs typeface="Trebuchet MS"/>
              </a:rPr>
              <a:t>#</a:t>
            </a:r>
            <a:r>
              <a:rPr lang="en-US" sz="2400" spc="-25">
                <a:latin typeface="Trebuchet MS"/>
                <a:cs typeface="Trebuchet MS"/>
              </a:rPr>
              <a:t>13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3886200" y="2286000"/>
            <a:ext cx="86487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TANH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27 Oct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771715" y="888333"/>
            <a:ext cx="123063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dirty="0"/>
              <a:t>What is an Activation Function?</a:t>
            </a:r>
            <a:endParaRPr sz="3200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6799806" y="4505325"/>
            <a:ext cx="5298440" cy="2362200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866C127-79FD-C4B4-A069-B1308E5DA337}"/>
              </a:ext>
            </a:extLst>
          </p:cNvPr>
          <p:cNvSpPr txBox="1"/>
          <p:nvPr/>
        </p:nvSpPr>
        <p:spPr>
          <a:xfrm>
            <a:off x="855027" y="2037209"/>
            <a:ext cx="6539948" cy="2222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Introduces non-linearity in neural networks.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Helps model complex relationships in data.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Decides whether a neuron should activate or not.</a:t>
            </a:r>
          </a:p>
          <a:p>
            <a:pPr>
              <a:lnSpc>
                <a:spcPct val="200000"/>
              </a:lnSpc>
            </a:pPr>
            <a:endParaRPr lang="en-IN" dirty="0">
              <a:latin typeface="Trebuchet MS" panose="020B0703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ACD24633-FF0E-01C2-AA29-686F220ECA3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71F059-4B75-7224-18CB-45737C49ADD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EDDE91F-49AD-02EC-433A-1281103EF3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14FCAA-D399-C79C-838C-010645E7D1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74C721A-B595-A908-6AC0-7049936E3FD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358A9A-8DE4-7D9A-445F-390D434B9B6C}"/>
              </a:ext>
            </a:extLst>
          </p:cNvPr>
          <p:cNvSpPr txBox="1"/>
          <p:nvPr/>
        </p:nvSpPr>
        <p:spPr>
          <a:xfrm>
            <a:off x="1162878" y="1037698"/>
            <a:ext cx="8590722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000" dirty="0"/>
              <a:t>Introduction to tanh Function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E9BB4F-7467-6227-E04F-86CA999C5C4E}"/>
              </a:ext>
            </a:extLst>
          </p:cNvPr>
          <p:cNvSpPr txBox="1"/>
          <p:nvPr/>
        </p:nvSpPr>
        <p:spPr>
          <a:xfrm>
            <a:off x="1173764" y="1905000"/>
            <a:ext cx="8590722" cy="2222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i="1" dirty="0"/>
              <a:t>tanh</a:t>
            </a:r>
            <a:r>
              <a:rPr lang="en-IN" dirty="0"/>
              <a:t> stands for </a:t>
            </a:r>
            <a:r>
              <a:rPr lang="en-IN" b="1" dirty="0"/>
              <a:t>hyperbolic tangent</a:t>
            </a:r>
            <a:r>
              <a:rPr lang="en-IN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It’s mathematically defined as: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Output range: </a:t>
            </a:r>
            <a:r>
              <a:rPr lang="en-IN" b="1" dirty="0"/>
              <a:t>–1 to +1</a:t>
            </a:r>
            <a:endParaRPr lang="en-I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It’s </a:t>
            </a:r>
            <a:r>
              <a:rPr lang="en-IN" b="1" dirty="0"/>
              <a:t>zero-</a:t>
            </a:r>
            <a:r>
              <a:rPr lang="en-IN" b="1" dirty="0" err="1"/>
              <a:t>centered</a:t>
            </a:r>
            <a:r>
              <a:rPr lang="en-IN" dirty="0"/>
              <a:t>, unlike Sigmoid (which ranges 0 to 1).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C0DD0F-E8AD-8A08-E814-94596F510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2362200"/>
            <a:ext cx="36830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73C2-99B6-9BE3-4DD2-B81EB451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C72D21F-3759-FE05-716C-33ABE442F0B3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4B176A-3B73-9020-EC0E-C69A4837860D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E1B9433-70E8-6192-E29E-D6FD06DFF2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0F0EDA0-30A8-9C89-C600-075E34781B5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E48640-6682-CDCC-BBB5-F07188CDB1E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2338105-3A1B-64C9-D98D-3FC831B7EFCC}"/>
              </a:ext>
            </a:extLst>
          </p:cNvPr>
          <p:cNvSpPr txBox="1"/>
          <p:nvPr/>
        </p:nvSpPr>
        <p:spPr>
          <a:xfrm>
            <a:off x="1295400" y="914400"/>
            <a:ext cx="92964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tanh Curve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16A9-7B6A-21B7-C901-D13174A5DFFC}"/>
              </a:ext>
            </a:extLst>
          </p:cNvPr>
          <p:cNvSpPr txBox="1">
            <a:spLocks/>
          </p:cNvSpPr>
          <p:nvPr/>
        </p:nvSpPr>
        <p:spPr>
          <a:xfrm>
            <a:off x="1143000" y="1663786"/>
            <a:ext cx="8229600" cy="26844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Plot of tanh(x) vs x</a:t>
            </a:r>
          </a:p>
          <a:p>
            <a:pPr>
              <a:lnSpc>
                <a:spcPct val="200000"/>
              </a:lnSpc>
            </a:pPr>
            <a:r>
              <a:rPr lang="en-IN" dirty="0"/>
              <a:t>Note: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Values saturate near –1 and +1.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Strong gradient in mid-range (–1 &lt; x &lt; 1).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2209C1-C527-D45A-913A-1892CA053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303" y="619475"/>
            <a:ext cx="5128697" cy="377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BE6621-7A10-1CAF-9DE3-1F9D374882DE}"/>
              </a:ext>
            </a:extLst>
          </p:cNvPr>
          <p:cNvSpPr txBox="1"/>
          <p:nvPr/>
        </p:nvSpPr>
        <p:spPr>
          <a:xfrm>
            <a:off x="6324600" y="4449481"/>
            <a:ext cx="533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Outputs saturate near –1 and +1, with the steepest slope around x = 0.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2373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5791-C55C-19AC-6E03-9E3BA807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29F0FBA-75B4-4148-C8B5-16A032372AC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6771B4B-A891-07BF-7A76-D2A598F22B13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8BB2E41-D1F7-3FC9-2CB4-73CF3F6F01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FFBD3EC-886E-4482-3A7E-DAD8E163362E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ADB07CBD-4187-DD45-9AE0-86CEE766DBA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14CCE-7BE7-B526-90D4-1A1971299875}"/>
              </a:ext>
            </a:extLst>
          </p:cNvPr>
          <p:cNvSpPr txBox="1"/>
          <p:nvPr/>
        </p:nvSpPr>
        <p:spPr>
          <a:xfrm>
            <a:off x="855027" y="1106281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Derivative of tanh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BC649BB-7CF6-3CF5-7E20-1B91344EFBDD}"/>
              </a:ext>
            </a:extLst>
          </p:cNvPr>
          <p:cNvSpPr txBox="1">
            <a:spLocks/>
          </p:cNvSpPr>
          <p:nvPr/>
        </p:nvSpPr>
        <p:spPr>
          <a:xfrm>
            <a:off x="855027" y="1981200"/>
            <a:ext cx="8229600" cy="32384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b="1" dirty="0"/>
              <a:t>Formula:-</a:t>
            </a:r>
            <a:endParaRPr lang="en-IN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Gradient is strongest near zero.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Gradient vanishes near ±1.</a:t>
            </a:r>
          </a:p>
          <a:p>
            <a:pPr>
              <a:lnSpc>
                <a:spcPct val="200000"/>
              </a:lnSpc>
            </a:pP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427543-7115-DBFF-56A4-F4815B1BD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5527" y="1752600"/>
            <a:ext cx="53086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01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14B9E-4D5B-D6EB-1EB7-08238405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F24865CF-1C2D-17BC-5C52-FF1E319B56E4}"/>
              </a:ext>
            </a:extLst>
          </p:cNvPr>
          <p:cNvGrpSpPr/>
          <p:nvPr/>
        </p:nvGrpSpPr>
        <p:grpSpPr>
          <a:xfrm>
            <a:off x="266757" y="247713"/>
            <a:ext cx="504958" cy="372110"/>
            <a:chOff x="266757" y="247713"/>
            <a:chExt cx="504958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0D58C1B-86AF-A14C-F1A9-46D84AA0EFB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7B4A303-0EFF-BFA4-145F-118A9E1CE38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7A0CCB2-0B2C-880B-859A-952B9A896D6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5FDD6DE5-9B4E-C843-33BA-E7D23230C5B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1F7F903-3FB8-CE79-F1C3-EC5BD405EBA5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400">
                <a:latin typeface="Trebuchet MS" panose="020B0703020202090204" pitchFamily="34" charset="0"/>
                <a:cs typeface="Trebuchet MS"/>
              </a:rPr>
              <a:t> </a:t>
            </a:r>
            <a:r>
              <a:rPr lang="en-US" sz="4400"/>
              <a:t>tanh vs Sigmoid</a:t>
            </a:r>
            <a:endParaRPr lang="en-US" sz="4400" dirty="0">
              <a:latin typeface="Trebuchet MS" panose="020B0703020202090204" pitchFamily="34" charset="0"/>
              <a:cs typeface="Trebuchet M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651A10-3EDC-F186-3BDE-0A9B6D202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519160"/>
              </p:ext>
            </p:extLst>
          </p:nvPr>
        </p:nvGraphicFramePr>
        <p:xfrm>
          <a:off x="867726" y="1981200"/>
          <a:ext cx="8809674" cy="3429000"/>
        </p:xfrm>
        <a:graphic>
          <a:graphicData uri="http://schemas.openxmlformats.org/drawingml/2006/table">
            <a:tbl>
              <a:tblPr/>
              <a:tblGrid>
                <a:gridCol w="2936558">
                  <a:extLst>
                    <a:ext uri="{9D8B030D-6E8A-4147-A177-3AD203B41FA5}">
                      <a16:colId xmlns:a16="http://schemas.microsoft.com/office/drawing/2014/main" val="3858056246"/>
                    </a:ext>
                  </a:extLst>
                </a:gridCol>
                <a:gridCol w="2936558">
                  <a:extLst>
                    <a:ext uri="{9D8B030D-6E8A-4147-A177-3AD203B41FA5}">
                      <a16:colId xmlns:a16="http://schemas.microsoft.com/office/drawing/2014/main" val="4271921792"/>
                    </a:ext>
                  </a:extLst>
                </a:gridCol>
                <a:gridCol w="2936558">
                  <a:extLst>
                    <a:ext uri="{9D8B030D-6E8A-4147-A177-3AD203B41FA5}">
                      <a16:colId xmlns:a16="http://schemas.microsoft.com/office/drawing/2014/main" val="2888115059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IN" sz="1400"/>
                        <a:t>Property</a:t>
                      </a:r>
                    </a:p>
                  </a:txBody>
                  <a:tcPr marL="71755" marR="71755" marT="35877" marB="35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Sigmoid</a:t>
                      </a:r>
                      <a:endParaRPr lang="en-IN" sz="1400"/>
                    </a:p>
                  </a:txBody>
                  <a:tcPr marL="71755" marR="71755" marT="35877" marB="35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tanh</a:t>
                      </a:r>
                      <a:endParaRPr lang="en-IN" sz="1400" dirty="0"/>
                    </a:p>
                  </a:txBody>
                  <a:tcPr marL="71755" marR="71755" marT="35877" marB="35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24255903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IN" sz="1400"/>
                        <a:t>Output Range</a:t>
                      </a:r>
                    </a:p>
                  </a:txBody>
                  <a:tcPr marL="71755" marR="71755" marT="35877" marB="35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 to 1</a:t>
                      </a:r>
                    </a:p>
                  </a:txBody>
                  <a:tcPr marL="71755" marR="71755" marT="35877" marB="35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–1 to +1</a:t>
                      </a:r>
                    </a:p>
                  </a:txBody>
                  <a:tcPr marL="71755" marR="71755" marT="35877" marB="35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574864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IN" sz="1400"/>
                        <a:t>Zero Centered</a:t>
                      </a:r>
                    </a:p>
                  </a:txBody>
                  <a:tcPr marL="71755" marR="71755" marT="35877" marB="35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❌ No</a:t>
                      </a:r>
                    </a:p>
                  </a:txBody>
                  <a:tcPr marL="71755" marR="71755" marT="35877" marB="35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✅ Yes</a:t>
                      </a:r>
                    </a:p>
                  </a:txBody>
                  <a:tcPr marL="71755" marR="71755" marT="35877" marB="35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58458877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IN" sz="1400"/>
                        <a:t>Gradient Strength</a:t>
                      </a:r>
                    </a:p>
                  </a:txBody>
                  <a:tcPr marL="71755" marR="71755" marT="35877" marB="35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Weaker</a:t>
                      </a:r>
                    </a:p>
                  </a:txBody>
                  <a:tcPr marL="71755" marR="71755" marT="35877" marB="35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Stronger</a:t>
                      </a:r>
                    </a:p>
                  </a:txBody>
                  <a:tcPr marL="71755" marR="71755" marT="35877" marB="35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48315728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IN" sz="1400"/>
                        <a:t>Common Usage</a:t>
                      </a:r>
                    </a:p>
                  </a:txBody>
                  <a:tcPr marL="71755" marR="71755" marT="35877" marB="35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Logistic outputs</a:t>
                      </a:r>
                    </a:p>
                  </a:txBody>
                  <a:tcPr marL="71755" marR="71755" marT="35877" marB="35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Hidden layers</a:t>
                      </a:r>
                    </a:p>
                  </a:txBody>
                  <a:tcPr marL="71755" marR="71755" marT="35877" marB="358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373598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87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3C27-E0BD-9B6D-3696-0C20C863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DC55C0BC-7157-C394-7A88-AC7BE35F44AB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B3BD1EF-2E81-2A12-1ADF-A13E4B28EBD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36879B5-2E77-17BF-41FA-F3D67A98480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7FF16B5D-E2F2-15DE-9D19-7DF5872711B3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1B271025-20A3-A79E-6692-07506A0E16A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78BAA03-D87A-953D-8C14-C050ABC1B1B9}"/>
              </a:ext>
            </a:extLst>
          </p:cNvPr>
          <p:cNvSpPr txBox="1"/>
          <p:nvPr/>
        </p:nvSpPr>
        <p:spPr>
          <a:xfrm>
            <a:off x="726298" y="657575"/>
            <a:ext cx="10739403" cy="138371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400" dirty="0"/>
              <a:t>Pros and Cons of tanh</a:t>
            </a:r>
            <a:endParaRPr lang="en-IN" sz="4400" dirty="0">
              <a:latin typeface="Trebuchet MS" panose="020B0703020202090204" pitchFamily="34" charset="0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94C86-CC23-7940-6C10-1962A7D820E4}"/>
              </a:ext>
            </a:extLst>
          </p:cNvPr>
          <p:cNvSpPr txBox="1"/>
          <p:nvPr/>
        </p:nvSpPr>
        <p:spPr>
          <a:xfrm>
            <a:off x="671868" y="1524000"/>
            <a:ext cx="5797293" cy="4992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Advantages:</a:t>
            </a:r>
            <a:endParaRPr lang="en-IN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Smooth, continuous output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Zero-</a:t>
            </a:r>
            <a:r>
              <a:rPr lang="en-IN" dirty="0" err="1"/>
              <a:t>centered</a:t>
            </a:r>
            <a:r>
              <a:rPr lang="en-IN" dirty="0"/>
              <a:t> (helps learning stability)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Stronger gradients than Sigmoid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Limitations:</a:t>
            </a:r>
            <a:endParaRPr lang="en-IN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Still faces </a:t>
            </a:r>
            <a:r>
              <a:rPr lang="en-IN" b="1" dirty="0"/>
              <a:t>vanishing gradient problem</a:t>
            </a:r>
            <a:r>
              <a:rPr lang="en-IN" dirty="0"/>
              <a:t> for large |x|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Computationally heavier than ReLU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Rarely used in very deep networks today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9002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43054-15AE-A351-7160-F996E3CFD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93A5F93E-4628-A574-05CB-7B7D37784D43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9CE5248F-8DF5-D0AF-2B46-1C3D1D137E27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DB2DB668-5A4E-9FA8-468A-10BFA9BB50D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79ECAC4D-D190-BB28-E5D7-F79F6882176F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23021FDA-13A7-1959-882E-8B381FAE851A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B6859112-0EEC-5C4C-4547-66F264C8F85D}"/>
              </a:ext>
            </a:extLst>
          </p:cNvPr>
          <p:cNvSpPr txBox="1"/>
          <p:nvPr/>
        </p:nvSpPr>
        <p:spPr>
          <a:xfrm>
            <a:off x="726298" y="657575"/>
            <a:ext cx="10739403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When to Use tanh</a:t>
            </a: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7D984D-1756-4BF0-C490-28A61E566044}"/>
              </a:ext>
            </a:extLst>
          </p:cNvPr>
          <p:cNvSpPr txBox="1"/>
          <p:nvPr/>
        </p:nvSpPr>
        <p:spPr>
          <a:xfrm>
            <a:off x="671868" y="1524000"/>
            <a:ext cx="5797293" cy="4992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Best for:</a:t>
            </a:r>
            <a:endParaRPr lang="en-IN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Hidden layers of shallow or medium networks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Normalized inputs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Recurrent Neural Networks (RNNs) before LSTMs/GRUs</a:t>
            </a:r>
          </a:p>
          <a:p>
            <a:pPr>
              <a:lnSpc>
                <a:spcPct val="200000"/>
              </a:lnSpc>
            </a:pPr>
            <a:r>
              <a:rPr lang="en-IN" b="1" dirty="0"/>
              <a:t>Avoid when:</a:t>
            </a:r>
            <a:endParaRPr lang="en-IN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Very deep networks → prefer ReLU or variants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Non-normalized data → may saturate easily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829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49D70-9057-2B6D-46FB-91974D466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F4C23415-F2BA-10D6-924B-708A0E877AF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7450A9A2-3E0C-55D2-F388-44B1352D8BD9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24EC97A1-0052-800E-0ABF-2884BA891DA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E2A3FF7-C797-86E2-8891-02E506D5E430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21E65726-93D2-3310-3698-05A24602CCC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55DC8CC8-30E1-7DE0-982B-BE1B1F0091AF}"/>
              </a:ext>
            </a:extLst>
          </p:cNvPr>
          <p:cNvSpPr txBox="1"/>
          <p:nvPr/>
        </p:nvSpPr>
        <p:spPr>
          <a:xfrm>
            <a:off x="726298" y="657575"/>
            <a:ext cx="10739403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Summary</a:t>
            </a: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970333-FC1D-73DF-11BA-25CE0CE5286F}"/>
              </a:ext>
            </a:extLst>
          </p:cNvPr>
          <p:cNvSpPr txBox="1"/>
          <p:nvPr/>
        </p:nvSpPr>
        <p:spPr>
          <a:xfrm>
            <a:off x="671868" y="1524000"/>
            <a:ext cx="5797293" cy="3330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tanh(x) = (</a:t>
            </a:r>
            <a:r>
              <a:rPr lang="en-IN" dirty="0" err="1"/>
              <a:t>eˣ</a:t>
            </a:r>
            <a:r>
              <a:rPr lang="en-IN" dirty="0"/>
              <a:t> – </a:t>
            </a:r>
            <a:r>
              <a:rPr lang="en-IN" dirty="0" err="1"/>
              <a:t>e⁻ˣ</a:t>
            </a:r>
            <a:r>
              <a:rPr lang="en-IN" dirty="0"/>
              <a:t>)/(</a:t>
            </a:r>
            <a:r>
              <a:rPr lang="en-IN" dirty="0" err="1"/>
              <a:t>eˣ</a:t>
            </a:r>
            <a:r>
              <a:rPr lang="en-IN" dirty="0"/>
              <a:t> + </a:t>
            </a:r>
            <a:r>
              <a:rPr lang="en-IN" dirty="0" err="1"/>
              <a:t>e⁻ˣ</a:t>
            </a:r>
            <a:r>
              <a:rPr lang="en-IN" dirty="0"/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Output range: –1 to +1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Zero-</a:t>
            </a:r>
            <a:r>
              <a:rPr lang="en-IN" dirty="0" err="1"/>
              <a:t>centered</a:t>
            </a:r>
            <a:r>
              <a:rPr lang="en-IN" dirty="0"/>
              <a:t> → better convergence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Still can face vanishing gradients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Works well for moderate-depth or RNN models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387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27290</TotalTime>
  <Words>509</Words>
  <Application>Microsoft Macintosh PowerPoint</Application>
  <PresentationFormat>Widescreen</PresentationFormat>
  <Paragraphs>79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33</cp:revision>
  <dcterms:created xsi:type="dcterms:W3CDTF">2025-09-17T13:52:51Z</dcterms:created>
  <dcterms:modified xsi:type="dcterms:W3CDTF">2025-11-05T16:44:02Z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